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6" r:id="rId2"/>
    <p:sldId id="270" r:id="rId3"/>
    <p:sldId id="260" r:id="rId4"/>
    <p:sldId id="261" r:id="rId5"/>
    <p:sldId id="257" r:id="rId6"/>
    <p:sldId id="262" r:id="rId7"/>
    <p:sldId id="289" r:id="rId8"/>
    <p:sldId id="265" r:id="rId9"/>
    <p:sldId id="290" r:id="rId10"/>
    <p:sldId id="291" r:id="rId11"/>
    <p:sldId id="268" r:id="rId12"/>
    <p:sldId id="292" r:id="rId13"/>
    <p:sldId id="293" r:id="rId14"/>
    <p:sldId id="273" r:id="rId15"/>
    <p:sldId id="274" r:id="rId16"/>
    <p:sldId id="275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304" r:id="rId28"/>
    <p:sldId id="305" r:id="rId29"/>
    <p:sldId id="306" r:id="rId30"/>
    <p:sldId id="307" r:id="rId31"/>
    <p:sldId id="308" r:id="rId32"/>
    <p:sldId id="309" r:id="rId33"/>
    <p:sldId id="259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69" r:id="rId4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A99A6F"/>
    <a:srgbClr val="333333"/>
    <a:srgbClr val="E6E6E6"/>
    <a:srgbClr val="CC6600"/>
    <a:srgbClr val="080808"/>
    <a:srgbClr val="003300"/>
    <a:srgbClr val="78AD6B"/>
    <a:srgbClr val="9A8A5C"/>
    <a:srgbClr val="B5DC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17390C-4B3C-4E40-89E8-81D25DEE684F}" v="463" dt="2024-08-23T09:45:09.1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87" autoAdjust="0"/>
    <p:restoredTop sz="94654" autoAdjust="0"/>
  </p:normalViewPr>
  <p:slideViewPr>
    <p:cSldViewPr snapToGrid="0">
      <p:cViewPr varScale="1">
        <p:scale>
          <a:sx n="56" d="100"/>
          <a:sy n="56" d="100"/>
        </p:scale>
        <p:origin x="11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ACFC1B-CC17-4A77-91C0-633989DE8748}" type="datetimeFigureOut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CCCD62-D6C8-4676-AD3D-FBD7EC647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025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CCCD62-D6C8-4676-AD3D-FBD7EC647FCC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4875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CCCD62-D6C8-4676-AD3D-FBD7EC647FCC}" type="slidenum">
              <a:rPr lang="ko-KR" altLang="en-US" smtClean="0"/>
              <a:t>45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1604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05D9528E-1706-3B84-FF55-68240C41B5B4}"/>
              </a:ext>
            </a:extLst>
          </p:cNvPr>
          <p:cNvSpPr/>
          <p:nvPr userDrawn="1"/>
        </p:nvSpPr>
        <p:spPr>
          <a:xfrm>
            <a:off x="0" y="6321918"/>
            <a:ext cx="12192000" cy="540000"/>
          </a:xfrm>
          <a:prstGeom prst="rect">
            <a:avLst/>
          </a:prstGeom>
          <a:solidFill>
            <a:srgbClr val="A99A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60CDCC5-B960-3BFC-6714-0DE0B79D4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4C9EB3D-6284-D3E7-4CDF-B2566B492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F28D8D-FAA2-CC98-081C-35D74C1C1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E5C9E-32C8-4300-A534-CC55AB179B42}" type="datetime1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D5CEAC-FE21-2241-250A-B5102F453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E07BAE-1E0B-5EB7-D674-F15C73F9D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6829" y="6409355"/>
            <a:ext cx="2743200" cy="365125"/>
          </a:xfrm>
        </p:spPr>
        <p:txBody>
          <a:bodyPr/>
          <a:lstStyle/>
          <a:p>
            <a:fld id="{E6CD6463-D1C1-4B59-8382-6AFDD2B4B94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0618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6F0ED-4C0A-15F3-3B4D-F2D04669C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AF7C9B-F55E-B98D-2644-09333CD50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C36957-457E-2B3C-3E96-7B3AA723A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FDEB4-F533-4995-8CF8-3BB34C002E99}" type="datetime1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AD2C2F-69F7-0F8D-172D-17DC90FA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8ADEDA-606D-29E8-E2FF-845ECE739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6463-D1C1-4B59-8382-6AFDD2B4B9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251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273480-B962-0952-2EA6-C4196377E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ABC19B-49AD-ED38-6B4B-4D1E58887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72638C-A3A5-2F46-C1D3-C29A583CD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426DD-949A-45E9-9C17-17EAF613BFA8}" type="datetime1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5F0DF8-3E3B-5EDD-6113-B6957C439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A11324-42E2-4ED1-7606-F3A453B5A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6463-D1C1-4B59-8382-6AFDD2B4B9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588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AB827-9FA0-7024-6F5D-2D25030E3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2ECA18-899A-A3CC-32B8-BB0CCDA279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E667DA-940C-3894-5A83-9320AC1F6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98DC6FB-37D8-BAB7-F6BA-AD5200C22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D6B39-9C64-462A-9023-EA33E6FE6EC3}" type="datetime1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9D2DF0-8FCF-DB0D-7DF8-5B2431D53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C85046-5BD7-2C6F-DDAE-4B1190893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6463-D1C1-4B59-8382-6AFDD2B4B9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1404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1F09B6-1377-2FD9-F103-475F18BD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03CE50-DBFB-DA0C-B8D2-56407F78B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069C96-ADAB-974E-DC23-9A3C2133B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1C543E8-4405-7C7B-6382-468245907D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68D61CA-350F-5B6F-FDBB-9703359EF9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E190AFE-28B5-D727-16A7-A9DE1ED73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29D37-1900-4D32-96C2-3B6AAC2941C2}" type="datetime1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BC7D77D-B5F7-8C66-C7ED-1C1EFF8A9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20072EE-309C-5A43-AF33-52F55FCB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6463-D1C1-4B59-8382-6AFDD2B4B9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965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8148F1AA-F49E-1787-FF41-17A7A8E6F0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9640" y="92360"/>
            <a:ext cx="1800000" cy="65731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BD16CE8-5114-7F43-91DB-CE73BE1C9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5B6E381-C0E1-E327-56F6-171DB56B3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FF54-D3EB-4816-83C3-02D8EF58BB94}" type="datetime1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5EBDDF9-3E6A-F43E-538F-6DD49FFE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69D4B96-7290-B2B9-2722-3C1290D0D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6463-D1C1-4B59-8382-6AFDD2B4B9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372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0BB7D3C-70CC-21F0-12E8-872AB0372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E4F9E-035A-4FC7-A18E-446802C5EAB6}" type="datetime1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CA45E9-AC29-7DD0-46EF-A6F606D38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2A38B9-A5F3-911D-589B-A848267FA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36098"/>
            <a:ext cx="2743200" cy="365125"/>
          </a:xfrm>
        </p:spPr>
        <p:txBody>
          <a:bodyPr/>
          <a:lstStyle/>
          <a:p>
            <a:fld id="{E6CD6463-D1C1-4B59-8382-6AFDD2B4B94E}" type="slidenum">
              <a:rPr lang="ko-KR" altLang="en-US" smtClean="0"/>
              <a:t>‹#›</a:t>
            </a:fld>
            <a:endParaRPr lang="ko-KR" altLang="en-US" dirty="0"/>
          </a:p>
        </p:txBody>
      </p:sp>
      <p:pic>
        <p:nvPicPr>
          <p:cNvPr id="6" name="그림 5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1830CA17-AF69-79E7-288F-AAF0724FAD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7746" y="45983"/>
            <a:ext cx="1800000" cy="657316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52C987F-212C-C51E-A722-D1599494E1BE}"/>
              </a:ext>
            </a:extLst>
          </p:cNvPr>
          <p:cNvCxnSpPr>
            <a:cxnSpLocks/>
          </p:cNvCxnSpPr>
          <p:nvPr userDrawn="1"/>
        </p:nvCxnSpPr>
        <p:spPr>
          <a:xfrm flipV="1">
            <a:off x="336000" y="703299"/>
            <a:ext cx="11520000" cy="0"/>
          </a:xfrm>
          <a:prstGeom prst="line">
            <a:avLst/>
          </a:prstGeom>
          <a:ln w="28575">
            <a:solidFill>
              <a:srgbClr val="A99A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0A60943-D319-B6C3-FCB2-6625617C4883}"/>
              </a:ext>
            </a:extLst>
          </p:cNvPr>
          <p:cNvCxnSpPr>
            <a:cxnSpLocks/>
          </p:cNvCxnSpPr>
          <p:nvPr userDrawn="1"/>
        </p:nvCxnSpPr>
        <p:spPr>
          <a:xfrm flipV="1">
            <a:off x="417481" y="6445037"/>
            <a:ext cx="11520000" cy="0"/>
          </a:xfrm>
          <a:prstGeom prst="line">
            <a:avLst/>
          </a:prstGeom>
          <a:ln w="12700">
            <a:solidFill>
              <a:srgbClr val="A99A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5352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9629E6-F050-DE52-AE8E-FEF411AF6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971C7F-B6FA-A11B-B2B5-B8F1C8996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F8F4D1-52BA-FDBD-8D13-14939E5DC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424A2A-3BAD-0337-DD3E-D060F4EFD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71055-C9FF-4AA7-BFA7-3DA9DE1E6AB8}" type="datetime1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044D4E-A52A-5BD0-B5E7-11A882A1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85AF8C-44AF-89E7-F934-2A2A38084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6463-D1C1-4B59-8382-6AFDD2B4B9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3401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0B3CAD-3075-CF44-E1BA-480BA5F6D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343674-74D2-1455-206D-7A8878CB21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08D61F7-CBA1-6E2C-EA3B-6F918C460B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3D1FA4-9DC7-1FA3-5C0F-2B7D6E4FD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0414-8759-4C8B-A637-495BE7391E60}" type="datetime1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3498F1-A380-BE49-8312-8D66520C7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3C1FCC-84AA-B4B3-7E88-9F65B3CF0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6463-D1C1-4B59-8382-6AFDD2B4B9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159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BFD4DD-6ECB-C3F3-C9C9-432A857E1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F839BF-D043-9DC6-0466-D7DB0B87E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1A9CDC-A0CD-B8AF-CADC-AA8F38C31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F05BB-1103-4958-82F3-F84394A26173}" type="datetime1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770D03-16C8-9822-49DE-B175908CF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15D854-959B-A49C-7064-41C38638D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6463-D1C1-4B59-8382-6AFDD2B4B9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281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EAB2165-AC01-9668-F6F0-8C111DC97A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7AF31A1-47FE-FB38-8F58-C139DA65F5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BF2AA6-D4DF-A17E-6869-438DA9B97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D37FC-C35C-437D-9719-DC87AB76426A}" type="datetime1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A95F74-7DB4-FDF4-03D9-08B127359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674252-7EE0-F256-D33A-FFECCF39B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6463-D1C1-4B59-8382-6AFDD2B4B9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5035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63CA85D-25F0-E2B0-BCDB-633B073F6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BB9E9F-8883-F7FC-D931-9FF549C43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4C7E52-9FC1-6534-2047-7E33630E94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1AA1CC-B806-41C5-BF3C-A7897F185A6D}" type="datetime1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693A45-A269-645F-01F5-C11D3D3CA9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C46ECD-4A32-1FFA-7391-1CDAE5E048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CD6463-D1C1-4B59-8382-6AFDD2B4B9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6980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0.png"/><Relationship Id="rId7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22.png"/><Relationship Id="rId10" Type="http://schemas.openxmlformats.org/officeDocument/2006/relationships/image" Target="../media/image40.png"/><Relationship Id="rId4" Type="http://schemas.openxmlformats.org/officeDocument/2006/relationships/image" Target="../media/image21.png"/><Relationship Id="rId9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42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22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43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61.png"/><Relationship Id="rId3" Type="http://schemas.openxmlformats.org/officeDocument/2006/relationships/image" Target="../media/image59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1.png"/><Relationship Id="rId10" Type="http://schemas.openxmlformats.org/officeDocument/2006/relationships/image" Target="../media/image27.png"/><Relationship Id="rId4" Type="http://schemas.openxmlformats.org/officeDocument/2006/relationships/image" Target="../media/image60.png"/><Relationship Id="rId9" Type="http://schemas.openxmlformats.org/officeDocument/2006/relationships/image" Target="../media/image26.png"/><Relationship Id="rId1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22.png"/><Relationship Id="rId3" Type="http://schemas.openxmlformats.org/officeDocument/2006/relationships/image" Target="../media/image69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5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0.png"/><Relationship Id="rId7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22.png"/><Relationship Id="rId10" Type="http://schemas.openxmlformats.org/officeDocument/2006/relationships/image" Target="../media/image40.png"/><Relationship Id="rId4" Type="http://schemas.openxmlformats.org/officeDocument/2006/relationships/image" Target="../media/image21.png"/><Relationship Id="rId9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15AC39AB-4586-0F26-89F5-5589D2A6F1D1}"/>
              </a:ext>
            </a:extLst>
          </p:cNvPr>
          <p:cNvSpPr txBox="1"/>
          <p:nvPr/>
        </p:nvSpPr>
        <p:spPr>
          <a:xfrm>
            <a:off x="369148" y="196639"/>
            <a:ext cx="1409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333333"/>
                </a:solidFill>
              </a:rPr>
              <a:t>2024</a:t>
            </a:r>
            <a:r>
              <a:rPr lang="ko-KR" altLang="en-US" b="1" dirty="0">
                <a:solidFill>
                  <a:srgbClr val="333333"/>
                </a:solidFill>
              </a:rPr>
              <a:t>학년도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48E66D-4E79-832B-4253-D2D39DAD900F}"/>
              </a:ext>
            </a:extLst>
          </p:cNvPr>
          <p:cNvSpPr txBox="1"/>
          <p:nvPr/>
        </p:nvSpPr>
        <p:spPr>
          <a:xfrm>
            <a:off x="1494857" y="1414947"/>
            <a:ext cx="92022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spc="300" dirty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Capstone Design </a:t>
            </a:r>
            <a:r>
              <a:rPr lang="ko-KR" altLang="en-US" sz="4000" b="1" spc="300" dirty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팀별 결과보고서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75429B-1B60-33DE-90AE-5B6FAB740FF7}"/>
              </a:ext>
            </a:extLst>
          </p:cNvPr>
          <p:cNvSpPr txBox="1"/>
          <p:nvPr/>
        </p:nvSpPr>
        <p:spPr>
          <a:xfrm>
            <a:off x="10331924" y="196639"/>
            <a:ext cx="1595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333333"/>
                </a:solidFill>
              </a:rPr>
              <a:t>2024. 12. 04.</a:t>
            </a:r>
            <a:endParaRPr lang="ko-KR" altLang="en-US" b="1" dirty="0">
              <a:solidFill>
                <a:srgbClr val="333333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B44C6F0-7801-4433-11D2-AC62391960B5}"/>
              </a:ext>
            </a:extLst>
          </p:cNvPr>
          <p:cNvSpPr txBox="1">
            <a:spLocks/>
          </p:cNvSpPr>
          <p:nvPr/>
        </p:nvSpPr>
        <p:spPr>
          <a:xfrm>
            <a:off x="1073828" y="6380111"/>
            <a:ext cx="1800000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ko-KR" altLang="en-US" sz="1600" b="1" dirty="0">
                <a:solidFill>
                  <a:srgbClr val="F6F4F0"/>
                </a:solidFill>
                <a:latin typeface="+mn-ea"/>
              </a:rPr>
              <a:t>□ 학 과 명 </a:t>
            </a:r>
            <a:r>
              <a:rPr lang="en-US" altLang="ko-KR" sz="1600" b="1" dirty="0">
                <a:solidFill>
                  <a:srgbClr val="F6F4F0"/>
                </a:solidFill>
                <a:latin typeface="+mn-ea"/>
              </a:rPr>
              <a:t>: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0AC930A-D261-115F-E8E4-83DBB8799E21}"/>
              </a:ext>
            </a:extLst>
          </p:cNvPr>
          <p:cNvSpPr txBox="1">
            <a:spLocks/>
          </p:cNvSpPr>
          <p:nvPr/>
        </p:nvSpPr>
        <p:spPr>
          <a:xfrm>
            <a:off x="3003672" y="6455581"/>
            <a:ext cx="1898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1600" b="1" dirty="0">
                <a:solidFill>
                  <a:srgbClr val="F6F4F0"/>
                </a:solidFill>
              </a:rPr>
              <a:t>컴퓨터 소프트웨어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501CC3A-5104-BD60-9F05-4B9E79E1A913}"/>
              </a:ext>
            </a:extLst>
          </p:cNvPr>
          <p:cNvSpPr txBox="1"/>
          <p:nvPr/>
        </p:nvSpPr>
        <p:spPr>
          <a:xfrm>
            <a:off x="7169828" y="6380111"/>
            <a:ext cx="1800000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ko-KR" altLang="en-US" sz="1600" b="1" dirty="0">
                <a:solidFill>
                  <a:srgbClr val="F6F4F0"/>
                </a:solidFill>
                <a:latin typeface="+mn-ea"/>
              </a:rPr>
              <a:t>□ 지도교수 </a:t>
            </a:r>
            <a:r>
              <a:rPr lang="en-US" altLang="ko-KR" sz="1600" b="1" dirty="0">
                <a:solidFill>
                  <a:srgbClr val="F6F4F0"/>
                </a:solidFill>
                <a:latin typeface="+mn-ea"/>
              </a:rPr>
              <a:t>: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885FB82-9773-AABE-B177-484A94F0A9B9}"/>
              </a:ext>
            </a:extLst>
          </p:cNvPr>
          <p:cNvSpPr txBox="1"/>
          <p:nvPr/>
        </p:nvSpPr>
        <p:spPr>
          <a:xfrm>
            <a:off x="8956829" y="6455581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1600" b="1">
                <a:solidFill>
                  <a:srgbClr val="F6F4F0"/>
                </a:solidFill>
              </a:rPr>
              <a:t>유혜연</a:t>
            </a:r>
            <a:endParaRPr lang="ko-KR" altLang="en-US" sz="1600" b="1" dirty="0">
              <a:solidFill>
                <a:srgbClr val="F6F4F0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3E33015-B3D3-4046-9F92-0D5419C13357}"/>
              </a:ext>
            </a:extLst>
          </p:cNvPr>
          <p:cNvGrpSpPr/>
          <p:nvPr/>
        </p:nvGrpSpPr>
        <p:grpSpPr>
          <a:xfrm>
            <a:off x="3771533" y="4308485"/>
            <a:ext cx="4797606" cy="1582548"/>
            <a:chOff x="3983168" y="4124157"/>
            <a:chExt cx="4797606" cy="158254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57B0EE6-4362-9B1D-27E6-4B324C667AE7}"/>
                </a:ext>
              </a:extLst>
            </p:cNvPr>
            <p:cNvSpPr txBox="1">
              <a:spLocks/>
            </p:cNvSpPr>
            <p:nvPr/>
          </p:nvSpPr>
          <p:spPr>
            <a:xfrm>
              <a:off x="3983168" y="4124157"/>
              <a:ext cx="1800000" cy="454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ko-KR" altLang="en-US" b="1" dirty="0">
                  <a:solidFill>
                    <a:srgbClr val="333333"/>
                  </a:solidFill>
                  <a:latin typeface="+mn-ea"/>
                </a:rPr>
                <a:t>□ 과 제 명 </a:t>
              </a:r>
              <a:r>
                <a:rPr lang="en-US" altLang="ko-KR" b="1" dirty="0">
                  <a:solidFill>
                    <a:srgbClr val="333333"/>
                  </a:solidFill>
                  <a:latin typeface="+mn-ea"/>
                </a:rPr>
                <a:t>: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A7DC0B0-F1E4-92DD-B029-71F277A650DC}"/>
                </a:ext>
              </a:extLst>
            </p:cNvPr>
            <p:cNvSpPr txBox="1">
              <a:spLocks/>
            </p:cNvSpPr>
            <p:nvPr/>
          </p:nvSpPr>
          <p:spPr>
            <a:xfrm>
              <a:off x="5900772" y="4209117"/>
              <a:ext cx="28799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rgbClr val="333333"/>
                  </a:solidFill>
                </a:rPr>
                <a:t>종합설계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6487B55-C5B8-D238-9F3B-1FFD8B6650C0}"/>
                </a:ext>
              </a:extLst>
            </p:cNvPr>
            <p:cNvSpPr txBox="1">
              <a:spLocks/>
            </p:cNvSpPr>
            <p:nvPr/>
          </p:nvSpPr>
          <p:spPr>
            <a:xfrm>
              <a:off x="3983168" y="5252413"/>
              <a:ext cx="1800000" cy="454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ko-KR" altLang="en-US" b="1" dirty="0">
                  <a:solidFill>
                    <a:srgbClr val="333333"/>
                  </a:solidFill>
                  <a:latin typeface="+mn-ea"/>
                </a:rPr>
                <a:t>□ 기업체명 </a:t>
              </a:r>
              <a:r>
                <a:rPr lang="en-US" altLang="ko-KR" b="1" dirty="0">
                  <a:solidFill>
                    <a:srgbClr val="333333"/>
                  </a:solidFill>
                  <a:latin typeface="+mn-ea"/>
                </a:rPr>
                <a:t>:</a:t>
              </a:r>
              <a:endParaRPr lang="ko-KR" altLang="en-US" b="1" dirty="0">
                <a:solidFill>
                  <a:srgbClr val="333333"/>
                </a:solidFill>
                <a:latin typeface="+mn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03FBB0E-1A25-8A26-A8BA-986162B35E31}"/>
                </a:ext>
              </a:extLst>
            </p:cNvPr>
            <p:cNvSpPr txBox="1">
              <a:spLocks/>
            </p:cNvSpPr>
            <p:nvPr/>
          </p:nvSpPr>
          <p:spPr>
            <a:xfrm>
              <a:off x="5900772" y="5337373"/>
              <a:ext cx="28799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333333"/>
                  </a:solidFill>
                </a:rPr>
                <a:t>(</a:t>
              </a:r>
              <a:r>
                <a:rPr lang="ko-KR" altLang="en-US" b="1" dirty="0">
                  <a:solidFill>
                    <a:srgbClr val="333333"/>
                  </a:solidFill>
                </a:rPr>
                <a:t>주</a:t>
              </a:r>
              <a:r>
                <a:rPr lang="en-US" altLang="ko-KR" b="1" dirty="0">
                  <a:solidFill>
                    <a:srgbClr val="333333"/>
                  </a:solidFill>
                </a:rPr>
                <a:t>)</a:t>
              </a:r>
              <a:r>
                <a:rPr lang="ko-KR" altLang="en-US" b="1" dirty="0" err="1">
                  <a:solidFill>
                    <a:srgbClr val="333333"/>
                  </a:solidFill>
                </a:rPr>
                <a:t>데이텍</a:t>
              </a:r>
              <a:endParaRPr lang="ko-KR" altLang="en-US" b="1" dirty="0">
                <a:solidFill>
                  <a:srgbClr val="333333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4E3E8B9-FF6C-6FBC-969B-BD89062A8244}"/>
                </a:ext>
              </a:extLst>
            </p:cNvPr>
            <p:cNvSpPr txBox="1">
              <a:spLocks/>
            </p:cNvSpPr>
            <p:nvPr/>
          </p:nvSpPr>
          <p:spPr>
            <a:xfrm>
              <a:off x="3983168" y="4688285"/>
              <a:ext cx="1800000" cy="454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ko-KR" altLang="en-US" b="1" dirty="0">
                  <a:solidFill>
                    <a:srgbClr val="333333"/>
                  </a:solidFill>
                  <a:latin typeface="+mn-ea"/>
                </a:rPr>
                <a:t>□ 팀    명 </a:t>
              </a:r>
              <a:r>
                <a:rPr lang="en-US" altLang="ko-KR" b="1" dirty="0">
                  <a:solidFill>
                    <a:srgbClr val="333333"/>
                  </a:solidFill>
                  <a:latin typeface="+mn-ea"/>
                </a:rPr>
                <a:t>: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64F94D3-5244-F6CB-2754-6F8370F23C45}"/>
                </a:ext>
              </a:extLst>
            </p:cNvPr>
            <p:cNvSpPr txBox="1">
              <a:spLocks/>
            </p:cNvSpPr>
            <p:nvPr/>
          </p:nvSpPr>
          <p:spPr>
            <a:xfrm>
              <a:off x="5900775" y="4773245"/>
              <a:ext cx="28799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 i="0" u="none" strike="noStrike" dirty="0">
                  <a:solidFill>
                    <a:srgbClr val="404040"/>
                  </a:solidFill>
                  <a:latin typeface="Noto Sans CJK KR Black"/>
                </a:rPr>
                <a:t>ΔΩ</a:t>
              </a:r>
              <a:endParaRPr lang="ko-KR" altLang="en-US" sz="2000" b="1" dirty="0">
                <a:solidFill>
                  <a:srgbClr val="333333"/>
                </a:solidFill>
              </a:endParaRPr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0EAB7382-D6E0-4CF3-B66A-7ACE2446681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17906" y="1936492"/>
            <a:ext cx="2680316" cy="2518976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6463-D1C1-4B59-8382-6AFDD2B4B94E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5881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365859-E42F-9A00-A7FB-5796B37E36B3}"/>
              </a:ext>
            </a:extLst>
          </p:cNvPr>
          <p:cNvSpPr txBox="1"/>
          <p:nvPr/>
        </p:nvSpPr>
        <p:spPr>
          <a:xfrm>
            <a:off x="954408" y="416560"/>
            <a:ext cx="460182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ko-KR" altLang="en-US" sz="4000" b="1" dirty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목 차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35A13FB-817D-A51F-F2ED-1161605C182E}"/>
              </a:ext>
            </a:extLst>
          </p:cNvPr>
          <p:cNvGrpSpPr/>
          <p:nvPr/>
        </p:nvGrpSpPr>
        <p:grpSpPr>
          <a:xfrm>
            <a:off x="8558762" y="1620104"/>
            <a:ext cx="3442134" cy="584775"/>
            <a:chOff x="8696960" y="368999"/>
            <a:chExt cx="3442134" cy="58477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9C92980-98FD-0919-45C5-7C5EE05FAAE7}"/>
                </a:ext>
              </a:extLst>
            </p:cNvPr>
            <p:cNvSpPr txBox="1"/>
            <p:nvPr/>
          </p:nvSpPr>
          <p:spPr>
            <a:xfrm>
              <a:off x="8696960" y="368999"/>
              <a:ext cx="6591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200" b="1" dirty="0">
                  <a:solidFill>
                    <a:srgbClr val="333333"/>
                  </a:solidFill>
                </a:rPr>
                <a:t>03</a:t>
              </a:r>
              <a:endParaRPr lang="ko-KR" altLang="en-US" sz="3200" b="1" dirty="0">
                <a:solidFill>
                  <a:srgbClr val="333333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2F9212F-6C20-AC89-EFBB-DDDADED377D8}"/>
                </a:ext>
              </a:extLst>
            </p:cNvPr>
            <p:cNvSpPr txBox="1"/>
            <p:nvPr/>
          </p:nvSpPr>
          <p:spPr>
            <a:xfrm>
              <a:off x="9282222" y="461331"/>
              <a:ext cx="285687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ko-KR" altLang="en-US" sz="2000" b="1" dirty="0">
                  <a:solidFill>
                    <a:srgbClr val="333333"/>
                  </a:solidFill>
                </a:rPr>
                <a:t>활용한 </a:t>
              </a:r>
              <a:r>
                <a:rPr lang="en-US" altLang="ko-KR" sz="2000" b="1" dirty="0">
                  <a:solidFill>
                    <a:srgbClr val="333333"/>
                  </a:solidFill>
                </a:rPr>
                <a:t>AI </a:t>
              </a:r>
              <a:r>
                <a:rPr lang="ko-KR" altLang="en-US" sz="2000" b="1" dirty="0">
                  <a:solidFill>
                    <a:srgbClr val="333333"/>
                  </a:solidFill>
                </a:rPr>
                <a:t>기술 및 도구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2C379892-CD35-44C6-2B37-2B79A9A78C42}"/>
              </a:ext>
            </a:extLst>
          </p:cNvPr>
          <p:cNvGrpSpPr/>
          <p:nvPr/>
        </p:nvGrpSpPr>
        <p:grpSpPr>
          <a:xfrm>
            <a:off x="1118688" y="1620105"/>
            <a:ext cx="6617305" cy="998797"/>
            <a:chOff x="2633408" y="1210088"/>
            <a:chExt cx="6617305" cy="998797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B100BA12-000A-390F-8CED-51366136D3B6}"/>
                </a:ext>
              </a:extLst>
            </p:cNvPr>
            <p:cNvGrpSpPr/>
            <p:nvPr/>
          </p:nvGrpSpPr>
          <p:grpSpPr>
            <a:xfrm>
              <a:off x="2633408" y="1210088"/>
              <a:ext cx="1463862" cy="584775"/>
              <a:chOff x="2692400" y="369000"/>
              <a:chExt cx="1463862" cy="584775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29748BB-5A9A-0603-E632-59791B7D2E24}"/>
                  </a:ext>
                </a:extLst>
              </p:cNvPr>
              <p:cNvSpPr txBox="1"/>
              <p:nvPr/>
            </p:nvSpPr>
            <p:spPr>
              <a:xfrm>
                <a:off x="2692400" y="369000"/>
                <a:ext cx="65915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3200" b="1" dirty="0">
                    <a:solidFill>
                      <a:srgbClr val="333333"/>
                    </a:solidFill>
                  </a:rPr>
                  <a:t>01</a:t>
                </a:r>
                <a:endParaRPr lang="ko-KR" altLang="en-US" sz="3200" b="1" dirty="0">
                  <a:solidFill>
                    <a:srgbClr val="333333"/>
                  </a:solidFill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8039AF-F957-A618-EFE7-BD02EEF66064}"/>
                  </a:ext>
                </a:extLst>
              </p:cNvPr>
              <p:cNvSpPr txBox="1"/>
              <p:nvPr/>
            </p:nvSpPr>
            <p:spPr>
              <a:xfrm>
                <a:off x="3458635" y="461331"/>
                <a:ext cx="6976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:r>
                  <a:rPr lang="ko-KR" altLang="en-US" sz="2000" b="1" dirty="0">
                    <a:solidFill>
                      <a:srgbClr val="333333"/>
                    </a:solidFill>
                  </a:rPr>
                  <a:t>팀원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28E1707-832D-8834-1AF8-82010760187A}"/>
                </a:ext>
              </a:extLst>
            </p:cNvPr>
            <p:cNvSpPr txBox="1"/>
            <p:nvPr/>
          </p:nvSpPr>
          <p:spPr>
            <a:xfrm>
              <a:off x="7400527" y="1794861"/>
              <a:ext cx="1850186" cy="4140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 dirty="0">
                  <a:solidFill>
                    <a:srgbClr val="333333"/>
                  </a:solidFill>
                </a:rPr>
                <a:t>-</a:t>
              </a:r>
              <a:r>
                <a:rPr lang="ko-KR" altLang="en-US" sz="1600" dirty="0">
                  <a:solidFill>
                    <a:srgbClr val="333333"/>
                  </a:solidFill>
                </a:rPr>
                <a:t>문제정의 및 목표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971765E-86E6-26E8-F21F-7ED956334A54}"/>
              </a:ext>
            </a:extLst>
          </p:cNvPr>
          <p:cNvGrpSpPr/>
          <p:nvPr/>
        </p:nvGrpSpPr>
        <p:grpSpPr>
          <a:xfrm>
            <a:off x="5226652" y="1620104"/>
            <a:ext cx="2550753" cy="3494711"/>
            <a:chOff x="6023615" y="1210087"/>
            <a:chExt cx="2550753" cy="3494711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5202E81E-2B5A-A9A9-8337-A83683A5BF24}"/>
                </a:ext>
              </a:extLst>
            </p:cNvPr>
            <p:cNvGrpSpPr/>
            <p:nvPr/>
          </p:nvGrpSpPr>
          <p:grpSpPr>
            <a:xfrm>
              <a:off x="6023615" y="1210087"/>
              <a:ext cx="2550753" cy="584775"/>
              <a:chOff x="5689600" y="368999"/>
              <a:chExt cx="2550753" cy="584775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7202BD5-8210-CFDF-0875-C54D34832CD1}"/>
                  </a:ext>
                </a:extLst>
              </p:cNvPr>
              <p:cNvSpPr txBox="1"/>
              <p:nvPr/>
            </p:nvSpPr>
            <p:spPr>
              <a:xfrm>
                <a:off x="5689600" y="368999"/>
                <a:ext cx="65915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3200" b="1" dirty="0">
                    <a:solidFill>
                      <a:srgbClr val="333333"/>
                    </a:solidFill>
                  </a:rPr>
                  <a:t>02</a:t>
                </a:r>
                <a:endParaRPr lang="ko-KR" altLang="en-US" sz="3200" b="1" dirty="0">
                  <a:solidFill>
                    <a:srgbClr val="333333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FB32CC1-4853-D214-A8EF-E47ABFF02473}"/>
                  </a:ext>
                </a:extLst>
              </p:cNvPr>
              <p:cNvSpPr txBox="1"/>
              <p:nvPr/>
            </p:nvSpPr>
            <p:spPr>
              <a:xfrm>
                <a:off x="6427036" y="461331"/>
                <a:ext cx="181331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:r>
                  <a:rPr lang="ko-KR" altLang="en-US" sz="2000" b="1">
                    <a:solidFill>
                      <a:srgbClr val="333333"/>
                    </a:solidFill>
                  </a:rPr>
                  <a:t>프로젝트 목표</a:t>
                </a:r>
                <a:endParaRPr lang="ko-KR" altLang="en-US" sz="2000" b="1" dirty="0">
                  <a:solidFill>
                    <a:srgbClr val="333333"/>
                  </a:solidFill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ABEAE01-0839-D3AB-1BD8-FFF19D898823}"/>
                </a:ext>
              </a:extLst>
            </p:cNvPr>
            <p:cNvSpPr txBox="1"/>
            <p:nvPr/>
          </p:nvSpPr>
          <p:spPr>
            <a:xfrm>
              <a:off x="6682770" y="3921442"/>
              <a:ext cx="1439818" cy="783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 dirty="0">
                  <a:solidFill>
                    <a:srgbClr val="333333"/>
                  </a:solidFill>
                </a:rPr>
                <a:t>-</a:t>
              </a:r>
              <a:r>
                <a:rPr lang="ko-KR" altLang="en-US" sz="1600" dirty="0">
                  <a:solidFill>
                    <a:srgbClr val="333333"/>
                  </a:solidFill>
                </a:rPr>
                <a:t> 성과물 유형</a:t>
              </a:r>
              <a:endParaRPr lang="en-US" altLang="ko-KR" sz="1600" dirty="0">
                <a:solidFill>
                  <a:srgbClr val="333333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600" dirty="0">
                  <a:solidFill>
                    <a:srgbClr val="333333"/>
                  </a:solidFill>
                </a:rPr>
                <a:t>-</a:t>
              </a:r>
              <a:r>
                <a:rPr lang="ko-KR" altLang="en-US" sz="1600" dirty="0">
                  <a:solidFill>
                    <a:srgbClr val="333333"/>
                  </a:solidFill>
                </a:rPr>
                <a:t> 성과물 소개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25F54DA-E191-9139-0616-DC2F524188C4}"/>
              </a:ext>
            </a:extLst>
          </p:cNvPr>
          <p:cNvGrpSpPr/>
          <p:nvPr/>
        </p:nvGrpSpPr>
        <p:grpSpPr>
          <a:xfrm>
            <a:off x="5226652" y="3839017"/>
            <a:ext cx="1732953" cy="584775"/>
            <a:chOff x="5689600" y="3429000"/>
            <a:chExt cx="1732953" cy="58477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553C657-799F-AF37-5C9F-868CC874AB63}"/>
                </a:ext>
              </a:extLst>
            </p:cNvPr>
            <p:cNvSpPr txBox="1"/>
            <p:nvPr/>
          </p:nvSpPr>
          <p:spPr>
            <a:xfrm>
              <a:off x="5689600" y="3429000"/>
              <a:ext cx="6591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200" b="1" dirty="0">
                  <a:solidFill>
                    <a:srgbClr val="333333"/>
                  </a:solidFill>
                </a:rPr>
                <a:t>05</a:t>
              </a:r>
              <a:endParaRPr lang="ko-KR" altLang="en-US" sz="3200" b="1" dirty="0">
                <a:solidFill>
                  <a:srgbClr val="333333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61F6C79-A4D8-16C5-72E2-21A7E5D605AC}"/>
                </a:ext>
              </a:extLst>
            </p:cNvPr>
            <p:cNvSpPr txBox="1"/>
            <p:nvPr/>
          </p:nvSpPr>
          <p:spPr>
            <a:xfrm>
              <a:off x="6468446" y="3521332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ko-KR" altLang="en-US" sz="2000" b="1">
                  <a:solidFill>
                    <a:srgbClr val="333333"/>
                  </a:solidFill>
                </a:rPr>
                <a:t>성과물</a:t>
              </a:r>
              <a:endParaRPr lang="ko-KR" altLang="en-US" sz="2000" b="1" dirty="0">
                <a:solidFill>
                  <a:srgbClr val="333333"/>
                </a:solidFill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3CED1A1-A7EA-8930-7449-84D989DB39C9}"/>
              </a:ext>
            </a:extLst>
          </p:cNvPr>
          <p:cNvGrpSpPr/>
          <p:nvPr/>
        </p:nvGrpSpPr>
        <p:grpSpPr>
          <a:xfrm>
            <a:off x="1118688" y="3839017"/>
            <a:ext cx="2734403" cy="998799"/>
            <a:chOff x="1118688" y="3839017"/>
            <a:chExt cx="2734403" cy="998799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63AB7152-585D-93C0-42B8-9DECB9B614DA}"/>
                </a:ext>
              </a:extLst>
            </p:cNvPr>
            <p:cNvGrpSpPr/>
            <p:nvPr/>
          </p:nvGrpSpPr>
          <p:grpSpPr>
            <a:xfrm>
              <a:off x="1118688" y="3839017"/>
              <a:ext cx="2582599" cy="584775"/>
              <a:chOff x="2692400" y="3429000"/>
              <a:chExt cx="2582599" cy="584775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52314CC-9A20-A520-FD2C-AFB21D144519}"/>
                  </a:ext>
                </a:extLst>
              </p:cNvPr>
              <p:cNvSpPr txBox="1"/>
              <p:nvPr/>
            </p:nvSpPr>
            <p:spPr>
              <a:xfrm>
                <a:off x="2692400" y="3429000"/>
                <a:ext cx="65915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3200" b="1" dirty="0">
                    <a:solidFill>
                      <a:srgbClr val="333333"/>
                    </a:solidFill>
                  </a:rPr>
                  <a:t>04</a:t>
                </a:r>
                <a:endParaRPr lang="ko-KR" altLang="en-US" sz="3200" b="1" dirty="0">
                  <a:solidFill>
                    <a:srgbClr val="333333"/>
                  </a:solidFill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8581C1A-33B5-1356-2B74-825FDF9D3D95}"/>
                  </a:ext>
                </a:extLst>
              </p:cNvPr>
              <p:cNvSpPr txBox="1"/>
              <p:nvPr/>
            </p:nvSpPr>
            <p:spPr>
              <a:xfrm>
                <a:off x="3367104" y="3521331"/>
                <a:ext cx="190789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:r>
                  <a:rPr lang="en-US" altLang="ko-KR" sz="2000" b="1" dirty="0">
                    <a:solidFill>
                      <a:srgbClr val="333333"/>
                    </a:solidFill>
                  </a:rPr>
                  <a:t>AI</a:t>
                </a:r>
                <a:r>
                  <a:rPr lang="ko-KR" altLang="en-US" sz="2000" b="1" dirty="0">
                    <a:solidFill>
                      <a:srgbClr val="333333"/>
                    </a:solidFill>
                  </a:rPr>
                  <a:t>활용 및 실행</a:t>
                </a: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65EBB84-4A2A-62CA-1E59-343B00C99E72}"/>
                </a:ext>
              </a:extLst>
            </p:cNvPr>
            <p:cNvSpPr txBox="1"/>
            <p:nvPr/>
          </p:nvSpPr>
          <p:spPr>
            <a:xfrm>
              <a:off x="1448265" y="4423792"/>
              <a:ext cx="2404826" cy="4140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 dirty="0">
                  <a:solidFill>
                    <a:srgbClr val="333333"/>
                  </a:solidFill>
                </a:rPr>
                <a:t>-</a:t>
              </a:r>
              <a:r>
                <a:rPr lang="ko-KR" altLang="en-US" sz="1600" dirty="0">
                  <a:solidFill>
                    <a:srgbClr val="333333"/>
                  </a:solidFill>
                </a:rPr>
                <a:t>실행 단계 및 주요 과정</a:t>
              </a:r>
              <a:endParaRPr lang="en-US" altLang="ko-KR" sz="1600" dirty="0">
                <a:solidFill>
                  <a:srgbClr val="333333"/>
                </a:solidFill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D457E41-CB6B-3EC7-0B63-D54C0B6C2ED9}"/>
              </a:ext>
            </a:extLst>
          </p:cNvPr>
          <p:cNvSpPr/>
          <p:nvPr/>
        </p:nvSpPr>
        <p:spPr>
          <a:xfrm>
            <a:off x="0" y="0"/>
            <a:ext cx="540000" cy="6858000"/>
          </a:xfrm>
          <a:prstGeom prst="rect">
            <a:avLst/>
          </a:prstGeom>
          <a:solidFill>
            <a:srgbClr val="A99A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333333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6463-D1C1-4B59-8382-6AFDD2B4B94E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05A55C-F6A6-8D4A-2387-B8C80F5D59C1}"/>
              </a:ext>
            </a:extLst>
          </p:cNvPr>
          <p:cNvSpPr txBox="1"/>
          <p:nvPr/>
        </p:nvSpPr>
        <p:spPr>
          <a:xfrm>
            <a:off x="1584841" y="2228554"/>
            <a:ext cx="1162498" cy="414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333333"/>
                </a:solidFill>
              </a:rPr>
              <a:t>-</a:t>
            </a:r>
            <a:r>
              <a:rPr lang="ko-KR" altLang="en-US" sz="1600" dirty="0">
                <a:solidFill>
                  <a:srgbClr val="333333"/>
                </a:solidFill>
              </a:rPr>
              <a:t> 팀원소개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BB10AF-C4F4-30EF-5B32-AE46BACB0E22}"/>
              </a:ext>
            </a:extLst>
          </p:cNvPr>
          <p:cNvSpPr txBox="1"/>
          <p:nvPr/>
        </p:nvSpPr>
        <p:spPr>
          <a:xfrm>
            <a:off x="9217918" y="2174893"/>
            <a:ext cx="2390398" cy="414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333333"/>
                </a:solidFill>
              </a:rPr>
              <a:t>-</a:t>
            </a:r>
            <a:r>
              <a:rPr lang="ko-KR" altLang="en-US" sz="1600" dirty="0">
                <a:solidFill>
                  <a:srgbClr val="333333"/>
                </a:solidFill>
              </a:rPr>
              <a:t>활용한 </a:t>
            </a:r>
            <a:r>
              <a:rPr lang="en-US" altLang="ko-KR" sz="1600" dirty="0">
                <a:solidFill>
                  <a:srgbClr val="333333"/>
                </a:solidFill>
              </a:rPr>
              <a:t>AI </a:t>
            </a:r>
            <a:r>
              <a:rPr lang="ko-KR" altLang="en-US" sz="1600" dirty="0">
                <a:solidFill>
                  <a:srgbClr val="333333"/>
                </a:solidFill>
              </a:rPr>
              <a:t>기술 및 도구</a:t>
            </a:r>
            <a:endParaRPr lang="en-US" altLang="ko-KR" sz="1600" dirty="0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7553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4FCF684-92FD-04AF-323D-A23A64591177}"/>
              </a:ext>
            </a:extLst>
          </p:cNvPr>
          <p:cNvSpPr/>
          <p:nvPr/>
        </p:nvSpPr>
        <p:spPr>
          <a:xfrm>
            <a:off x="5145625" y="1569203"/>
            <a:ext cx="1897812" cy="408892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16287BC-4445-4711-3147-048D9633964D}"/>
              </a:ext>
            </a:extLst>
          </p:cNvPr>
          <p:cNvSpPr/>
          <p:nvPr/>
        </p:nvSpPr>
        <p:spPr>
          <a:xfrm>
            <a:off x="7173100" y="1569203"/>
            <a:ext cx="1897812" cy="408892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EA947B9-9CAA-E97F-E1BF-481A0A6C6ECE}"/>
              </a:ext>
            </a:extLst>
          </p:cNvPr>
          <p:cNvSpPr/>
          <p:nvPr/>
        </p:nvSpPr>
        <p:spPr>
          <a:xfrm>
            <a:off x="9200575" y="1569202"/>
            <a:ext cx="1897812" cy="408892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CDB75E7-E650-B1AC-B00F-2EC0DB91EE8C}"/>
              </a:ext>
            </a:extLst>
          </p:cNvPr>
          <p:cNvSpPr/>
          <p:nvPr/>
        </p:nvSpPr>
        <p:spPr>
          <a:xfrm>
            <a:off x="3075722" y="1569204"/>
            <a:ext cx="1897812" cy="408892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B0AC611-EDB3-38B8-6363-291946087966}"/>
              </a:ext>
            </a:extLst>
          </p:cNvPr>
          <p:cNvSpPr/>
          <p:nvPr/>
        </p:nvSpPr>
        <p:spPr>
          <a:xfrm>
            <a:off x="1005819" y="1569205"/>
            <a:ext cx="1897812" cy="408892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C35702-8FA5-8AF8-96FB-6B7292A23759}"/>
              </a:ext>
            </a:extLst>
          </p:cNvPr>
          <p:cNvSpPr txBox="1"/>
          <p:nvPr/>
        </p:nvSpPr>
        <p:spPr>
          <a:xfrm>
            <a:off x="581170" y="216440"/>
            <a:ext cx="124906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01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팀원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6463-D1C1-4B59-8382-6AFDD2B4B94E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495DCE-D2B8-0C88-9A7D-AAB0EA8860F7}"/>
              </a:ext>
            </a:extLst>
          </p:cNvPr>
          <p:cNvSpPr txBox="1"/>
          <p:nvPr/>
        </p:nvSpPr>
        <p:spPr>
          <a:xfrm>
            <a:off x="1177910" y="3244334"/>
            <a:ext cx="1553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이름 </a:t>
            </a:r>
            <a:r>
              <a:rPr lang="en-US" altLang="ko-KR" b="1" dirty="0"/>
              <a:t>: </a:t>
            </a:r>
            <a:r>
              <a:rPr lang="ko-KR" altLang="en-US" b="1" dirty="0"/>
              <a:t>박시우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4DA1C4-095F-B2A6-9390-6F0D45E89E9B}"/>
              </a:ext>
            </a:extLst>
          </p:cNvPr>
          <p:cNvSpPr txBox="1"/>
          <p:nvPr/>
        </p:nvSpPr>
        <p:spPr>
          <a:xfrm>
            <a:off x="3176363" y="3244334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이름 </a:t>
            </a:r>
            <a:r>
              <a:rPr lang="en-US" altLang="ko-KR" b="1" dirty="0"/>
              <a:t>: </a:t>
            </a:r>
            <a:r>
              <a:rPr lang="ko-KR" altLang="en-US" b="1" dirty="0" err="1"/>
              <a:t>최원창</a:t>
            </a:r>
            <a:endParaRPr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765F3-489A-0044-C2BC-5881DA2502E2}"/>
              </a:ext>
            </a:extLst>
          </p:cNvPr>
          <p:cNvSpPr txBox="1"/>
          <p:nvPr/>
        </p:nvSpPr>
        <p:spPr>
          <a:xfrm>
            <a:off x="5184434" y="3244334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이름 </a:t>
            </a:r>
            <a:r>
              <a:rPr lang="en-US" altLang="ko-KR" b="1" dirty="0"/>
              <a:t>: </a:t>
            </a:r>
            <a:r>
              <a:rPr lang="ko-KR" altLang="en-US" b="1" dirty="0" err="1"/>
              <a:t>심대현</a:t>
            </a:r>
            <a:endParaRPr lang="ko-KR" alt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F52ADB-81E8-F77F-73E5-2E6DEEE988C5}"/>
              </a:ext>
            </a:extLst>
          </p:cNvPr>
          <p:cNvSpPr txBox="1"/>
          <p:nvPr/>
        </p:nvSpPr>
        <p:spPr>
          <a:xfrm>
            <a:off x="7192505" y="3244334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이름 </a:t>
            </a:r>
            <a:r>
              <a:rPr lang="en-US" altLang="ko-KR" b="1" dirty="0"/>
              <a:t>: </a:t>
            </a:r>
            <a:r>
              <a:rPr lang="ko-KR" altLang="en-US" b="1" dirty="0"/>
              <a:t>이종훈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2FBFFE-7FCD-21E9-4B45-F06D03C0DFC5}"/>
              </a:ext>
            </a:extLst>
          </p:cNvPr>
          <p:cNvSpPr txBox="1"/>
          <p:nvPr/>
        </p:nvSpPr>
        <p:spPr>
          <a:xfrm>
            <a:off x="9200576" y="3244334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이름 </a:t>
            </a:r>
            <a:r>
              <a:rPr lang="en-US" altLang="ko-KR" b="1" dirty="0"/>
              <a:t>: </a:t>
            </a:r>
            <a:r>
              <a:rPr lang="ko-KR" altLang="en-US" b="1" dirty="0"/>
              <a:t>김수민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779F0B-958B-F032-E18A-1790FB3CF058}"/>
              </a:ext>
            </a:extLst>
          </p:cNvPr>
          <p:cNvSpPr txBox="1"/>
          <p:nvPr/>
        </p:nvSpPr>
        <p:spPr>
          <a:xfrm>
            <a:off x="1631559" y="264031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팀장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0DC182-2F33-731C-D287-8D680878EC30}"/>
              </a:ext>
            </a:extLst>
          </p:cNvPr>
          <p:cNvSpPr txBox="1"/>
          <p:nvPr/>
        </p:nvSpPr>
        <p:spPr>
          <a:xfrm>
            <a:off x="3701462" y="264031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팀원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F50ACA-7073-2036-9006-A3C6402BCE11}"/>
              </a:ext>
            </a:extLst>
          </p:cNvPr>
          <p:cNvSpPr txBox="1"/>
          <p:nvPr/>
        </p:nvSpPr>
        <p:spPr>
          <a:xfrm>
            <a:off x="5771366" y="264031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팀원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8F4BCC-59A0-5B15-D575-5062B856FE55}"/>
              </a:ext>
            </a:extLst>
          </p:cNvPr>
          <p:cNvSpPr txBox="1"/>
          <p:nvPr/>
        </p:nvSpPr>
        <p:spPr>
          <a:xfrm>
            <a:off x="7798840" y="264031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팀원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BAF47C-001C-CAFF-11EB-69A1DB145636}"/>
              </a:ext>
            </a:extLst>
          </p:cNvPr>
          <p:cNvSpPr txBox="1"/>
          <p:nvPr/>
        </p:nvSpPr>
        <p:spPr>
          <a:xfrm>
            <a:off x="9826315" y="264031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팀원</a:t>
            </a:r>
          </a:p>
        </p:txBody>
      </p:sp>
    </p:spTree>
    <p:extLst>
      <p:ext uri="{BB962C8B-B14F-4D97-AF65-F5344CB8AC3E}">
        <p14:creationId xmlns:p14="http://schemas.microsoft.com/office/powerpoint/2010/main" val="101369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BC35702-8FA5-8AF8-96FB-6B7292A23759}"/>
              </a:ext>
            </a:extLst>
          </p:cNvPr>
          <p:cNvSpPr txBox="1"/>
          <p:nvPr/>
        </p:nvSpPr>
        <p:spPr>
          <a:xfrm>
            <a:off x="536840" y="235471"/>
            <a:ext cx="2896947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02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프로젝트의 목표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CF57EC-256F-BA22-E449-056844959655}"/>
              </a:ext>
            </a:extLst>
          </p:cNvPr>
          <p:cNvSpPr txBox="1"/>
          <p:nvPr/>
        </p:nvSpPr>
        <p:spPr>
          <a:xfrm>
            <a:off x="958518" y="920190"/>
            <a:ext cx="370280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dirty="0">
                <a:solidFill>
                  <a:srgbClr val="333333"/>
                </a:solidFill>
              </a:rPr>
              <a:t>가</a:t>
            </a:r>
            <a:r>
              <a:rPr lang="en-US" altLang="ko-KR" sz="2000" dirty="0">
                <a:solidFill>
                  <a:srgbClr val="333333"/>
                </a:solidFill>
              </a:rPr>
              <a:t>. </a:t>
            </a:r>
            <a:r>
              <a:rPr lang="ko-KR" altLang="en-US" sz="2000" dirty="0">
                <a:solidFill>
                  <a:srgbClr val="333333"/>
                </a:solidFill>
              </a:rPr>
              <a:t>문제 정의</a:t>
            </a:r>
            <a:endParaRPr lang="en-US" altLang="ko-KR" sz="2000" dirty="0">
              <a:solidFill>
                <a:srgbClr val="333333"/>
              </a:solidFill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6463-D1C1-4B59-8382-6AFDD2B4B94E}" type="slidenum">
              <a:rPr lang="ko-KR" altLang="en-US" smtClean="0"/>
              <a:t>4</a:t>
            </a:fld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A3621E19-8D84-454E-6B8D-DBC00CA08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107" y="1543353"/>
            <a:ext cx="4387075" cy="4484467"/>
          </a:xfrm>
          <a:prstGeom prst="rect">
            <a:avLst/>
          </a:prstGeom>
        </p:spPr>
      </p:pic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510CA98-E609-6409-A52D-7BEC40D89D05}"/>
              </a:ext>
            </a:extLst>
          </p:cNvPr>
          <p:cNvSpPr>
            <a:spLocks noChangeAspect="1"/>
          </p:cNvSpPr>
          <p:nvPr/>
        </p:nvSpPr>
        <p:spPr>
          <a:xfrm>
            <a:off x="5065295" y="1552358"/>
            <a:ext cx="6731597" cy="4636460"/>
          </a:xfrm>
          <a:prstGeom prst="roundRect">
            <a:avLst>
              <a:gd name="adj" fmla="val 7563"/>
            </a:avLst>
          </a:prstGeom>
          <a:solidFill>
            <a:srgbClr val="F6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3200" b="1" dirty="0">
                <a:solidFill>
                  <a:srgbClr val="333333"/>
                </a:solidFill>
              </a:rPr>
              <a:t>문제 정의</a:t>
            </a:r>
            <a:endParaRPr lang="en-US" altLang="ko-KR" sz="1600" dirty="0">
              <a:solidFill>
                <a:srgbClr val="333333"/>
              </a:solidFill>
            </a:endParaRPr>
          </a:p>
          <a:p>
            <a:endParaRPr lang="en-US" altLang="ko-KR" sz="1600" dirty="0">
              <a:solidFill>
                <a:srgbClr val="333333"/>
              </a:solidFill>
            </a:endParaRPr>
          </a:p>
          <a:p>
            <a:pPr marL="342900" lvl="0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현대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여행객들은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계획에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많은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시각과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노력을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들이며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</a:t>
            </a:r>
            <a:b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</a:b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특히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개인화된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일정을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구성하는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데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어려움을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겪고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있다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  <a:p>
            <a:pPr marL="342900" lvl="0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계획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평균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소요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시간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: 3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박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4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기준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9.6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시간</a:t>
            </a:r>
          </a:p>
          <a:p>
            <a:pPr marL="342900" lvl="0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응답자의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29%: 15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시간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이상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소요</a:t>
            </a:r>
          </a:p>
          <a:p>
            <a:pPr marL="342900" lvl="0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많은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여행객이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"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나만의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특별한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"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을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원하지만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계획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과정의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복잡성으로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인해</a:t>
            </a:r>
          </a:p>
          <a:p>
            <a:pPr marL="342900" lvl="0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실행에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어려움을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느끼고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ko-KR" sz="1600" b="1" i="0" u="none" strike="noStrike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있다</a:t>
            </a:r>
            <a:r>
              <a:rPr lang="en-US" altLang="ko-KR" sz="1600" b="1" i="0" u="none" strike="noStrike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4013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BC35702-8FA5-8AF8-96FB-6B7292A23759}"/>
              </a:ext>
            </a:extLst>
          </p:cNvPr>
          <p:cNvSpPr txBox="1"/>
          <p:nvPr/>
        </p:nvSpPr>
        <p:spPr>
          <a:xfrm>
            <a:off x="399460" y="224146"/>
            <a:ext cx="2896947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02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프로젝트의 목표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5037231-2092-4EB2-83A3-D13F08ED12E3}"/>
              </a:ext>
            </a:extLst>
          </p:cNvPr>
          <p:cNvSpPr/>
          <p:nvPr/>
        </p:nvSpPr>
        <p:spPr>
          <a:xfrm>
            <a:off x="4409953" y="1169043"/>
            <a:ext cx="7525373" cy="4874872"/>
          </a:xfrm>
          <a:prstGeom prst="rect">
            <a:avLst/>
          </a:prstGeom>
          <a:solidFill>
            <a:schemeClr val="bg1"/>
          </a:solidFill>
          <a:ln>
            <a:solidFill>
              <a:srgbClr val="A99A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600" dirty="0">
              <a:solidFill>
                <a:srgbClr val="333333"/>
              </a:solidFill>
            </a:endParaRPr>
          </a:p>
          <a:p>
            <a:pPr algn="ctr"/>
            <a:r>
              <a:rPr lang="en-US" altLang="ko-KR" sz="2400" b="1" dirty="0">
                <a:solidFill>
                  <a:srgbClr val="333333"/>
                </a:solidFill>
              </a:rPr>
              <a:t>RUBATO </a:t>
            </a:r>
            <a:r>
              <a:rPr lang="ko-KR" altLang="en-US" sz="2400" b="1" dirty="0">
                <a:solidFill>
                  <a:srgbClr val="333333"/>
                </a:solidFill>
              </a:rPr>
              <a:t>프로젝트의 주요 목표</a:t>
            </a:r>
          </a:p>
          <a:p>
            <a:endParaRPr lang="en-US" altLang="ko-KR" sz="1600" b="1" dirty="0">
              <a:solidFill>
                <a:srgbClr val="333333"/>
              </a:solidFill>
            </a:endParaRPr>
          </a:p>
          <a:p>
            <a:r>
              <a:rPr lang="en-US" altLang="ko-KR" sz="1600" dirty="0">
                <a:solidFill>
                  <a:srgbClr val="333333"/>
                </a:solidFill>
              </a:rPr>
              <a:t>1. </a:t>
            </a:r>
            <a:r>
              <a:rPr lang="ko-KR" altLang="en-US" sz="1600" dirty="0">
                <a:solidFill>
                  <a:srgbClr val="333333"/>
                </a:solidFill>
              </a:rPr>
              <a:t>여행 준비 시간의 단축</a:t>
            </a:r>
          </a:p>
          <a:p>
            <a:r>
              <a:rPr lang="en-US" altLang="ko-KR" sz="1600" dirty="0">
                <a:solidFill>
                  <a:srgbClr val="333333"/>
                </a:solidFill>
              </a:rPr>
              <a:t>     a.</a:t>
            </a:r>
            <a:r>
              <a:rPr lang="ko-KR" altLang="en-US" sz="1600" dirty="0">
                <a:solidFill>
                  <a:srgbClr val="333333"/>
                </a:solidFill>
              </a:rPr>
              <a:t> </a:t>
            </a:r>
            <a:r>
              <a:rPr lang="en-US" altLang="ko-KR" sz="1600" dirty="0">
                <a:solidFill>
                  <a:srgbClr val="333333"/>
                </a:solidFill>
              </a:rPr>
              <a:t>AI </a:t>
            </a:r>
            <a:r>
              <a:rPr lang="ko-KR" altLang="en-US" sz="1600" dirty="0">
                <a:solidFill>
                  <a:srgbClr val="333333"/>
                </a:solidFill>
              </a:rPr>
              <a:t>기반의 자동화 기술을 활용하여 평균적으로 </a:t>
            </a:r>
            <a:r>
              <a:rPr lang="en-US" altLang="ko-KR" sz="1600" dirty="0">
                <a:solidFill>
                  <a:srgbClr val="333333"/>
                </a:solidFill>
              </a:rPr>
              <a:t>9.6</a:t>
            </a:r>
            <a:r>
              <a:rPr lang="ko-KR" altLang="en-US" sz="1600" dirty="0">
                <a:solidFill>
                  <a:srgbClr val="333333"/>
                </a:solidFill>
              </a:rPr>
              <a:t>시간 이상 소요되는 </a:t>
            </a:r>
            <a:br>
              <a:rPr lang="ko-KR" altLang="en-US" sz="1600" dirty="0">
                <a:solidFill>
                  <a:srgbClr val="333333"/>
                </a:solidFill>
              </a:rPr>
            </a:br>
            <a:r>
              <a:rPr lang="ko-KR" altLang="en-US" sz="1600" dirty="0">
                <a:solidFill>
                  <a:srgbClr val="333333"/>
                </a:solidFill>
              </a:rPr>
              <a:t>        여행 계획 시간을 단축시키며 사용자의 부담을 줄이는 것을 목표로 함</a:t>
            </a:r>
            <a:endParaRPr lang="en-US" altLang="ko-KR" sz="1600" dirty="0">
              <a:solidFill>
                <a:srgbClr val="333333"/>
              </a:solidFill>
            </a:endParaRPr>
          </a:p>
          <a:p>
            <a:endParaRPr lang="ko-KR" altLang="en-US" sz="1600" dirty="0">
              <a:solidFill>
                <a:srgbClr val="333333"/>
              </a:solidFill>
            </a:endParaRPr>
          </a:p>
          <a:p>
            <a:r>
              <a:rPr lang="en-US" altLang="ko-KR" sz="1600" dirty="0">
                <a:solidFill>
                  <a:srgbClr val="333333"/>
                </a:solidFill>
              </a:rPr>
              <a:t>2. </a:t>
            </a:r>
            <a:r>
              <a:rPr lang="ko-KR" altLang="en-US" sz="1600" dirty="0">
                <a:solidFill>
                  <a:srgbClr val="333333"/>
                </a:solidFill>
              </a:rPr>
              <a:t>개인화된 일정 제공</a:t>
            </a:r>
            <a:br>
              <a:rPr lang="ko-KR" altLang="en-US" sz="1600" dirty="0">
                <a:solidFill>
                  <a:srgbClr val="333333"/>
                </a:solidFill>
              </a:rPr>
            </a:br>
            <a:r>
              <a:rPr lang="ko-KR" altLang="en-US" sz="1600" dirty="0">
                <a:solidFill>
                  <a:srgbClr val="333333"/>
                </a:solidFill>
              </a:rPr>
              <a:t>   사용자가 선호하는 여행 스타일을 선택하거나 혹은 </a:t>
            </a:r>
            <a:r>
              <a:rPr lang="en-US" altLang="ko-KR" sz="1600" dirty="0">
                <a:solidFill>
                  <a:srgbClr val="333333"/>
                </a:solidFill>
              </a:rPr>
              <a:t>AI</a:t>
            </a:r>
            <a:r>
              <a:rPr lang="ko-KR" altLang="en-US" sz="1600" dirty="0">
                <a:solidFill>
                  <a:srgbClr val="333333"/>
                </a:solidFill>
              </a:rPr>
              <a:t>와의 채팅을 통해</a:t>
            </a:r>
            <a:br>
              <a:rPr lang="ko-KR" altLang="en-US" sz="1600" dirty="0">
                <a:solidFill>
                  <a:srgbClr val="333333"/>
                </a:solidFill>
              </a:rPr>
            </a:br>
            <a:r>
              <a:rPr lang="ko-KR" altLang="en-US" sz="1600" dirty="0">
                <a:solidFill>
                  <a:srgbClr val="333333"/>
                </a:solidFill>
              </a:rPr>
              <a:t>   개인 맞춤형 일정을 제공함으로써 </a:t>
            </a:r>
            <a:r>
              <a:rPr lang="en-US" altLang="ko-KR" sz="1600" dirty="0">
                <a:solidFill>
                  <a:srgbClr val="333333"/>
                </a:solidFill>
              </a:rPr>
              <a:t>"</a:t>
            </a:r>
            <a:r>
              <a:rPr lang="ko-KR" altLang="en-US" sz="1600" dirty="0">
                <a:solidFill>
                  <a:srgbClr val="333333"/>
                </a:solidFill>
              </a:rPr>
              <a:t>나만의 특별한 일정</a:t>
            </a:r>
            <a:r>
              <a:rPr lang="en-US" altLang="ko-KR" sz="1600" dirty="0">
                <a:solidFill>
                  <a:srgbClr val="333333"/>
                </a:solidFill>
              </a:rPr>
              <a:t>"</a:t>
            </a:r>
            <a:r>
              <a:rPr lang="ko-KR" altLang="en-US" sz="1600" dirty="0">
                <a:solidFill>
                  <a:srgbClr val="333333"/>
                </a:solidFill>
              </a:rPr>
              <a:t>을</a:t>
            </a:r>
            <a:br>
              <a:rPr lang="ko-KR" altLang="en-US" sz="1600" dirty="0">
                <a:solidFill>
                  <a:srgbClr val="333333"/>
                </a:solidFill>
              </a:rPr>
            </a:br>
            <a:r>
              <a:rPr lang="ko-KR" altLang="en-US" sz="1600" dirty="0">
                <a:solidFill>
                  <a:srgbClr val="333333"/>
                </a:solidFill>
              </a:rPr>
              <a:t>   구성할 수 있도록 도움</a:t>
            </a:r>
            <a:endParaRPr lang="en-US" altLang="ko-KR" sz="1600" dirty="0">
              <a:solidFill>
                <a:srgbClr val="333333"/>
              </a:solidFill>
            </a:endParaRPr>
          </a:p>
          <a:p>
            <a:endParaRPr lang="ko-KR" altLang="en-US" sz="1600" dirty="0">
              <a:solidFill>
                <a:srgbClr val="333333"/>
              </a:solidFill>
            </a:endParaRPr>
          </a:p>
          <a:p>
            <a:r>
              <a:rPr lang="en-US" altLang="ko-KR" sz="1600" dirty="0">
                <a:solidFill>
                  <a:srgbClr val="333333"/>
                </a:solidFill>
              </a:rPr>
              <a:t>3. </a:t>
            </a:r>
            <a:r>
              <a:rPr lang="ko-KR" altLang="en-US" sz="1600" dirty="0">
                <a:solidFill>
                  <a:srgbClr val="333333"/>
                </a:solidFill>
              </a:rPr>
              <a:t>정보검색</a:t>
            </a:r>
          </a:p>
          <a:p>
            <a:r>
              <a:rPr lang="en-US" altLang="ko-KR" sz="1600" dirty="0">
                <a:solidFill>
                  <a:srgbClr val="333333"/>
                </a:solidFill>
              </a:rPr>
              <a:t>    a. </a:t>
            </a:r>
            <a:r>
              <a:rPr lang="ko-KR" altLang="en-US" sz="1600" dirty="0">
                <a:solidFill>
                  <a:srgbClr val="333333"/>
                </a:solidFill>
              </a:rPr>
              <a:t>기존 인터넷 검색과 여행 일정 작성을 결합하여</a:t>
            </a:r>
            <a:r>
              <a:rPr lang="en-US" altLang="ko-KR" sz="1600" dirty="0">
                <a:solidFill>
                  <a:srgbClr val="333333"/>
                </a:solidFill>
              </a:rPr>
              <a:t>, AI </a:t>
            </a:r>
            <a:r>
              <a:rPr lang="ko-KR" altLang="en-US" sz="1600" dirty="0">
                <a:solidFill>
                  <a:srgbClr val="333333"/>
                </a:solidFill>
              </a:rPr>
              <a:t>채팅을 통해 사용자가 </a:t>
            </a:r>
            <a:br>
              <a:rPr lang="ko-KR" altLang="en-US" sz="1600" dirty="0">
                <a:solidFill>
                  <a:srgbClr val="333333"/>
                </a:solidFill>
              </a:rPr>
            </a:br>
            <a:r>
              <a:rPr lang="ko-KR" altLang="en-US" sz="1600" dirty="0">
                <a:solidFill>
                  <a:srgbClr val="333333"/>
                </a:solidFill>
              </a:rPr>
              <a:t>      필요한 정보를 얻을 수 있도록 지원함</a:t>
            </a:r>
          </a:p>
          <a:p>
            <a:r>
              <a:rPr lang="en-US" altLang="ko-KR" sz="1600" dirty="0">
                <a:solidFill>
                  <a:srgbClr val="333333"/>
                </a:solidFill>
              </a:rPr>
              <a:t>    b. </a:t>
            </a:r>
            <a:r>
              <a:rPr lang="ko-KR" altLang="en-US" sz="1600" dirty="0">
                <a:solidFill>
                  <a:srgbClr val="333333"/>
                </a:solidFill>
              </a:rPr>
              <a:t>이를 통해 사용자는 여행 준비 과정에서 인터넷 검색에 소비되는 시간을 </a:t>
            </a:r>
            <a:br>
              <a:rPr lang="ko-KR" altLang="en-US" sz="1600" dirty="0">
                <a:solidFill>
                  <a:srgbClr val="333333"/>
                </a:solidFill>
              </a:rPr>
            </a:br>
            <a:r>
              <a:rPr lang="ko-KR" altLang="en-US" sz="1600" dirty="0">
                <a:solidFill>
                  <a:srgbClr val="333333"/>
                </a:solidFill>
              </a:rPr>
              <a:t>       절약하고</a:t>
            </a:r>
            <a:r>
              <a:rPr lang="en-US" altLang="ko-KR" sz="1600" dirty="0">
                <a:solidFill>
                  <a:srgbClr val="333333"/>
                </a:solidFill>
              </a:rPr>
              <a:t>, </a:t>
            </a:r>
            <a:r>
              <a:rPr lang="ko-KR" altLang="en-US" sz="1600" dirty="0" err="1">
                <a:solidFill>
                  <a:srgbClr val="333333"/>
                </a:solidFill>
              </a:rPr>
              <a:t>최신화된</a:t>
            </a:r>
            <a:r>
              <a:rPr lang="ko-KR" altLang="en-US" sz="1600" dirty="0">
                <a:solidFill>
                  <a:srgbClr val="333333"/>
                </a:solidFill>
              </a:rPr>
              <a:t> 정보를 바탕으로 효율적인 일정 작성이 가능함</a:t>
            </a:r>
          </a:p>
          <a:p>
            <a:pPr algn="ctr"/>
            <a:endParaRPr lang="ko-KR" altLang="en-US" sz="1600" dirty="0">
              <a:solidFill>
                <a:srgbClr val="333333"/>
              </a:solidFill>
            </a:endParaRPr>
          </a:p>
          <a:p>
            <a:pPr algn="ctr"/>
            <a:endParaRPr lang="ko-KR" altLang="en-US" dirty="0">
              <a:solidFill>
                <a:srgbClr val="333333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6463-D1C1-4B59-8382-6AFDD2B4B94E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0AA9EDC-E4B2-4D9C-3382-BB9745020667}"/>
              </a:ext>
            </a:extLst>
          </p:cNvPr>
          <p:cNvSpPr/>
          <p:nvPr/>
        </p:nvSpPr>
        <p:spPr>
          <a:xfrm>
            <a:off x="478420" y="1155392"/>
            <a:ext cx="3816854" cy="4874872"/>
          </a:xfrm>
          <a:prstGeom prst="rect">
            <a:avLst/>
          </a:prstGeom>
          <a:solidFill>
            <a:schemeClr val="bg1"/>
          </a:solidFill>
          <a:ln>
            <a:solidFill>
              <a:srgbClr val="A99A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rgbClr val="333333"/>
              </a:solidFill>
            </a:endParaRPr>
          </a:p>
          <a:p>
            <a:pPr algn="ctr"/>
            <a:endParaRPr lang="en-US" altLang="ko-KR" dirty="0">
              <a:solidFill>
                <a:srgbClr val="333333"/>
              </a:solidFill>
            </a:endParaRPr>
          </a:p>
          <a:p>
            <a:pPr algn="ctr"/>
            <a:endParaRPr lang="en-US" altLang="ko-KR" dirty="0">
              <a:solidFill>
                <a:srgbClr val="333333"/>
              </a:solidFill>
            </a:endParaRPr>
          </a:p>
          <a:p>
            <a:pPr algn="ctr"/>
            <a:endParaRPr lang="en-US" altLang="ko-KR" dirty="0">
              <a:solidFill>
                <a:srgbClr val="333333"/>
              </a:solidFill>
            </a:endParaRPr>
          </a:p>
          <a:p>
            <a:pPr algn="ctr"/>
            <a:endParaRPr lang="en-US" altLang="ko-KR" dirty="0">
              <a:solidFill>
                <a:srgbClr val="333333"/>
              </a:solidFill>
            </a:endParaRPr>
          </a:p>
          <a:p>
            <a:pPr algn="ctr"/>
            <a:endParaRPr lang="en-US" altLang="ko-KR" dirty="0">
              <a:solidFill>
                <a:srgbClr val="333333"/>
              </a:solidFill>
            </a:endParaRPr>
          </a:p>
          <a:p>
            <a:pPr algn="ctr"/>
            <a:endParaRPr lang="en-US" altLang="ko-KR" sz="1600" dirty="0">
              <a:solidFill>
                <a:srgbClr val="333333"/>
              </a:solidFill>
            </a:endParaRPr>
          </a:p>
          <a:p>
            <a:pPr algn="ctr"/>
            <a:endParaRPr lang="en-US" altLang="ko-KR" sz="1600" dirty="0">
              <a:solidFill>
                <a:srgbClr val="333333"/>
              </a:solidFill>
            </a:endParaRPr>
          </a:p>
          <a:p>
            <a:pPr algn="ctr"/>
            <a:endParaRPr lang="ko-KR" altLang="en-US" dirty="0">
              <a:solidFill>
                <a:srgbClr val="333333"/>
              </a:solidFill>
            </a:endParaRPr>
          </a:p>
        </p:txBody>
      </p:sp>
      <p:sp>
        <p:nvSpPr>
          <p:cNvPr id="62" name="TextBox 56">
            <a:extLst>
              <a:ext uri="{FF2B5EF4-FFF2-40B4-BE49-F238E27FC236}">
                <a16:creationId xmlns:a16="http://schemas.microsoft.com/office/drawing/2014/main" id="{342C4CE9-F7AF-37C1-21D5-900D62D104CE}"/>
              </a:ext>
            </a:extLst>
          </p:cNvPr>
          <p:cNvSpPr txBox="1"/>
          <p:nvPr/>
        </p:nvSpPr>
        <p:spPr>
          <a:xfrm>
            <a:off x="478420" y="1438318"/>
            <a:ext cx="3665317" cy="51774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000" b="1" i="0" u="none" strike="noStrike" dirty="0">
                <a:solidFill>
                  <a:srgbClr val="404040"/>
                </a:solidFill>
                <a:ea typeface="Pretendard Medium"/>
              </a:rPr>
              <a:t>자동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 Medium"/>
              </a:rPr>
              <a:t> </a:t>
            </a:r>
            <a:r>
              <a:rPr lang="ko-KR" sz="2000" b="1" i="0" u="none" strike="noStrike" dirty="0">
                <a:solidFill>
                  <a:srgbClr val="404040"/>
                </a:solidFill>
                <a:ea typeface="Pretendard Medium"/>
              </a:rPr>
              <a:t>일정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 Medium"/>
              </a:rPr>
              <a:t> </a:t>
            </a:r>
            <a:r>
              <a:rPr lang="ko-KR" sz="2000" b="1" i="0" u="none" strike="noStrike" dirty="0">
                <a:solidFill>
                  <a:srgbClr val="404040"/>
                </a:solidFill>
                <a:ea typeface="Pretendard Medium"/>
              </a:rPr>
              <a:t>작성의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 Medium"/>
              </a:rPr>
              <a:t> </a:t>
            </a:r>
            <a:r>
              <a:rPr lang="ko-KR" sz="2000" b="1" i="0" u="none" strike="noStrike" dirty="0" err="1">
                <a:solidFill>
                  <a:srgbClr val="404040"/>
                </a:solidFill>
                <a:ea typeface="Pretendard Medium"/>
              </a:rPr>
              <a:t>간단로직</a:t>
            </a:r>
            <a:endParaRPr lang="ko-KR" sz="2000" b="1" i="0" u="none" strike="noStrike" dirty="0">
              <a:solidFill>
                <a:srgbClr val="404040"/>
              </a:solidFill>
              <a:ea typeface="Pretendard Medium"/>
            </a:endParaRPr>
          </a:p>
        </p:txBody>
      </p:sp>
      <p:sp>
        <p:nvSpPr>
          <p:cNvPr id="63" name="TextBox 40">
            <a:extLst>
              <a:ext uri="{FF2B5EF4-FFF2-40B4-BE49-F238E27FC236}">
                <a16:creationId xmlns:a16="http://schemas.microsoft.com/office/drawing/2014/main" id="{C2EC476A-3D61-278F-7675-DA8E9C637E12}"/>
              </a:ext>
            </a:extLst>
          </p:cNvPr>
          <p:cNvSpPr txBox="1"/>
          <p:nvPr/>
        </p:nvSpPr>
        <p:spPr>
          <a:xfrm>
            <a:off x="401251" y="2729171"/>
            <a:ext cx="1454697" cy="32894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1600" b="1" i="0" u="none" strike="noStrike" dirty="0">
                <a:solidFill>
                  <a:srgbClr val="FFFFFF"/>
                </a:solidFill>
                <a:ea typeface="Pretendard Bold"/>
              </a:rPr>
              <a:t>스타일선택</a:t>
            </a:r>
          </a:p>
        </p:txBody>
      </p:sp>
      <p:pic>
        <p:nvPicPr>
          <p:cNvPr id="89" name="그림 88">
            <a:extLst>
              <a:ext uri="{FF2B5EF4-FFF2-40B4-BE49-F238E27FC236}">
                <a16:creationId xmlns:a16="http://schemas.microsoft.com/office/drawing/2014/main" id="{0CA6F31C-4669-395C-0C11-A9F730826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53" y="1956062"/>
            <a:ext cx="3592276" cy="374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697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BC35702-8FA5-8AF8-96FB-6B7292A23759}"/>
              </a:ext>
            </a:extLst>
          </p:cNvPr>
          <p:cNvSpPr txBox="1"/>
          <p:nvPr/>
        </p:nvSpPr>
        <p:spPr>
          <a:xfrm>
            <a:off x="829265" y="226379"/>
            <a:ext cx="331372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03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아이디어 도출 과정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CF57EC-256F-BA22-E449-056844959655}"/>
              </a:ext>
            </a:extLst>
          </p:cNvPr>
          <p:cNvSpPr txBox="1"/>
          <p:nvPr/>
        </p:nvSpPr>
        <p:spPr>
          <a:xfrm>
            <a:off x="558355" y="791669"/>
            <a:ext cx="2818400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ko-KR" altLang="en-US" sz="2000" dirty="0">
                <a:solidFill>
                  <a:srgbClr val="333333"/>
                </a:solidFill>
              </a:rPr>
              <a:t>나</a:t>
            </a:r>
            <a:r>
              <a:rPr lang="en-US" altLang="ko-KR" sz="2000" dirty="0">
                <a:solidFill>
                  <a:srgbClr val="333333"/>
                </a:solidFill>
              </a:rPr>
              <a:t>. </a:t>
            </a:r>
            <a:r>
              <a:rPr lang="ko-KR" altLang="en-US" sz="2000" dirty="0">
                <a:solidFill>
                  <a:srgbClr val="333333"/>
                </a:solidFill>
              </a:rPr>
              <a:t>아이디어 도출 과정</a:t>
            </a:r>
            <a:endParaRPr lang="en-US" altLang="ko-KR" sz="2000" dirty="0">
              <a:solidFill>
                <a:srgbClr val="333333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1D81F6-6365-A68A-70AC-3C9FDD726BF1}"/>
              </a:ext>
            </a:extLst>
          </p:cNvPr>
          <p:cNvSpPr txBox="1"/>
          <p:nvPr/>
        </p:nvSpPr>
        <p:spPr>
          <a:xfrm>
            <a:off x="5202255" y="341132"/>
            <a:ext cx="5173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* </a:t>
            </a:r>
            <a:r>
              <a:rPr lang="ko-KR" altLang="en-US" sz="1400" dirty="0">
                <a:solidFill>
                  <a:srgbClr val="FF0000"/>
                </a:solidFill>
              </a:rPr>
              <a:t>해당 챕터는 양식에 따라 작성하되 학과별로 상이할 수 있음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6463-D1C1-4B59-8382-6AFDD2B4B94E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778103" y="688044"/>
            <a:ext cx="4008077" cy="5748054"/>
          </a:xfrm>
          <a:prstGeom prst="rect">
            <a:avLst/>
          </a:prstGeom>
          <a:noFill/>
          <a:ln w="19050">
            <a:solidFill>
              <a:srgbClr val="A99A6F"/>
            </a:solidFill>
          </a:ln>
        </p:spPr>
        <p:txBody>
          <a:bodyPr wrap="square" rtlCol="0">
            <a:noAutofit/>
          </a:bodyPr>
          <a:lstStyle/>
          <a:p>
            <a:endParaRPr lang="en-US" altLang="ko-KR" sz="2600" b="1" i="0" u="none" strike="noStrike" dirty="0">
              <a:solidFill>
                <a:srgbClr val="404040"/>
              </a:solidFill>
              <a:ea typeface="Pretendard Bold"/>
            </a:endParaRPr>
          </a:p>
          <a:p>
            <a:r>
              <a:rPr lang="ko-KR" altLang="ko-KR" sz="2000" b="1" i="0" u="none" strike="noStrike" dirty="0">
                <a:solidFill>
                  <a:srgbClr val="404040"/>
                </a:solidFill>
                <a:ea typeface="Pretendard Bold"/>
              </a:rPr>
              <a:t>기존</a:t>
            </a:r>
            <a:r>
              <a:rPr lang="en-US" altLang="ko-KR" sz="2000" b="1" i="0" u="none" strike="noStrike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ko-KR" sz="2000" b="1" i="0" u="none" strike="noStrike" dirty="0">
                <a:solidFill>
                  <a:srgbClr val="404040"/>
                </a:solidFill>
                <a:ea typeface="Pretendard Bold"/>
              </a:rPr>
              <a:t>여행</a:t>
            </a:r>
            <a:r>
              <a:rPr lang="en-US" altLang="ko-KR" sz="2000" b="1" i="0" u="none" strike="noStrike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ko-KR" sz="2000" b="1" i="0" u="none" strike="noStrike" dirty="0">
                <a:solidFill>
                  <a:srgbClr val="404040"/>
                </a:solidFill>
                <a:ea typeface="Pretendard Bold"/>
              </a:rPr>
              <a:t>어플리케이션의</a:t>
            </a:r>
            <a:r>
              <a:rPr lang="en-US" altLang="ko-KR" sz="2000" b="1" i="0" u="none" strike="noStrike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ko-KR" sz="2000" b="1" i="0" u="none" strike="noStrike" dirty="0">
                <a:solidFill>
                  <a:srgbClr val="404040"/>
                </a:solidFill>
                <a:ea typeface="Pretendard Bold"/>
              </a:rPr>
              <a:t>한계점</a:t>
            </a:r>
            <a:endParaRPr lang="en-US" altLang="ko-KR" sz="2000" b="1" i="0" u="none" strike="noStrike" dirty="0">
              <a:solidFill>
                <a:srgbClr val="404040"/>
              </a:solidFill>
              <a:ea typeface="Pretendard Bold"/>
            </a:endParaRPr>
          </a:p>
          <a:p>
            <a:endParaRPr lang="en-US" altLang="ko-KR" dirty="0">
              <a:solidFill>
                <a:srgbClr val="404040"/>
              </a:solidFill>
              <a:ea typeface="Pretendard Bold"/>
            </a:endParaRPr>
          </a:p>
          <a:p>
            <a:endParaRPr lang="ko-KR" altLang="ko-KR" sz="1800" b="0" i="0" u="none" strike="noStrike" dirty="0">
              <a:solidFill>
                <a:srgbClr val="404040"/>
              </a:solidFill>
              <a:ea typeface="Pretendard Bold"/>
            </a:endParaRPr>
          </a:p>
          <a:p>
            <a:pPr marL="342900" lvl="0" indent="-342900" algn="l">
              <a:lnSpc>
                <a:spcPct val="124499"/>
              </a:lnSpc>
              <a:buAutoNum type="arabicPeriod"/>
            </a:pPr>
            <a:r>
              <a:rPr lang="ko-KR" altLang="ko-KR" sz="1400" b="1" i="0" u="none" strike="noStrike" dirty="0">
                <a:solidFill>
                  <a:srgbClr val="404040"/>
                </a:solidFill>
                <a:ea typeface="Pretendard Light"/>
              </a:rPr>
              <a:t>채팅</a:t>
            </a:r>
            <a:r>
              <a:rPr lang="en-US" altLang="ko-KR" sz="1400" b="1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1" i="0" u="none" strike="noStrike" dirty="0">
                <a:solidFill>
                  <a:srgbClr val="404040"/>
                </a:solidFill>
                <a:ea typeface="Pretendard Light"/>
              </a:rPr>
              <a:t>기능의</a:t>
            </a:r>
            <a:r>
              <a:rPr lang="en-US" altLang="ko-KR" sz="1400" b="1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1" i="0" u="none" strike="noStrike" dirty="0">
                <a:solidFill>
                  <a:srgbClr val="404040"/>
                </a:solidFill>
                <a:ea typeface="Pretendard Light"/>
              </a:rPr>
              <a:t>한계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: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목적지만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입력해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단순히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일정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추천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.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세부적인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사용자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니즈를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반영하지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못함</a:t>
            </a:r>
          </a:p>
          <a:p>
            <a:pPr marL="342900" lvl="0" indent="-342900" algn="l">
              <a:lnSpc>
                <a:spcPct val="124499"/>
              </a:lnSpc>
              <a:buAutoNum type="arabicPeriod"/>
            </a:pPr>
            <a:r>
              <a:rPr lang="ko-KR" altLang="ko-KR" sz="1400" b="1" i="0" u="none" strike="noStrike" dirty="0">
                <a:solidFill>
                  <a:srgbClr val="404040"/>
                </a:solidFill>
                <a:ea typeface="Pretendard Light"/>
              </a:rPr>
              <a:t>제한된</a:t>
            </a:r>
            <a:r>
              <a:rPr lang="en-US" altLang="ko-KR" sz="1400" b="1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1" i="0" u="none" strike="noStrike" dirty="0">
                <a:solidFill>
                  <a:srgbClr val="404040"/>
                </a:solidFill>
                <a:ea typeface="Pretendard Light"/>
              </a:rPr>
              <a:t>개인화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: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제한적인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스타일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선택으로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다양한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여행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경험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제공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불가</a:t>
            </a:r>
          </a:p>
          <a:p>
            <a:pPr marL="342900" lvl="0" indent="-342900" algn="l">
              <a:lnSpc>
                <a:spcPct val="124499"/>
              </a:lnSpc>
              <a:buAutoNum type="arabicPeriod"/>
            </a:pPr>
            <a:r>
              <a:rPr lang="ko-KR" altLang="ko-KR" sz="1400" b="1" i="0" u="none" strike="noStrike" dirty="0">
                <a:solidFill>
                  <a:srgbClr val="404040"/>
                </a:solidFill>
                <a:ea typeface="Pretendard Light"/>
              </a:rPr>
              <a:t>검색</a:t>
            </a:r>
            <a:r>
              <a:rPr lang="en-US" altLang="ko-KR" sz="1400" b="1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1" i="0" u="none" strike="noStrike" dirty="0">
                <a:solidFill>
                  <a:srgbClr val="404040"/>
                </a:solidFill>
                <a:ea typeface="Pretendard Light"/>
              </a:rPr>
              <a:t>기능</a:t>
            </a:r>
            <a:r>
              <a:rPr lang="en-US" altLang="ko-KR" sz="1400" b="1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1" i="0" u="none" strike="noStrike" dirty="0">
                <a:solidFill>
                  <a:srgbClr val="404040"/>
                </a:solidFill>
                <a:ea typeface="Pretendard Light"/>
              </a:rPr>
              <a:t>부재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: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실시간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정보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검색이나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즉각적인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사용자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질문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처리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불가</a:t>
            </a:r>
          </a:p>
          <a:p>
            <a:pPr marL="342900" lvl="0" indent="-342900" algn="l">
              <a:lnSpc>
                <a:spcPct val="124499"/>
              </a:lnSpc>
              <a:buAutoNum type="arabicPeriod"/>
            </a:pPr>
            <a:r>
              <a:rPr lang="ko-KR" altLang="ko-KR" sz="1400" b="1" i="0" u="none" strike="noStrike" dirty="0">
                <a:solidFill>
                  <a:srgbClr val="404040"/>
                </a:solidFill>
                <a:ea typeface="Pretendard Light"/>
              </a:rPr>
              <a:t>기능</a:t>
            </a:r>
            <a:r>
              <a:rPr lang="en-US" altLang="ko-KR" sz="1400" b="1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1" i="0" u="none" strike="noStrike" dirty="0">
                <a:solidFill>
                  <a:srgbClr val="404040"/>
                </a:solidFill>
                <a:ea typeface="Pretendard Light"/>
              </a:rPr>
              <a:t>분리</a:t>
            </a:r>
            <a:r>
              <a:rPr lang="en-US" altLang="ko-KR" sz="1400" b="1" i="0" u="none" strike="noStrike" dirty="0">
                <a:solidFill>
                  <a:srgbClr val="404040"/>
                </a:solidFill>
                <a:latin typeface="Pretendard Light"/>
              </a:rPr>
              <a:t>: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채팅과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태그를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통한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자동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일정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작성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기능이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각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어플리케이션에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독립적으로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존재</a:t>
            </a:r>
          </a:p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DE06D61-09C0-1656-A971-49A51AA45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820" y="1245090"/>
            <a:ext cx="6989135" cy="4172797"/>
          </a:xfrm>
          <a:prstGeom prst="rect">
            <a:avLst/>
          </a:prstGeom>
        </p:spPr>
      </p:pic>
      <p:sp>
        <p:nvSpPr>
          <p:cNvPr id="17" name="TextBox 20">
            <a:extLst>
              <a:ext uri="{FF2B5EF4-FFF2-40B4-BE49-F238E27FC236}">
                <a16:creationId xmlns:a16="http://schemas.microsoft.com/office/drawing/2014/main" id="{DC4A1DC5-1210-D4F0-7EAE-0AB8A07F57C9}"/>
              </a:ext>
            </a:extLst>
          </p:cNvPr>
          <p:cNvSpPr txBox="1"/>
          <p:nvPr/>
        </p:nvSpPr>
        <p:spPr>
          <a:xfrm>
            <a:off x="405820" y="5471198"/>
            <a:ext cx="2247900" cy="72963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sz="900" b="1" i="0" u="none" strike="noStrike" dirty="0">
                <a:solidFill>
                  <a:srgbClr val="404040"/>
                </a:solidFill>
                <a:ea typeface="Pretendard Light"/>
              </a:rPr>
              <a:t>사진</a:t>
            </a:r>
            <a:r>
              <a:rPr lang="en-US" sz="900" b="1" i="0" u="none" strike="noStrike" dirty="0">
                <a:solidFill>
                  <a:srgbClr val="404040"/>
                </a:solidFill>
                <a:latin typeface="Pretendard Light"/>
              </a:rPr>
              <a:t> 1. TRIP.COM </a:t>
            </a:r>
            <a:r>
              <a:rPr lang="ko-KR" sz="900" b="1" i="0" u="none" strike="noStrike" dirty="0">
                <a:solidFill>
                  <a:srgbClr val="404040"/>
                </a:solidFill>
                <a:ea typeface="Pretendard Light"/>
              </a:rPr>
              <a:t>어플리케이션</a:t>
            </a:r>
          </a:p>
          <a:p>
            <a:pPr lvl="0" algn="l">
              <a:lnSpc>
                <a:spcPct val="107899"/>
              </a:lnSpc>
            </a:pPr>
            <a:r>
              <a:rPr lang="ko-KR" sz="800" b="0" i="0" u="none" strike="noStrike" dirty="0">
                <a:solidFill>
                  <a:srgbClr val="404040"/>
                </a:solidFill>
                <a:ea typeface="Pretendard Light"/>
              </a:rPr>
              <a:t>채팅</a:t>
            </a:r>
            <a:r>
              <a:rPr lang="en-US" sz="8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sz="800" b="0" i="0" u="none" strike="noStrike" dirty="0">
                <a:solidFill>
                  <a:srgbClr val="404040"/>
                </a:solidFill>
                <a:ea typeface="Pretendard Light"/>
              </a:rPr>
              <a:t>기반</a:t>
            </a:r>
            <a:r>
              <a:rPr lang="en-US" sz="8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sz="800" b="0" i="0" u="none" strike="noStrike" dirty="0">
                <a:solidFill>
                  <a:srgbClr val="404040"/>
                </a:solidFill>
                <a:ea typeface="Pretendard Light"/>
              </a:rPr>
              <a:t>일정</a:t>
            </a:r>
            <a:r>
              <a:rPr lang="en-US" sz="8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sz="800" b="0" i="0" u="none" strike="noStrike" dirty="0">
                <a:solidFill>
                  <a:srgbClr val="404040"/>
                </a:solidFill>
                <a:ea typeface="Pretendard Light"/>
              </a:rPr>
              <a:t>추천</a:t>
            </a:r>
            <a:r>
              <a:rPr lang="en-US" sz="800" b="0" i="0" u="none" strike="noStrike" dirty="0">
                <a:solidFill>
                  <a:srgbClr val="404040"/>
                </a:solidFill>
                <a:latin typeface="Pretendard Light"/>
              </a:rPr>
              <a:t>: </a:t>
            </a:r>
            <a:r>
              <a:rPr lang="ko-KR" sz="800" b="0" i="0" u="none" strike="noStrike" dirty="0">
                <a:solidFill>
                  <a:srgbClr val="404040"/>
                </a:solidFill>
                <a:ea typeface="Pretendard Light"/>
              </a:rPr>
              <a:t>사용자</a:t>
            </a:r>
            <a:r>
              <a:rPr lang="en-US" sz="8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sz="800" b="0" i="0" u="none" strike="noStrike" dirty="0">
                <a:solidFill>
                  <a:srgbClr val="404040"/>
                </a:solidFill>
                <a:ea typeface="Pretendard Light"/>
              </a:rPr>
              <a:t>요구를</a:t>
            </a:r>
            <a:r>
              <a:rPr lang="en-US" sz="800" b="0" i="0" u="none" strike="noStrike" dirty="0">
                <a:solidFill>
                  <a:srgbClr val="404040"/>
                </a:solidFill>
                <a:latin typeface="Pretendard Light"/>
              </a:rPr>
              <a:t> </a:t>
            </a:r>
            <a:r>
              <a:rPr lang="ko-KR" sz="800" b="0" i="0" u="none" strike="noStrike" dirty="0">
                <a:solidFill>
                  <a:srgbClr val="404040"/>
                </a:solidFill>
                <a:ea typeface="Pretendard Light"/>
              </a:rPr>
              <a:t>세부적으로</a:t>
            </a:r>
            <a:r>
              <a:rPr lang="en-US" sz="800" b="0" i="0" u="none" strike="noStrike" dirty="0">
                <a:solidFill>
                  <a:srgbClr val="404040"/>
                </a:solidFill>
                <a:latin typeface="Pretendard Light"/>
              </a:rPr>
              <a:t> </a:t>
            </a:r>
          </a:p>
          <a:p>
            <a:pPr lvl="0" algn="l">
              <a:lnSpc>
                <a:spcPct val="107899"/>
              </a:lnSpc>
            </a:pPr>
            <a:r>
              <a:rPr lang="ko-KR" sz="800" b="0" i="0" u="none" strike="noStrike" dirty="0">
                <a:solidFill>
                  <a:srgbClr val="404040"/>
                </a:solidFill>
                <a:ea typeface="Pretendard Light"/>
              </a:rPr>
              <a:t>반영하지</a:t>
            </a:r>
            <a:r>
              <a:rPr lang="en-US" sz="8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sz="800" b="0" i="0" u="none" strike="noStrike" dirty="0">
                <a:solidFill>
                  <a:srgbClr val="404040"/>
                </a:solidFill>
                <a:ea typeface="Pretendard Light"/>
              </a:rPr>
              <a:t>못하고</a:t>
            </a:r>
            <a:r>
              <a:rPr lang="en-US" sz="8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sz="800" b="0" i="0" u="none" strike="noStrike" dirty="0">
                <a:solidFill>
                  <a:srgbClr val="404040"/>
                </a:solidFill>
                <a:ea typeface="Pretendard Light"/>
              </a:rPr>
              <a:t>기본</a:t>
            </a:r>
            <a:r>
              <a:rPr lang="en-US" sz="8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sz="800" b="0" i="0" u="none" strike="noStrike" dirty="0">
                <a:solidFill>
                  <a:srgbClr val="404040"/>
                </a:solidFill>
                <a:ea typeface="Pretendard Light"/>
              </a:rPr>
              <a:t>일정만</a:t>
            </a:r>
            <a:r>
              <a:rPr lang="en-US" sz="800" b="0" i="0" u="none" strike="noStrike" dirty="0">
                <a:solidFill>
                  <a:srgbClr val="404040"/>
                </a:solidFill>
                <a:latin typeface="Pretendard Light"/>
              </a:rPr>
              <a:t> </a:t>
            </a:r>
            <a:r>
              <a:rPr lang="ko-KR" sz="800" b="0" i="0" u="none" strike="noStrike" dirty="0">
                <a:solidFill>
                  <a:srgbClr val="404040"/>
                </a:solidFill>
                <a:ea typeface="Pretendard Light"/>
              </a:rPr>
              <a:t>제공</a:t>
            </a:r>
          </a:p>
        </p:txBody>
      </p:sp>
      <p:sp>
        <p:nvSpPr>
          <p:cNvPr id="18" name="TextBox 20">
            <a:extLst>
              <a:ext uri="{FF2B5EF4-FFF2-40B4-BE49-F238E27FC236}">
                <a16:creationId xmlns:a16="http://schemas.microsoft.com/office/drawing/2014/main" id="{ECA0C17A-EB8D-07D4-667C-E684A17A10B4}"/>
              </a:ext>
            </a:extLst>
          </p:cNvPr>
          <p:cNvSpPr txBox="1"/>
          <p:nvPr/>
        </p:nvSpPr>
        <p:spPr>
          <a:xfrm>
            <a:off x="2695677" y="5471198"/>
            <a:ext cx="2247900" cy="72963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sz="900" b="1" i="0" u="none" strike="noStrike" dirty="0">
                <a:solidFill>
                  <a:srgbClr val="404040"/>
                </a:solidFill>
                <a:ea typeface="Pretendard Light"/>
              </a:rPr>
              <a:t>사진</a:t>
            </a:r>
            <a:r>
              <a:rPr lang="en-US" sz="900" b="1" i="0" u="none" strike="noStrike" dirty="0">
                <a:solidFill>
                  <a:srgbClr val="404040"/>
                </a:solidFill>
                <a:latin typeface="Pretendard Light"/>
              </a:rPr>
              <a:t> 2. </a:t>
            </a:r>
            <a:r>
              <a:rPr lang="ko-KR" altLang="en-US" sz="900" b="1" i="0" u="none" strike="noStrike" dirty="0" err="1">
                <a:solidFill>
                  <a:srgbClr val="404040"/>
                </a:solidFill>
                <a:latin typeface="Pretendard Light"/>
              </a:rPr>
              <a:t>트리플</a:t>
            </a:r>
            <a:r>
              <a:rPr lang="ko-KR" altLang="en-US" sz="900" b="1" i="0" u="none" strike="noStrike" dirty="0">
                <a:solidFill>
                  <a:srgbClr val="404040"/>
                </a:solidFill>
                <a:latin typeface="Pretendard Light"/>
              </a:rPr>
              <a:t> 어플리케이션</a:t>
            </a:r>
            <a:endParaRPr lang="ko-KR" sz="900" b="1" i="0" u="none" strike="noStrike" dirty="0">
              <a:solidFill>
                <a:srgbClr val="404040"/>
              </a:solidFill>
              <a:ea typeface="Pretendard Light"/>
            </a:endParaRPr>
          </a:p>
          <a:p>
            <a:pPr lvl="0" algn="l">
              <a:lnSpc>
                <a:spcPct val="107899"/>
              </a:lnSpc>
            </a:pPr>
            <a:r>
              <a:rPr lang="ko-KR" altLang="en-US" sz="800" b="0" i="0" u="none" strike="noStrike" dirty="0">
                <a:solidFill>
                  <a:srgbClr val="404040"/>
                </a:solidFill>
                <a:ea typeface="Pretendard Light"/>
              </a:rPr>
              <a:t>여행스타일 선택을 통한 일정 생성</a:t>
            </a:r>
            <a:r>
              <a:rPr lang="en-US" altLang="ko-KR" sz="800" b="0" i="0" u="none" strike="noStrike" dirty="0">
                <a:solidFill>
                  <a:srgbClr val="404040"/>
                </a:solidFill>
                <a:latin typeface="Pretendard Light"/>
              </a:rPr>
              <a:t>: </a:t>
            </a:r>
            <a:r>
              <a:rPr lang="ko-KR" altLang="ko-KR" sz="800" b="0" i="0" u="none" strike="noStrike" dirty="0">
                <a:solidFill>
                  <a:srgbClr val="404040"/>
                </a:solidFill>
                <a:ea typeface="Pretendard Light"/>
              </a:rPr>
              <a:t>제한된</a:t>
            </a:r>
            <a:r>
              <a:rPr lang="en-US" altLang="ko-KR" sz="8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800" b="0" i="0" u="none" strike="noStrike" dirty="0">
                <a:solidFill>
                  <a:srgbClr val="404040"/>
                </a:solidFill>
                <a:ea typeface="Pretendard Light"/>
              </a:rPr>
              <a:t>선택지로</a:t>
            </a:r>
            <a:r>
              <a:rPr lang="en-US" altLang="ko-KR" sz="800" b="0" i="0" u="none" strike="noStrike" dirty="0">
                <a:solidFill>
                  <a:srgbClr val="404040"/>
                </a:solidFill>
                <a:latin typeface="Pretendard Light"/>
              </a:rPr>
              <a:t> </a:t>
            </a:r>
            <a:r>
              <a:rPr lang="ko-KR" altLang="ko-KR" sz="800" b="0" i="0" u="none" strike="noStrike" dirty="0">
                <a:solidFill>
                  <a:srgbClr val="404040"/>
                </a:solidFill>
                <a:ea typeface="Pretendard Light"/>
              </a:rPr>
              <a:t>다양한</a:t>
            </a:r>
            <a:r>
              <a:rPr lang="en-US" altLang="ko-KR" sz="8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800" b="0" i="0" u="none" strike="noStrike" dirty="0">
                <a:solidFill>
                  <a:srgbClr val="404040"/>
                </a:solidFill>
                <a:ea typeface="Pretendard Light"/>
              </a:rPr>
              <a:t>개인화</a:t>
            </a:r>
            <a:r>
              <a:rPr lang="en-US" altLang="ko-KR" sz="8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800" b="0" i="0" u="none" strike="noStrike" dirty="0">
                <a:solidFill>
                  <a:srgbClr val="404040"/>
                </a:solidFill>
                <a:ea typeface="Pretendard Light"/>
              </a:rPr>
              <a:t>경험</a:t>
            </a:r>
            <a:r>
              <a:rPr lang="en-US" altLang="ko-KR" sz="8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800" b="0" i="0" u="none" strike="noStrike" dirty="0">
                <a:solidFill>
                  <a:srgbClr val="404040"/>
                </a:solidFill>
                <a:ea typeface="Pretendard Light"/>
              </a:rPr>
              <a:t>제공에</a:t>
            </a:r>
            <a:r>
              <a:rPr lang="en-US" altLang="ko-KR" sz="8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800" b="0" i="0" u="none" strike="noStrike" dirty="0">
                <a:solidFill>
                  <a:srgbClr val="404040"/>
                </a:solidFill>
                <a:ea typeface="Pretendard Light"/>
              </a:rPr>
              <a:t>한계</a:t>
            </a:r>
          </a:p>
          <a:p>
            <a:pPr lvl="0" algn="l">
              <a:lnSpc>
                <a:spcPct val="107899"/>
              </a:lnSpc>
            </a:pPr>
            <a:endParaRPr lang="ko-KR" sz="800" b="0" i="0" u="none" strike="noStrike" dirty="0">
              <a:solidFill>
                <a:srgbClr val="404040"/>
              </a:solidFill>
              <a:ea typeface="Pretendard Light"/>
            </a:endParaRPr>
          </a:p>
        </p:txBody>
      </p:sp>
      <p:sp>
        <p:nvSpPr>
          <p:cNvPr id="19" name="TextBox 20">
            <a:extLst>
              <a:ext uri="{FF2B5EF4-FFF2-40B4-BE49-F238E27FC236}">
                <a16:creationId xmlns:a16="http://schemas.microsoft.com/office/drawing/2014/main" id="{BB18BAE3-8FAD-761C-58C6-3825A96B50DE}"/>
              </a:ext>
            </a:extLst>
          </p:cNvPr>
          <p:cNvSpPr txBox="1"/>
          <p:nvPr/>
        </p:nvSpPr>
        <p:spPr>
          <a:xfrm>
            <a:off x="5147055" y="5477058"/>
            <a:ext cx="2247900" cy="72963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sz="900" b="1" i="0" u="none" strike="noStrike" dirty="0">
                <a:solidFill>
                  <a:srgbClr val="404040"/>
                </a:solidFill>
                <a:ea typeface="Pretendard Light"/>
              </a:rPr>
              <a:t>사진</a:t>
            </a:r>
            <a:r>
              <a:rPr lang="en-US" sz="900" b="1" i="0" u="none" strike="noStrike" dirty="0">
                <a:solidFill>
                  <a:srgbClr val="404040"/>
                </a:solidFill>
                <a:latin typeface="Pretendard Light"/>
              </a:rPr>
              <a:t> 3. TRIP.COM </a:t>
            </a:r>
            <a:r>
              <a:rPr lang="ko-KR" altLang="en-US" sz="900" b="1" i="0" u="none" strike="noStrike" dirty="0">
                <a:solidFill>
                  <a:srgbClr val="404040"/>
                </a:solidFill>
                <a:ea typeface="Pretendard Light"/>
              </a:rPr>
              <a:t>채팅 기능</a:t>
            </a:r>
            <a:endParaRPr lang="ko-KR" sz="900" b="1" i="0" u="none" strike="noStrike" dirty="0">
              <a:solidFill>
                <a:srgbClr val="404040"/>
              </a:solidFill>
              <a:ea typeface="Pretendard Light"/>
            </a:endParaRPr>
          </a:p>
          <a:p>
            <a:pPr lvl="0" algn="l">
              <a:lnSpc>
                <a:spcPct val="107899"/>
              </a:lnSpc>
            </a:pPr>
            <a:r>
              <a:rPr lang="ko-KR" altLang="ko-KR" sz="800" b="0" i="0" u="none" strike="noStrike" dirty="0">
                <a:solidFill>
                  <a:srgbClr val="404040"/>
                </a:solidFill>
                <a:ea typeface="Pretendard Light"/>
              </a:rPr>
              <a:t>실시간</a:t>
            </a:r>
            <a:r>
              <a:rPr lang="en-US" altLang="ko-KR" sz="8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800" b="0" i="0" u="none" strike="noStrike" dirty="0">
                <a:solidFill>
                  <a:srgbClr val="404040"/>
                </a:solidFill>
                <a:ea typeface="Pretendard Light"/>
              </a:rPr>
              <a:t>검색</a:t>
            </a:r>
            <a:r>
              <a:rPr lang="en-US" altLang="ko-KR" sz="8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800" b="0" i="0" u="none" strike="noStrike" dirty="0">
                <a:solidFill>
                  <a:srgbClr val="404040"/>
                </a:solidFill>
                <a:ea typeface="Pretendard Light"/>
              </a:rPr>
              <a:t>기능</a:t>
            </a:r>
            <a:r>
              <a:rPr lang="en-US" altLang="ko-KR" sz="8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800" b="0" i="0" u="none" strike="noStrike" dirty="0">
                <a:solidFill>
                  <a:srgbClr val="404040"/>
                </a:solidFill>
                <a:ea typeface="Pretendard Light"/>
              </a:rPr>
              <a:t>미지원</a:t>
            </a:r>
            <a:r>
              <a:rPr lang="en-US" altLang="ko-KR" sz="800" b="0" i="0" u="none" strike="noStrike" dirty="0">
                <a:solidFill>
                  <a:srgbClr val="404040"/>
                </a:solidFill>
                <a:latin typeface="Pretendard Light"/>
              </a:rPr>
              <a:t>: </a:t>
            </a:r>
            <a:r>
              <a:rPr lang="ko-KR" altLang="ko-KR" sz="800" b="0" i="0" u="none" strike="noStrike" dirty="0">
                <a:solidFill>
                  <a:srgbClr val="404040"/>
                </a:solidFill>
                <a:ea typeface="Pretendard Light"/>
              </a:rPr>
              <a:t>사용자</a:t>
            </a:r>
            <a:r>
              <a:rPr lang="en-US" altLang="ko-KR" sz="8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800" b="0" i="0" u="none" strike="noStrike" dirty="0">
                <a:solidFill>
                  <a:srgbClr val="404040"/>
                </a:solidFill>
                <a:ea typeface="Pretendard Light"/>
              </a:rPr>
              <a:t>질문에</a:t>
            </a:r>
            <a:r>
              <a:rPr lang="en-US" altLang="ko-KR" sz="8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800" b="0" i="0" u="none" strike="noStrike" dirty="0">
                <a:solidFill>
                  <a:srgbClr val="404040"/>
                </a:solidFill>
                <a:ea typeface="Pretendard Light"/>
              </a:rPr>
              <a:t>즉각적인</a:t>
            </a:r>
            <a:r>
              <a:rPr lang="en-US" altLang="ko-KR" sz="800" b="0" i="0" u="none" strike="noStrike" dirty="0">
                <a:solidFill>
                  <a:srgbClr val="404040"/>
                </a:solidFill>
                <a:latin typeface="Pretendard Light"/>
              </a:rPr>
              <a:t> </a:t>
            </a:r>
            <a:r>
              <a:rPr lang="ko-KR" altLang="ko-KR" sz="800" b="0" i="0" u="none" strike="noStrike" dirty="0">
                <a:solidFill>
                  <a:srgbClr val="404040"/>
                </a:solidFill>
                <a:ea typeface="Pretendard Light"/>
              </a:rPr>
              <a:t>검색</a:t>
            </a:r>
            <a:r>
              <a:rPr lang="en-US" altLang="ko-KR" sz="8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800" b="0" i="0" u="none" strike="noStrike" dirty="0">
                <a:solidFill>
                  <a:srgbClr val="404040"/>
                </a:solidFill>
                <a:ea typeface="Pretendard Light"/>
              </a:rPr>
              <a:t>결과</a:t>
            </a:r>
            <a:r>
              <a:rPr lang="en-US" altLang="ko-KR" sz="8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800" b="0" i="0" u="none" strike="noStrike" dirty="0">
                <a:solidFill>
                  <a:srgbClr val="404040"/>
                </a:solidFill>
                <a:ea typeface="Pretendard Light"/>
              </a:rPr>
              <a:t>제공</a:t>
            </a:r>
            <a:r>
              <a:rPr lang="en-US" altLang="ko-KR" sz="8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800" b="0" i="0" u="none" strike="noStrike" dirty="0">
                <a:solidFill>
                  <a:srgbClr val="404040"/>
                </a:solidFill>
                <a:ea typeface="Pretendard Light"/>
              </a:rPr>
              <a:t>불가</a:t>
            </a:r>
          </a:p>
        </p:txBody>
      </p:sp>
    </p:spTree>
    <p:extLst>
      <p:ext uri="{BB962C8B-B14F-4D97-AF65-F5344CB8AC3E}">
        <p14:creationId xmlns:p14="http://schemas.microsoft.com/office/powerpoint/2010/main" val="2738966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B31E1-7B58-82BF-E12A-9C140964B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27A3AAA-1854-3D13-880D-BE470E7FB5B8}"/>
              </a:ext>
            </a:extLst>
          </p:cNvPr>
          <p:cNvSpPr txBox="1"/>
          <p:nvPr/>
        </p:nvSpPr>
        <p:spPr>
          <a:xfrm>
            <a:off x="829265" y="226379"/>
            <a:ext cx="331372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03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아이디어 도출 과정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35361E-4AC1-CD93-71F9-BF35FEE40DB6}"/>
              </a:ext>
            </a:extLst>
          </p:cNvPr>
          <p:cNvSpPr txBox="1"/>
          <p:nvPr/>
        </p:nvSpPr>
        <p:spPr>
          <a:xfrm>
            <a:off x="5202255" y="341132"/>
            <a:ext cx="5173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* </a:t>
            </a:r>
            <a:r>
              <a:rPr lang="ko-KR" altLang="en-US" sz="1400" dirty="0">
                <a:solidFill>
                  <a:srgbClr val="FF0000"/>
                </a:solidFill>
              </a:rPr>
              <a:t>해당 챕터는 양식에 따라 작성하되 학과별로 상이할 수 있음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DB70BE-9526-EFE7-50F4-EEBF78031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6463-D1C1-4B59-8382-6AFDD2B4B94E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A1E0EE-3E82-8AEC-3A24-3C99E5335E1B}"/>
              </a:ext>
            </a:extLst>
          </p:cNvPr>
          <p:cNvSpPr txBox="1">
            <a:spLocks/>
          </p:cNvSpPr>
          <p:nvPr/>
        </p:nvSpPr>
        <p:spPr>
          <a:xfrm>
            <a:off x="6726265" y="688044"/>
            <a:ext cx="5059916" cy="57480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noAutofit/>
          </a:bodyPr>
          <a:lstStyle/>
          <a:p>
            <a:endParaRPr lang="en-US" altLang="ko-KR" sz="2600" b="1" i="0" u="none" strike="noStrike" dirty="0">
              <a:solidFill>
                <a:srgbClr val="404040"/>
              </a:solidFill>
              <a:ea typeface="Pretendard Bold"/>
            </a:endParaRPr>
          </a:p>
          <a:p>
            <a:r>
              <a:rPr lang="en-US" altLang="ko-KR" sz="2400" b="1" dirty="0">
                <a:solidFill>
                  <a:srgbClr val="404040"/>
                </a:solidFill>
                <a:ea typeface="Pretendard Bold"/>
              </a:rPr>
              <a:t>Rubato</a:t>
            </a:r>
            <a:r>
              <a:rPr lang="ko-KR" altLang="en-US" sz="2400" b="1" dirty="0">
                <a:solidFill>
                  <a:srgbClr val="404040"/>
                </a:solidFill>
                <a:ea typeface="Pretendard Bold"/>
              </a:rPr>
              <a:t>의 </a:t>
            </a:r>
            <a:r>
              <a:rPr lang="ko-KR" altLang="en-US" sz="2400" b="1" dirty="0" err="1">
                <a:solidFill>
                  <a:srgbClr val="404040"/>
                </a:solidFill>
                <a:ea typeface="Pretendard Bold"/>
              </a:rPr>
              <a:t>차별점</a:t>
            </a:r>
            <a:r>
              <a:rPr lang="ko-KR" altLang="en-US" sz="2400" b="1" dirty="0">
                <a:solidFill>
                  <a:srgbClr val="404040"/>
                </a:solidFill>
                <a:ea typeface="Pretendard Bold"/>
              </a:rPr>
              <a:t> 및 목표</a:t>
            </a:r>
            <a:endParaRPr lang="en-US" altLang="ko-KR" sz="2400" b="1" dirty="0">
              <a:solidFill>
                <a:srgbClr val="404040"/>
              </a:solidFill>
              <a:ea typeface="Pretendard Bold"/>
            </a:endParaRPr>
          </a:p>
          <a:p>
            <a:endParaRPr lang="en-US" altLang="ko-KR" sz="1800" b="0" i="0" u="none" strike="noStrike" dirty="0">
              <a:solidFill>
                <a:srgbClr val="404040"/>
              </a:solidFill>
              <a:ea typeface="Pretendard Bold"/>
            </a:endParaRPr>
          </a:p>
          <a:p>
            <a:r>
              <a:rPr lang="en-US" altLang="ko-KR" sz="1400" b="1" i="0" u="none" strike="noStrike" dirty="0">
                <a:solidFill>
                  <a:srgbClr val="404040"/>
                </a:solidFill>
                <a:latin typeface="Pretendard Light"/>
              </a:rPr>
              <a:t>1. RUBATO</a:t>
            </a:r>
            <a:r>
              <a:rPr lang="ko-KR" altLang="ko-KR" sz="1400" b="1" i="0" u="none" strike="noStrike" dirty="0">
                <a:solidFill>
                  <a:srgbClr val="404040"/>
                </a:solidFill>
                <a:ea typeface="Pretendard Light"/>
              </a:rPr>
              <a:t>의</a:t>
            </a:r>
            <a:r>
              <a:rPr lang="en-US" altLang="ko-KR" sz="1400" b="1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1" i="0" u="none" strike="noStrike" dirty="0">
                <a:solidFill>
                  <a:srgbClr val="404040"/>
                </a:solidFill>
                <a:ea typeface="Pretendard Light"/>
              </a:rPr>
              <a:t>목표</a:t>
            </a:r>
            <a:r>
              <a:rPr lang="en-US" altLang="ko-KR" sz="1400" b="1" i="0" u="none" strike="noStrike" dirty="0">
                <a:solidFill>
                  <a:srgbClr val="404040"/>
                </a:solidFill>
                <a:latin typeface="Pretendard Light"/>
              </a:rPr>
              <a:t>: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기존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여행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어플리케이션의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한계를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보완하고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아래의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기능과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경험을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통합하여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개인화된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여행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솔루션을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제공하고자</a:t>
            </a:r>
            <a:r>
              <a:rPr lang="en-US" altLang="ko-KR" sz="1400" b="0" i="0" u="none" strike="noStrike" dirty="0">
                <a:solidFill>
                  <a:srgbClr val="404040"/>
                </a:solidFill>
                <a:latin typeface="Pretendard Light"/>
              </a:rPr>
              <a:t> </a:t>
            </a:r>
            <a:r>
              <a:rPr lang="ko-KR" altLang="ko-KR" sz="1400" b="0" i="0" u="none" strike="noStrike" dirty="0">
                <a:solidFill>
                  <a:srgbClr val="404040"/>
                </a:solidFill>
                <a:ea typeface="Pretendard Light"/>
              </a:rPr>
              <a:t>함</a:t>
            </a:r>
          </a:p>
          <a:p>
            <a:endParaRPr lang="ko-KR" altLang="ko-KR" sz="1400" b="0" i="0" u="none" strike="noStrike" dirty="0">
              <a:solidFill>
                <a:srgbClr val="404040"/>
              </a:solidFill>
              <a:ea typeface="Pretendard Bold"/>
            </a:endParaRPr>
          </a:p>
          <a:p>
            <a:pPr marL="0" marR="0" lvl="0" indent="0" algn="l" defTabSz="914400" rtl="0" eaLnBrk="1" fontAlgn="auto" latinLnBrk="0" hangingPunct="1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2. RUBATO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의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 </a:t>
            </a:r>
            <a:r>
              <a:rPr kumimoji="0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차별점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/>
              <a:ea typeface="Pretendard Light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Tx/>
              <a:buFont typeface="Arial"/>
              <a:buChar char="●"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개인화된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일정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생성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:</a:t>
            </a:r>
          </a:p>
          <a:p>
            <a:pPr marL="622300" marR="0" lvl="1" indent="-342900" algn="l" defTabSz="914400" rtl="0" eaLnBrk="1" fontAlgn="auto" latinLnBrk="0" hangingPunct="1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Tx/>
              <a:buFont typeface="Arial"/>
              <a:buChar char="○"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GPT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기반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대화를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통해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사용자의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니즈에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맞춤화된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일정을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 </a:t>
            </a:r>
            <a:b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</a:b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자동으로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생성</a:t>
            </a:r>
          </a:p>
          <a:p>
            <a:pPr marL="342900" marR="0" lvl="0" indent="-342900" algn="l" defTabSz="914400" rtl="0" eaLnBrk="1" fontAlgn="auto" latinLnBrk="0" hangingPunct="1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Tx/>
              <a:buFont typeface="Arial"/>
              <a:buChar char="●"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실시간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검색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기능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통합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:</a:t>
            </a:r>
          </a:p>
          <a:p>
            <a:pPr marL="622300" marR="0" lvl="1" indent="-342900" algn="l" defTabSz="914400" rtl="0" eaLnBrk="1" fontAlgn="auto" latinLnBrk="0" hangingPunct="1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Tx/>
              <a:buFont typeface="Arial"/>
              <a:buChar char="○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채팅을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통해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인터넷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검색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기능을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제공하여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최신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정보를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 </a:t>
            </a:r>
            <a:b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</a:b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즉각적으로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반영</a:t>
            </a:r>
          </a:p>
          <a:p>
            <a:pPr marL="342900" marR="0" lvl="0" indent="-342900" algn="l" defTabSz="914400" rtl="0" eaLnBrk="1" fontAlgn="auto" latinLnBrk="0" hangingPunct="1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Tx/>
              <a:buFont typeface="Arial"/>
              <a:buChar char="●"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다양한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인공지능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기능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통합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:</a:t>
            </a:r>
          </a:p>
          <a:p>
            <a:pPr marL="622300" marR="0" lvl="1" indent="-342900" algn="l" defTabSz="914400" rtl="0" eaLnBrk="1" fontAlgn="auto" latinLnBrk="0" hangingPunct="1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Tx/>
              <a:buFont typeface="Arial"/>
              <a:buChar char="○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채팅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혹은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태그를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통한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일정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생성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검색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기능등을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하나의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플랫폼에서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Light"/>
                <a:ea typeface="+mn-ea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Pretendard Light"/>
                <a:cs typeface="+mn-cs"/>
              </a:rPr>
              <a:t>제공</a:t>
            </a:r>
          </a:p>
          <a:p>
            <a:pPr lvl="0" algn="l">
              <a:lnSpc>
                <a:spcPct val="124499"/>
              </a:lnSpc>
            </a:pPr>
            <a:endParaRPr lang="ko-KR" altLang="ko-KR" sz="1400" b="0" i="0" u="none" strike="noStrike" dirty="0">
              <a:solidFill>
                <a:srgbClr val="404040"/>
              </a:solidFill>
              <a:ea typeface="Pretendard Light"/>
            </a:endParaRPr>
          </a:p>
          <a:p>
            <a:endParaRPr lang="ko-KR" altLang="en-US" dirty="0"/>
          </a:p>
        </p:txBody>
      </p:sp>
      <p:graphicFrame>
        <p:nvGraphicFramePr>
          <p:cNvPr id="3" name="Table 18">
            <a:extLst>
              <a:ext uri="{FF2B5EF4-FFF2-40B4-BE49-F238E27FC236}">
                <a16:creationId xmlns:a16="http://schemas.microsoft.com/office/drawing/2014/main" id="{18BFF395-D463-24CE-2353-A561B2DC70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811612"/>
              </p:ext>
            </p:extLst>
          </p:nvPr>
        </p:nvGraphicFramePr>
        <p:xfrm>
          <a:off x="405820" y="1919656"/>
          <a:ext cx="6183393" cy="3284829"/>
        </p:xfrm>
        <a:graphic>
          <a:graphicData uri="http://schemas.openxmlformats.org/drawingml/2006/table">
            <a:tbl>
              <a:tblPr/>
              <a:tblGrid>
                <a:gridCol w="2061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1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11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8057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800" b="1" i="0" u="none" strike="noStrike" dirty="0">
                          <a:solidFill>
                            <a:srgbClr val="F8F8F8"/>
                          </a:solidFill>
                          <a:ea typeface="Noto Sans CJK KR Medium"/>
                        </a:rPr>
                        <a:t>항목</a:t>
                      </a:r>
                      <a:endParaRPr lang="en-US" sz="1100" b="1" dirty="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A5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800" b="1" i="0" u="none" strike="noStrike" dirty="0">
                          <a:solidFill>
                            <a:srgbClr val="F8F8F8"/>
                          </a:solidFill>
                          <a:ea typeface="Noto Sans CJK KR Medium"/>
                        </a:rPr>
                        <a:t>기존</a:t>
                      </a:r>
                      <a:r>
                        <a:rPr lang="en-US" sz="1800" b="1" i="0" u="none" strike="noStrike" dirty="0">
                          <a:solidFill>
                            <a:srgbClr val="F8F8F8"/>
                          </a:solidFill>
                          <a:latin typeface="Noto Sans CJK KR Medium"/>
                        </a:rPr>
                        <a:t> </a:t>
                      </a:r>
                      <a:r>
                        <a:rPr lang="ko-KR" sz="1800" b="1" i="0" u="none" strike="noStrike" dirty="0">
                          <a:solidFill>
                            <a:srgbClr val="F8F8F8"/>
                          </a:solidFill>
                          <a:ea typeface="Noto Sans CJK KR Medium"/>
                        </a:rPr>
                        <a:t>어플리케이션</a:t>
                      </a:r>
                      <a:endParaRPr lang="en-US" sz="1100" b="1" dirty="0"/>
                    </a:p>
                  </a:txBody>
                  <a:tcPr marL="19050" marR="19050" marT="19050" marB="19050" anchor="ctr">
                    <a:lnL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A5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8F8F8"/>
                          </a:solidFill>
                          <a:latin typeface="Noto Sans CJK KR Medium"/>
                        </a:rPr>
                        <a:t>Rubato</a:t>
                      </a:r>
                      <a:endParaRPr lang="en-US" sz="1100" b="1"/>
                    </a:p>
                  </a:txBody>
                  <a:tcPr marL="19050" marR="19050" marT="19050" marB="19050" anchor="ctr">
                    <a:lnL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A5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853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600" b="1" i="0" u="none" strike="noStrike">
                          <a:solidFill>
                            <a:srgbClr val="787878"/>
                          </a:solidFill>
                          <a:ea typeface="Noto Sans CJK KR Light"/>
                        </a:rPr>
                        <a:t>일정</a:t>
                      </a:r>
                      <a:r>
                        <a:rPr lang="en-US" sz="1600" b="1" i="0" u="none" strike="noStrike">
                          <a:solidFill>
                            <a:srgbClr val="787878"/>
                          </a:solidFill>
                          <a:latin typeface="Noto Sans CJK KR Light"/>
                        </a:rPr>
                        <a:t> </a:t>
                      </a:r>
                      <a:r>
                        <a:rPr lang="ko-KR" sz="1600" b="1" i="0" u="none" strike="noStrike">
                          <a:solidFill>
                            <a:srgbClr val="787878"/>
                          </a:solidFill>
                          <a:ea typeface="Noto Sans CJK KR Light"/>
                        </a:rPr>
                        <a:t>작성</a:t>
                      </a:r>
                      <a:r>
                        <a:rPr lang="en-US" sz="1600" b="1" i="0" u="none" strike="noStrike">
                          <a:solidFill>
                            <a:srgbClr val="787878"/>
                          </a:solidFill>
                          <a:latin typeface="Noto Sans CJK KR Light"/>
                        </a:rPr>
                        <a:t> </a:t>
                      </a:r>
                      <a:r>
                        <a:rPr lang="ko-KR" sz="1600" b="1" i="0" u="none" strike="noStrike">
                          <a:solidFill>
                            <a:srgbClr val="787878"/>
                          </a:solidFill>
                          <a:ea typeface="Noto Sans CJK KR Light"/>
                        </a:rPr>
                        <a:t>방식</a:t>
                      </a:r>
                      <a:endParaRPr lang="en-US" sz="1100" b="1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600" b="1" i="0" u="none" strike="noStrike" dirty="0">
                          <a:solidFill>
                            <a:srgbClr val="787878"/>
                          </a:solidFill>
                          <a:ea typeface="Noto Sans CJK KR Light"/>
                        </a:rPr>
                        <a:t>태그</a:t>
                      </a:r>
                      <a:r>
                        <a:rPr lang="en-US" sz="1600" b="1" i="0" u="none" strike="noStrike" dirty="0">
                          <a:solidFill>
                            <a:srgbClr val="787878"/>
                          </a:solidFill>
                          <a:latin typeface="Noto Sans CJK KR Light"/>
                        </a:rPr>
                        <a:t>/</a:t>
                      </a:r>
                      <a:r>
                        <a:rPr lang="ko-KR" sz="1600" b="1" i="0" u="none" strike="noStrike" dirty="0">
                          <a:solidFill>
                            <a:srgbClr val="787878"/>
                          </a:solidFill>
                          <a:ea typeface="Noto Sans CJK KR Light"/>
                        </a:rPr>
                        <a:t>목적지</a:t>
                      </a:r>
                      <a:r>
                        <a:rPr lang="en-US" sz="1600" b="1" i="0" u="none" strike="noStrike" dirty="0">
                          <a:solidFill>
                            <a:srgbClr val="787878"/>
                          </a:solidFill>
                          <a:latin typeface="Noto Sans CJK KR Light"/>
                        </a:rPr>
                        <a:t> </a:t>
                      </a:r>
                      <a:r>
                        <a:rPr lang="ko-KR" sz="1600" b="1" i="0" u="none" strike="noStrike" dirty="0">
                          <a:solidFill>
                            <a:srgbClr val="787878"/>
                          </a:solidFill>
                          <a:ea typeface="Noto Sans CJK KR Light"/>
                        </a:rPr>
                        <a:t>기반</a:t>
                      </a:r>
                      <a:endParaRPr lang="en-US" sz="1100" b="1" dirty="0"/>
                    </a:p>
                  </a:txBody>
                  <a:tcPr marL="19050" marR="19050" marT="19050" marB="19050" anchor="ctr">
                    <a:lnL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600" b="1" i="0" u="none" strike="noStrike" dirty="0">
                          <a:solidFill>
                            <a:srgbClr val="787878"/>
                          </a:solidFill>
                          <a:ea typeface="Noto Sans CJK KR Light"/>
                        </a:rPr>
                        <a:t>대화형</a:t>
                      </a:r>
                      <a:r>
                        <a:rPr lang="en-US" sz="1600" b="1" i="0" u="none" strike="noStrike" dirty="0">
                          <a:solidFill>
                            <a:srgbClr val="787878"/>
                          </a:solidFill>
                          <a:latin typeface="Noto Sans CJK KR Light"/>
                        </a:rPr>
                        <a:t> AI  / </a:t>
                      </a:r>
                      <a:r>
                        <a:rPr lang="ko-KR" sz="1600" b="1" i="0" u="none" strike="noStrike" dirty="0">
                          <a:solidFill>
                            <a:srgbClr val="787878"/>
                          </a:solidFill>
                          <a:ea typeface="Noto Sans CJK KR Light"/>
                        </a:rPr>
                        <a:t>태그</a:t>
                      </a:r>
                      <a:endParaRPr lang="en-US" sz="1100" b="1" dirty="0"/>
                    </a:p>
                  </a:txBody>
                  <a:tcPr marL="19050" marR="19050" marT="19050" marB="19050" anchor="ctr">
                    <a:lnL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3533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600" b="1" i="0" u="none" strike="noStrike">
                          <a:solidFill>
                            <a:srgbClr val="787878"/>
                          </a:solidFill>
                          <a:ea typeface="Noto Sans CJK KR Light"/>
                        </a:rPr>
                        <a:t>채팅</a:t>
                      </a:r>
                      <a:r>
                        <a:rPr lang="en-US" sz="1600" b="1" i="0" u="none" strike="noStrike">
                          <a:solidFill>
                            <a:srgbClr val="787878"/>
                          </a:solidFill>
                          <a:latin typeface="Noto Sans CJK KR Light"/>
                        </a:rPr>
                        <a:t> </a:t>
                      </a:r>
                      <a:r>
                        <a:rPr lang="ko-KR" sz="1600" b="1" i="0" u="none" strike="noStrike">
                          <a:solidFill>
                            <a:srgbClr val="787878"/>
                          </a:solidFill>
                          <a:ea typeface="Noto Sans CJK KR Light"/>
                        </a:rPr>
                        <a:t>내</a:t>
                      </a:r>
                      <a:r>
                        <a:rPr lang="en-US" sz="1600" b="1" i="0" u="none" strike="noStrike">
                          <a:solidFill>
                            <a:srgbClr val="787878"/>
                          </a:solidFill>
                          <a:latin typeface="Noto Sans CJK KR Light"/>
                        </a:rPr>
                        <a:t> </a:t>
                      </a:r>
                      <a:endParaRPr lang="en-US" sz="1100" b="1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1600" b="1" i="0" u="none" strike="noStrike">
                          <a:solidFill>
                            <a:srgbClr val="787878"/>
                          </a:solidFill>
                          <a:ea typeface="Noto Sans CJK KR Light"/>
                        </a:rPr>
                        <a:t>실시간</a:t>
                      </a:r>
                      <a:r>
                        <a:rPr lang="en-US" sz="1600" b="1" i="0" u="none" strike="noStrike">
                          <a:solidFill>
                            <a:srgbClr val="787878"/>
                          </a:solidFill>
                          <a:latin typeface="Noto Sans CJK KR Light"/>
                        </a:rPr>
                        <a:t> </a:t>
                      </a:r>
                      <a:r>
                        <a:rPr lang="ko-KR" sz="1600" b="1" i="0" u="none" strike="noStrike">
                          <a:solidFill>
                            <a:srgbClr val="787878"/>
                          </a:solidFill>
                          <a:ea typeface="Noto Sans CJK KR Light"/>
                        </a:rPr>
                        <a:t>정보</a:t>
                      </a:r>
                      <a:r>
                        <a:rPr lang="en-US" sz="1600" b="1" i="0" u="none" strike="noStrike">
                          <a:solidFill>
                            <a:srgbClr val="787878"/>
                          </a:solidFill>
                          <a:latin typeface="Noto Sans CJK KR Light"/>
                        </a:rPr>
                        <a:t> </a:t>
                      </a:r>
                      <a:r>
                        <a:rPr lang="ko-KR" sz="1600" b="1" i="0" u="none" strike="noStrike">
                          <a:solidFill>
                            <a:srgbClr val="787878"/>
                          </a:solidFill>
                          <a:ea typeface="Noto Sans CJK KR Light"/>
                        </a:rPr>
                        <a:t>제공</a:t>
                      </a:r>
                      <a:r>
                        <a:rPr lang="en-US" sz="1600" b="1" i="0" u="none" strike="noStrike">
                          <a:solidFill>
                            <a:srgbClr val="787878"/>
                          </a:solidFill>
                          <a:latin typeface="Noto Sans CJK KR Light"/>
                        </a:rPr>
                        <a:t> </a:t>
                      </a:r>
                      <a:r>
                        <a:rPr lang="ko-KR" sz="1600" b="1" i="0" u="none" strike="noStrike">
                          <a:solidFill>
                            <a:srgbClr val="787878"/>
                          </a:solidFill>
                          <a:ea typeface="Noto Sans CJK KR Light"/>
                        </a:rPr>
                        <a:t>여부</a:t>
                      </a: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600" b="1" i="0" u="none" strike="noStrike">
                          <a:solidFill>
                            <a:srgbClr val="787878"/>
                          </a:solidFill>
                          <a:ea typeface="Noto Sans CJK KR Light"/>
                        </a:rPr>
                        <a:t>미지원</a:t>
                      </a:r>
                      <a:endParaRPr lang="en-US" sz="1100" b="1"/>
                    </a:p>
                  </a:txBody>
                  <a:tcPr marL="19050" marR="19050" marT="19050" marB="19050" anchor="ctr">
                    <a:lnL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600" b="1" i="0" u="none" strike="noStrike" dirty="0">
                          <a:solidFill>
                            <a:srgbClr val="787878"/>
                          </a:solidFill>
                          <a:ea typeface="Noto Sans CJK KR Light"/>
                        </a:rPr>
                        <a:t>지원</a:t>
                      </a:r>
                      <a:endParaRPr lang="en-US" sz="1100" b="1" dirty="0"/>
                    </a:p>
                  </a:txBody>
                  <a:tcPr marL="19050" marR="19050" marT="19050" marB="19050" anchor="ctr">
                    <a:lnL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3533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600" b="1" i="0" u="none" strike="noStrike">
                          <a:solidFill>
                            <a:srgbClr val="787878"/>
                          </a:solidFill>
                          <a:ea typeface="Noto Sans CJK KR Light"/>
                        </a:rPr>
                        <a:t>개인화</a:t>
                      </a:r>
                      <a:r>
                        <a:rPr lang="en-US" sz="1600" b="1" i="0" u="none" strike="noStrike">
                          <a:solidFill>
                            <a:srgbClr val="787878"/>
                          </a:solidFill>
                          <a:latin typeface="Noto Sans CJK KR Light"/>
                        </a:rPr>
                        <a:t> </a:t>
                      </a:r>
                      <a:r>
                        <a:rPr lang="ko-KR" sz="1600" b="1" i="0" u="none" strike="noStrike">
                          <a:solidFill>
                            <a:srgbClr val="787878"/>
                          </a:solidFill>
                          <a:ea typeface="Noto Sans CJK KR Light"/>
                        </a:rPr>
                        <a:t>수준</a:t>
                      </a:r>
                      <a:endParaRPr lang="en-US" sz="1100" b="1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600" b="1" i="0" u="none" strike="noStrike">
                          <a:solidFill>
                            <a:srgbClr val="787878"/>
                          </a:solidFill>
                          <a:ea typeface="Noto Sans CJK KR Light"/>
                        </a:rPr>
                        <a:t>제한적</a:t>
                      </a:r>
                      <a:endParaRPr lang="en-US" sz="1100" b="1"/>
                    </a:p>
                  </a:txBody>
                  <a:tcPr marL="19050" marR="19050" marT="19050" marB="19050" anchor="ctr">
                    <a:lnL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1600" b="1" i="0" u="none" strike="noStrike" dirty="0">
                          <a:solidFill>
                            <a:srgbClr val="787878"/>
                          </a:solidFill>
                          <a:ea typeface="Noto Sans CJK KR Light"/>
                        </a:rPr>
                        <a:t>개인의</a:t>
                      </a:r>
                      <a:r>
                        <a:rPr lang="en-US" sz="1600" b="1" i="0" u="none" strike="noStrike" dirty="0">
                          <a:solidFill>
                            <a:srgbClr val="787878"/>
                          </a:solidFill>
                          <a:latin typeface="Noto Sans CJK KR Light"/>
                        </a:rPr>
                        <a:t> </a:t>
                      </a:r>
                      <a:r>
                        <a:rPr lang="ko-KR" sz="1600" b="1" i="0" u="none" strike="noStrike" dirty="0">
                          <a:solidFill>
                            <a:srgbClr val="787878"/>
                          </a:solidFill>
                          <a:ea typeface="Noto Sans CJK KR Light"/>
                        </a:rPr>
                        <a:t>취향과</a:t>
                      </a:r>
                      <a:r>
                        <a:rPr lang="en-US" sz="1600" b="1" i="0" u="none" strike="noStrike" dirty="0">
                          <a:solidFill>
                            <a:srgbClr val="787878"/>
                          </a:solidFill>
                          <a:latin typeface="Noto Sans CJK KR Light"/>
                        </a:rPr>
                        <a:t> </a:t>
                      </a:r>
                      <a:r>
                        <a:rPr lang="ko-KR" sz="1600" b="1" i="0" u="none" strike="noStrike" dirty="0">
                          <a:solidFill>
                            <a:srgbClr val="787878"/>
                          </a:solidFill>
                          <a:ea typeface="Noto Sans CJK KR Light"/>
                        </a:rPr>
                        <a:t>요구를</a:t>
                      </a:r>
                      <a:br>
                        <a:rPr lang="ko-KR" sz="1600" b="1" i="0" u="none" strike="noStrike" dirty="0">
                          <a:solidFill>
                            <a:srgbClr val="787878"/>
                          </a:solidFill>
                          <a:ea typeface="Noto Sans CJK KR Light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787878"/>
                          </a:solidFill>
                          <a:ea typeface="Noto Sans CJK KR Light"/>
                        </a:rPr>
                        <a:t>세부적으로</a:t>
                      </a:r>
                      <a:r>
                        <a:rPr lang="en-US" sz="1600" b="1" i="0" u="none" strike="noStrike" dirty="0">
                          <a:solidFill>
                            <a:srgbClr val="787878"/>
                          </a:solidFill>
                          <a:latin typeface="Noto Sans CJK KR Light"/>
                        </a:rPr>
                        <a:t> </a:t>
                      </a:r>
                      <a:r>
                        <a:rPr lang="ko-KR" sz="1600" b="1" i="0" u="none" strike="noStrike" dirty="0">
                          <a:solidFill>
                            <a:srgbClr val="787878"/>
                          </a:solidFill>
                          <a:ea typeface="Noto Sans CJK KR Light"/>
                        </a:rPr>
                        <a:t>반영</a:t>
                      </a:r>
                      <a:endParaRPr lang="en-US" sz="1100" b="1" dirty="0"/>
                    </a:p>
                  </a:txBody>
                  <a:tcPr marL="19050" marR="19050" marT="19050" marB="19050" anchor="ctr">
                    <a:lnL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9853"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ko-KR" sz="1600" b="1" i="0" u="none" strike="noStrike">
                          <a:solidFill>
                            <a:srgbClr val="787878"/>
                          </a:solidFill>
                          <a:ea typeface="Noto Sans CJK KR Light"/>
                        </a:rPr>
                        <a:t>기능</a:t>
                      </a:r>
                      <a:r>
                        <a:rPr lang="en-US" sz="1600" b="1" i="0" u="none" strike="noStrike">
                          <a:solidFill>
                            <a:srgbClr val="787878"/>
                          </a:solidFill>
                          <a:latin typeface="Noto Sans CJK KR Light"/>
                        </a:rPr>
                        <a:t> </a:t>
                      </a:r>
                      <a:r>
                        <a:rPr lang="ko-KR" sz="1600" b="1" i="0" u="none" strike="noStrike">
                          <a:solidFill>
                            <a:srgbClr val="787878"/>
                          </a:solidFill>
                          <a:ea typeface="Noto Sans CJK KR Light"/>
                        </a:rPr>
                        <a:t>통합</a:t>
                      </a:r>
                      <a:r>
                        <a:rPr lang="en-US" sz="1600" b="1" i="0" u="none" strike="noStrike">
                          <a:solidFill>
                            <a:srgbClr val="787878"/>
                          </a:solidFill>
                          <a:latin typeface="Noto Sans CJK KR Light"/>
                        </a:rPr>
                        <a:t> </a:t>
                      </a:r>
                      <a:r>
                        <a:rPr lang="ko-KR" sz="1600" b="1" i="0" u="none" strike="noStrike">
                          <a:solidFill>
                            <a:srgbClr val="787878"/>
                          </a:solidFill>
                          <a:ea typeface="Noto Sans CJK KR Light"/>
                        </a:rPr>
                        <a:t>여부</a:t>
                      </a:r>
                      <a:endParaRPr lang="en-US" sz="1100" b="1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ko-KR" sz="1600" b="1" i="0" u="none" strike="noStrike">
                          <a:solidFill>
                            <a:srgbClr val="787878"/>
                          </a:solidFill>
                          <a:ea typeface="Noto Sans CJK KR Light"/>
                        </a:rPr>
                        <a:t>각기</a:t>
                      </a:r>
                      <a:r>
                        <a:rPr lang="en-US" sz="1600" b="1" i="0" u="none" strike="noStrike">
                          <a:solidFill>
                            <a:srgbClr val="787878"/>
                          </a:solidFill>
                          <a:latin typeface="Noto Sans CJK KR Light"/>
                        </a:rPr>
                        <a:t> </a:t>
                      </a:r>
                      <a:r>
                        <a:rPr lang="ko-KR" sz="1600" b="1" i="0" u="none" strike="noStrike">
                          <a:solidFill>
                            <a:srgbClr val="787878"/>
                          </a:solidFill>
                          <a:ea typeface="Noto Sans CJK KR Light"/>
                        </a:rPr>
                        <a:t>분리된</a:t>
                      </a:r>
                      <a:r>
                        <a:rPr lang="en-US" sz="1600" b="1" i="0" u="none" strike="noStrike">
                          <a:solidFill>
                            <a:srgbClr val="787878"/>
                          </a:solidFill>
                          <a:latin typeface="Noto Sans CJK KR Light"/>
                        </a:rPr>
                        <a:t> </a:t>
                      </a:r>
                      <a:r>
                        <a:rPr lang="ko-KR" sz="1600" b="1" i="0" u="none" strike="noStrike">
                          <a:solidFill>
                            <a:srgbClr val="787878"/>
                          </a:solidFill>
                          <a:ea typeface="Noto Sans CJK KR Light"/>
                        </a:rPr>
                        <a:t>기능</a:t>
                      </a:r>
                      <a:endParaRPr lang="en-US" sz="1100" b="1"/>
                    </a:p>
                  </a:txBody>
                  <a:tcPr marL="19050" marR="19050" marT="19050" marB="19050" anchor="ctr">
                    <a:lnL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ko-KR" sz="1600" b="1" i="0" u="none" strike="noStrike" dirty="0">
                          <a:solidFill>
                            <a:srgbClr val="787878"/>
                          </a:solidFill>
                          <a:ea typeface="Noto Sans CJK KR Light"/>
                        </a:rPr>
                        <a:t>다양한</a:t>
                      </a:r>
                      <a:r>
                        <a:rPr lang="en-US" sz="1600" b="1" i="0" u="none" strike="noStrike" dirty="0">
                          <a:solidFill>
                            <a:srgbClr val="787878"/>
                          </a:solidFill>
                          <a:latin typeface="Noto Sans CJK KR Light"/>
                        </a:rPr>
                        <a:t> </a:t>
                      </a:r>
                      <a:r>
                        <a:rPr lang="ko-KR" sz="1600" b="1" i="0" u="none" strike="noStrike" dirty="0">
                          <a:solidFill>
                            <a:srgbClr val="787878"/>
                          </a:solidFill>
                          <a:ea typeface="Noto Sans CJK KR Light"/>
                        </a:rPr>
                        <a:t>기능의</a:t>
                      </a:r>
                      <a:r>
                        <a:rPr lang="en-US" sz="1600" b="1" i="0" u="none" strike="noStrike" dirty="0">
                          <a:solidFill>
                            <a:srgbClr val="787878"/>
                          </a:solidFill>
                          <a:latin typeface="Noto Sans CJK KR Light"/>
                        </a:rPr>
                        <a:t> </a:t>
                      </a:r>
                      <a:r>
                        <a:rPr lang="ko-KR" sz="1600" b="1" i="0" u="none" strike="noStrike" dirty="0">
                          <a:solidFill>
                            <a:srgbClr val="787878"/>
                          </a:solidFill>
                          <a:ea typeface="Noto Sans CJK KR Light"/>
                        </a:rPr>
                        <a:t>통합</a:t>
                      </a:r>
                      <a:endParaRPr lang="en-US" sz="1100" b="1" dirty="0"/>
                    </a:p>
                  </a:txBody>
                  <a:tcPr marL="19050" marR="19050" marT="19050" marB="19050" anchor="ctr">
                    <a:lnL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6251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667" y="2142067"/>
            <a:ext cx="2827867" cy="414867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5067" y="1888067"/>
            <a:ext cx="3081867" cy="3081867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6667" y="1989667"/>
            <a:ext cx="2887133" cy="2887133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7400" y="4461934"/>
            <a:ext cx="118533" cy="118533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8933" y="2286000"/>
            <a:ext cx="127000" cy="127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4534" y="4461934"/>
            <a:ext cx="118533" cy="118533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4534" y="2286000"/>
            <a:ext cx="118533" cy="118533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879600" y="2133600"/>
            <a:ext cx="2582333" cy="40639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99600"/>
              </a:lnSpc>
              <a:buAutoNum type="arabicPeriod"/>
            </a:pPr>
            <a:r>
              <a:rPr lang="ko-KR" altLang="en-US" sz="1133" dirty="0">
                <a:solidFill>
                  <a:srgbClr val="F8F8F8"/>
                </a:solidFill>
                <a:ea typeface="Noto Sans CJK KR Regular"/>
              </a:rPr>
              <a:t>여행</a:t>
            </a:r>
            <a:r>
              <a:rPr lang="en-US" sz="1133" dirty="0">
                <a:solidFill>
                  <a:srgbClr val="F8F8F8"/>
                </a:solidFill>
                <a:latin typeface="Noto Sans CJK KR Regular"/>
              </a:rPr>
              <a:t> </a:t>
            </a:r>
            <a:r>
              <a:rPr lang="ko-KR" altLang="en-US" sz="1133" dirty="0">
                <a:solidFill>
                  <a:srgbClr val="F8F8F8"/>
                </a:solidFill>
                <a:ea typeface="Noto Sans CJK KR Regular"/>
              </a:rPr>
              <a:t>스타일을</a:t>
            </a:r>
            <a:r>
              <a:rPr lang="en-US" sz="1133" dirty="0">
                <a:solidFill>
                  <a:srgbClr val="F8F8F8"/>
                </a:solidFill>
                <a:latin typeface="Noto Sans CJK KR Regular"/>
              </a:rPr>
              <a:t> </a:t>
            </a:r>
            <a:r>
              <a:rPr lang="ko-KR" altLang="en-US" sz="1133" dirty="0">
                <a:solidFill>
                  <a:srgbClr val="F8F8F8"/>
                </a:solidFill>
                <a:ea typeface="Noto Sans CJK KR Regular"/>
              </a:rPr>
              <a:t>선택하여</a:t>
            </a:r>
            <a:r>
              <a:rPr lang="en-US" sz="1133" dirty="0">
                <a:solidFill>
                  <a:srgbClr val="F8F8F8"/>
                </a:solidFill>
                <a:latin typeface="Noto Sans CJK KR Regular"/>
              </a:rPr>
              <a:t> </a:t>
            </a:r>
            <a:r>
              <a:rPr lang="ko-KR" altLang="en-US" sz="1133" dirty="0">
                <a:solidFill>
                  <a:srgbClr val="F8F8F8"/>
                </a:solidFill>
                <a:ea typeface="Noto Sans CJK KR Regular"/>
              </a:rPr>
              <a:t>자동</a:t>
            </a:r>
            <a:r>
              <a:rPr lang="en-US" sz="1133" dirty="0">
                <a:solidFill>
                  <a:srgbClr val="F8F8F8"/>
                </a:solidFill>
                <a:latin typeface="Noto Sans CJK KR Regular"/>
              </a:rPr>
              <a:t> </a:t>
            </a:r>
            <a:r>
              <a:rPr lang="ko-KR" altLang="en-US" sz="1133" dirty="0">
                <a:solidFill>
                  <a:srgbClr val="F8F8F8"/>
                </a:solidFill>
                <a:ea typeface="Noto Sans CJK KR Regular"/>
              </a:rPr>
              <a:t>일정</a:t>
            </a:r>
            <a:r>
              <a:rPr lang="en-US" sz="1133" dirty="0">
                <a:solidFill>
                  <a:srgbClr val="F8F8F8"/>
                </a:solidFill>
                <a:latin typeface="Noto Sans CJK KR Regular"/>
              </a:rPr>
              <a:t> </a:t>
            </a:r>
            <a:r>
              <a:rPr lang="ko-KR" altLang="en-US" sz="1133" dirty="0">
                <a:solidFill>
                  <a:srgbClr val="F8F8F8"/>
                </a:solidFill>
                <a:ea typeface="Noto Sans CJK KR Regular"/>
              </a:rPr>
              <a:t>작성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38867" y="2675467"/>
            <a:ext cx="2429933" cy="8297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사용자가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여행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지역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(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예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: 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서울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, 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부산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, 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제주도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등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)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과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여행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스타일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(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맛집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탐방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, 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문화체험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, </a:t>
            </a:r>
            <a:r>
              <a:rPr lang="ko-KR" altLang="en-US" sz="933" dirty="0" err="1">
                <a:solidFill>
                  <a:srgbClr val="404040"/>
                </a:solidFill>
                <a:ea typeface="Noto Sans CJK KR Regular"/>
              </a:rPr>
              <a:t>핫플레이스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등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),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여행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일정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(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몇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박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몇일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, 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날짜포함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)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을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선택하면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, GPT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가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이를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분석하여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여행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계획을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자동으로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생성합니다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.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5333" y="2311400"/>
            <a:ext cx="2209800" cy="2235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4133" y="2142067"/>
            <a:ext cx="2413000" cy="414867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8246533" y="2133600"/>
            <a:ext cx="2032000" cy="40639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133" dirty="0">
                <a:solidFill>
                  <a:srgbClr val="F8F8F8"/>
                </a:solidFill>
                <a:latin typeface="Noto Sans CJK KR Regular"/>
              </a:rPr>
              <a:t>2. </a:t>
            </a:r>
            <a:r>
              <a:rPr lang="ko-KR" altLang="en-US" sz="1133" dirty="0">
                <a:solidFill>
                  <a:srgbClr val="F8F8F8"/>
                </a:solidFill>
                <a:ea typeface="Noto Sans CJK KR Regular"/>
              </a:rPr>
              <a:t>채팅을</a:t>
            </a:r>
            <a:r>
              <a:rPr lang="en-US" sz="1133" dirty="0">
                <a:solidFill>
                  <a:srgbClr val="F8F8F8"/>
                </a:solidFill>
                <a:latin typeface="Noto Sans CJK KR Regular"/>
              </a:rPr>
              <a:t> </a:t>
            </a:r>
            <a:r>
              <a:rPr lang="ko-KR" altLang="en-US" sz="1133" dirty="0">
                <a:solidFill>
                  <a:srgbClr val="F8F8F8"/>
                </a:solidFill>
                <a:ea typeface="Noto Sans CJK KR Regular"/>
              </a:rPr>
              <a:t>통한</a:t>
            </a:r>
            <a:r>
              <a:rPr lang="en-US" sz="1133" dirty="0">
                <a:solidFill>
                  <a:srgbClr val="F8F8F8"/>
                </a:solidFill>
                <a:latin typeface="Noto Sans CJK KR Regular"/>
              </a:rPr>
              <a:t> </a:t>
            </a:r>
            <a:r>
              <a:rPr lang="ko-KR" altLang="en-US" sz="1133" dirty="0">
                <a:solidFill>
                  <a:srgbClr val="F8F8F8"/>
                </a:solidFill>
                <a:ea typeface="Noto Sans CJK KR Regular"/>
              </a:rPr>
              <a:t>검색</a:t>
            </a:r>
            <a:r>
              <a:rPr lang="en-US" sz="1133" dirty="0">
                <a:solidFill>
                  <a:srgbClr val="F8F8F8"/>
                </a:solidFill>
                <a:latin typeface="Noto Sans CJK KR Regular"/>
              </a:rPr>
              <a:t> </a:t>
            </a:r>
            <a:r>
              <a:rPr lang="ko-KR" altLang="en-US" sz="1133" dirty="0">
                <a:solidFill>
                  <a:srgbClr val="F8F8F8"/>
                </a:solidFill>
                <a:ea typeface="Noto Sans CJK KR Regular"/>
              </a:rPr>
              <a:t>및</a:t>
            </a:r>
            <a:r>
              <a:rPr lang="en-US" sz="1133" dirty="0">
                <a:solidFill>
                  <a:srgbClr val="F8F8F8"/>
                </a:solidFill>
                <a:latin typeface="Noto Sans CJK KR Regular"/>
              </a:rPr>
              <a:t> </a:t>
            </a:r>
            <a:r>
              <a:rPr lang="ko-KR" altLang="en-US" sz="1133" dirty="0">
                <a:solidFill>
                  <a:srgbClr val="F8F8F8"/>
                </a:solidFill>
                <a:ea typeface="Noto Sans CJK KR Regular"/>
              </a:rPr>
              <a:t>일정</a:t>
            </a:r>
            <a:r>
              <a:rPr lang="en-US" sz="1133" dirty="0">
                <a:solidFill>
                  <a:srgbClr val="F8F8F8"/>
                </a:solidFill>
                <a:latin typeface="Noto Sans CJK KR Regular"/>
              </a:rPr>
              <a:t> </a:t>
            </a:r>
            <a:r>
              <a:rPr lang="ko-KR" altLang="en-US" sz="1133" dirty="0">
                <a:solidFill>
                  <a:srgbClr val="F8F8F8"/>
                </a:solidFill>
                <a:ea typeface="Noto Sans CJK KR Regular"/>
              </a:rPr>
              <a:t>작성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94134" y="2683934"/>
            <a:ext cx="2429933" cy="8297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933">
                <a:solidFill>
                  <a:srgbClr val="404040"/>
                </a:solidFill>
                <a:latin typeface="Noto Sans CJK KR Regular"/>
              </a:rPr>
              <a:t>GPT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와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실시간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대화를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통해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여행과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관련된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질문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(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특정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명소의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운영시간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및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입장료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,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주차장안내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,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교통안내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등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)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을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처리하며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,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사용자와의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대화를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통해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일정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작성에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필요한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정보를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얻고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이를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기반으로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자동으로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여행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계획을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생성합니다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.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44133" y="3962400"/>
            <a:ext cx="2921000" cy="414867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862667" y="3945466"/>
            <a:ext cx="2675467" cy="43180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133" dirty="0">
                <a:solidFill>
                  <a:srgbClr val="F8F8F8"/>
                </a:solidFill>
                <a:latin typeface="Noto Sans CJK KR Regular"/>
              </a:rPr>
              <a:t>3. </a:t>
            </a:r>
            <a:r>
              <a:rPr lang="ko-KR" altLang="en-US" sz="1133" dirty="0">
                <a:solidFill>
                  <a:srgbClr val="F8F8F8"/>
                </a:solidFill>
                <a:ea typeface="Noto Sans CJK KR Regular"/>
              </a:rPr>
              <a:t>일정</a:t>
            </a:r>
            <a:r>
              <a:rPr lang="en-US" sz="1133" dirty="0">
                <a:solidFill>
                  <a:srgbClr val="F8F8F8"/>
                </a:solidFill>
                <a:latin typeface="Noto Sans CJK KR Regular"/>
              </a:rPr>
              <a:t> </a:t>
            </a:r>
            <a:r>
              <a:rPr lang="ko-KR" altLang="en-US" sz="1133" dirty="0">
                <a:solidFill>
                  <a:srgbClr val="F8F8F8"/>
                </a:solidFill>
                <a:ea typeface="Noto Sans CJK KR Regular"/>
              </a:rPr>
              <a:t>저장</a:t>
            </a:r>
            <a:r>
              <a:rPr lang="en-US" sz="1133" dirty="0">
                <a:solidFill>
                  <a:srgbClr val="F8F8F8"/>
                </a:solidFill>
                <a:latin typeface="Noto Sans CJK KR Regular"/>
              </a:rPr>
              <a:t> </a:t>
            </a:r>
            <a:r>
              <a:rPr lang="ko-KR" altLang="en-US" sz="1133" dirty="0">
                <a:solidFill>
                  <a:srgbClr val="F8F8F8"/>
                </a:solidFill>
                <a:ea typeface="Noto Sans CJK KR Regular"/>
              </a:rPr>
              <a:t>시</a:t>
            </a:r>
            <a:r>
              <a:rPr lang="en-US" sz="1133" dirty="0">
                <a:solidFill>
                  <a:srgbClr val="F8F8F8"/>
                </a:solidFill>
                <a:latin typeface="Noto Sans CJK KR Regular"/>
              </a:rPr>
              <a:t> </a:t>
            </a:r>
            <a:r>
              <a:rPr lang="ko-KR" altLang="en-US" sz="1133" dirty="0">
                <a:solidFill>
                  <a:srgbClr val="F8F8F8"/>
                </a:solidFill>
                <a:ea typeface="Noto Sans CJK KR Regular"/>
              </a:rPr>
              <a:t>장소별</a:t>
            </a:r>
            <a:r>
              <a:rPr lang="en-US" sz="1133" dirty="0">
                <a:solidFill>
                  <a:srgbClr val="F8F8F8"/>
                </a:solidFill>
                <a:latin typeface="Noto Sans CJK KR Regular"/>
              </a:rPr>
              <a:t> </a:t>
            </a:r>
            <a:r>
              <a:rPr lang="ko-KR" altLang="en-US" sz="1133" dirty="0">
                <a:solidFill>
                  <a:srgbClr val="F8F8F8"/>
                </a:solidFill>
                <a:ea typeface="Noto Sans CJK KR Regular"/>
              </a:rPr>
              <a:t>가격</a:t>
            </a:r>
            <a:r>
              <a:rPr lang="en-US" sz="1133" dirty="0">
                <a:solidFill>
                  <a:srgbClr val="F8F8F8"/>
                </a:solidFill>
                <a:latin typeface="Noto Sans CJK KR Regular"/>
              </a:rPr>
              <a:t> </a:t>
            </a:r>
            <a:r>
              <a:rPr lang="ko-KR" altLang="en-US" sz="1133" dirty="0">
                <a:solidFill>
                  <a:srgbClr val="F8F8F8"/>
                </a:solidFill>
                <a:ea typeface="Noto Sans CJK KR Regular"/>
              </a:rPr>
              <a:t>검색</a:t>
            </a:r>
            <a:r>
              <a:rPr lang="en-US" sz="1133" dirty="0">
                <a:solidFill>
                  <a:srgbClr val="F8F8F8"/>
                </a:solidFill>
                <a:latin typeface="Noto Sans CJK KR Regular"/>
              </a:rPr>
              <a:t> </a:t>
            </a:r>
            <a:r>
              <a:rPr lang="ko-KR" altLang="en-US" sz="1133" dirty="0">
                <a:solidFill>
                  <a:srgbClr val="F8F8F8"/>
                </a:solidFill>
                <a:ea typeface="Noto Sans CJK KR Regular"/>
              </a:rPr>
              <a:t>및</a:t>
            </a:r>
            <a:r>
              <a:rPr lang="en-US" sz="1133" dirty="0">
                <a:solidFill>
                  <a:srgbClr val="F8F8F8"/>
                </a:solidFill>
                <a:latin typeface="Noto Sans CJK KR Regular"/>
              </a:rPr>
              <a:t> </a:t>
            </a:r>
          </a:p>
          <a:p>
            <a:pPr lvl="0" algn="ctr">
              <a:lnSpc>
                <a:spcPct val="99600"/>
              </a:lnSpc>
            </a:pPr>
            <a:r>
              <a:rPr lang="ko-KR" altLang="en-US" sz="1133" dirty="0">
                <a:solidFill>
                  <a:srgbClr val="F8F8F8"/>
                </a:solidFill>
                <a:ea typeface="Noto Sans CJK KR Regular"/>
              </a:rPr>
              <a:t>여행</a:t>
            </a:r>
            <a:r>
              <a:rPr lang="en-US" sz="1133" dirty="0">
                <a:solidFill>
                  <a:srgbClr val="F8F8F8"/>
                </a:solidFill>
                <a:latin typeface="Noto Sans CJK KR Regular"/>
              </a:rPr>
              <a:t> </a:t>
            </a:r>
            <a:r>
              <a:rPr lang="ko-KR" altLang="en-US" sz="1133" dirty="0">
                <a:solidFill>
                  <a:srgbClr val="F8F8F8"/>
                </a:solidFill>
                <a:ea typeface="Noto Sans CJK KR Regular"/>
              </a:rPr>
              <a:t>테마</a:t>
            </a:r>
            <a:r>
              <a:rPr lang="en-US" sz="1133" dirty="0">
                <a:solidFill>
                  <a:srgbClr val="F8F8F8"/>
                </a:solidFill>
                <a:latin typeface="Noto Sans CJK KR Regular"/>
              </a:rPr>
              <a:t> </a:t>
            </a:r>
            <a:r>
              <a:rPr lang="ko-KR" altLang="en-US" sz="1133" dirty="0">
                <a:solidFill>
                  <a:srgbClr val="F8F8F8"/>
                </a:solidFill>
                <a:ea typeface="Noto Sans CJK KR Regular"/>
              </a:rPr>
              <a:t>제공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06600" y="4512734"/>
            <a:ext cx="2429933" cy="8297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일정을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저장할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때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, AI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가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일정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내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각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장소의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최신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가격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정보를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검색해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업데이트하며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,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해당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여행의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스타일을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잘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설명할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수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있는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태그와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테마를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자동으로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추천하여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사용자의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여행을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더욱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의미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있게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>
                <a:solidFill>
                  <a:srgbClr val="404040"/>
                </a:solidFill>
                <a:ea typeface="Noto Sans CJK KR Regular"/>
              </a:rPr>
              <a:t>기록합니다</a:t>
            </a:r>
            <a:r>
              <a:rPr lang="en-US" sz="933">
                <a:solidFill>
                  <a:srgbClr val="404040"/>
                </a:solidFill>
                <a:latin typeface="Noto Sans CJK KR Regular"/>
              </a:rPr>
              <a:t>.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4133" y="3962400"/>
            <a:ext cx="2413000" cy="414867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8322733" y="3962400"/>
            <a:ext cx="1955800" cy="4148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133" dirty="0">
                <a:solidFill>
                  <a:srgbClr val="F8F8F8"/>
                </a:solidFill>
                <a:latin typeface="Noto Sans CJK KR Regular"/>
              </a:rPr>
              <a:t>4. </a:t>
            </a:r>
            <a:r>
              <a:rPr lang="ko-KR" altLang="en-US" sz="1133" dirty="0">
                <a:solidFill>
                  <a:srgbClr val="F8F8F8"/>
                </a:solidFill>
                <a:ea typeface="Noto Sans CJK KR Regular"/>
              </a:rPr>
              <a:t>지역별</a:t>
            </a:r>
            <a:r>
              <a:rPr lang="en-US" sz="1133" dirty="0">
                <a:solidFill>
                  <a:srgbClr val="F8F8F8"/>
                </a:solidFill>
                <a:latin typeface="Noto Sans CJK KR Regular"/>
              </a:rPr>
              <a:t> </a:t>
            </a:r>
            <a:r>
              <a:rPr lang="ko-KR" altLang="en-US" sz="1133" dirty="0">
                <a:solidFill>
                  <a:srgbClr val="F8F8F8"/>
                </a:solidFill>
                <a:ea typeface="Noto Sans CJK KR Regular"/>
              </a:rPr>
              <a:t>실시간</a:t>
            </a:r>
            <a:r>
              <a:rPr lang="en-US" sz="1133" dirty="0">
                <a:solidFill>
                  <a:srgbClr val="F8F8F8"/>
                </a:solidFill>
                <a:latin typeface="Noto Sans CJK KR Regular"/>
              </a:rPr>
              <a:t> </a:t>
            </a:r>
            <a:r>
              <a:rPr lang="ko-KR" altLang="en-US" sz="1133" dirty="0">
                <a:solidFill>
                  <a:srgbClr val="F8F8F8"/>
                </a:solidFill>
                <a:ea typeface="Noto Sans CJK KR Regular"/>
              </a:rPr>
              <a:t>코멘트</a:t>
            </a:r>
            <a:r>
              <a:rPr lang="en-US" sz="1133" dirty="0">
                <a:solidFill>
                  <a:srgbClr val="F8F8F8"/>
                </a:solidFill>
                <a:latin typeface="Noto Sans CJK KR Regular"/>
              </a:rPr>
              <a:t> </a:t>
            </a:r>
            <a:r>
              <a:rPr lang="ko-KR" altLang="en-US" sz="1133" dirty="0">
                <a:solidFill>
                  <a:srgbClr val="F8F8F8"/>
                </a:solidFill>
                <a:ea typeface="Noto Sans CJK KR Regular"/>
              </a:rPr>
              <a:t>기능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102600" y="4512734"/>
            <a:ext cx="2429933" cy="4995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사용자가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여행하고자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하는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여행지를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선택하면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각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여행지에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대한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간단한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정보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(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추천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음식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, 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유명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관광지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)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를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933" dirty="0">
                <a:solidFill>
                  <a:srgbClr val="404040"/>
                </a:solidFill>
                <a:ea typeface="Noto Sans CJK KR Regular"/>
              </a:rPr>
              <a:t>제공해줍니다</a:t>
            </a:r>
            <a:r>
              <a:rPr lang="en-US" sz="933" dirty="0">
                <a:solidFill>
                  <a:srgbClr val="404040"/>
                </a:solidFill>
                <a:latin typeface="Noto Sans CJK KR Regular"/>
              </a:rPr>
              <a:t>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28134" y="677334"/>
            <a:ext cx="3572933" cy="4995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800" b="1" dirty="0">
                <a:solidFill>
                  <a:srgbClr val="404040"/>
                </a:solidFill>
                <a:latin typeface="Pretendard Black"/>
              </a:rPr>
              <a:t>Rubato</a:t>
            </a:r>
            <a:r>
              <a:rPr lang="ko-KR" altLang="en-US" sz="2800" b="1" dirty="0">
                <a:solidFill>
                  <a:srgbClr val="404040"/>
                </a:solidFill>
                <a:ea typeface="Pretendard Black"/>
              </a:rPr>
              <a:t>의</a:t>
            </a:r>
            <a:r>
              <a:rPr lang="en-US" sz="2800" b="1" dirty="0">
                <a:solidFill>
                  <a:srgbClr val="404040"/>
                </a:solidFill>
                <a:latin typeface="Pretendard Black"/>
              </a:rPr>
              <a:t> </a:t>
            </a:r>
            <a:r>
              <a:rPr lang="ko-KR" altLang="en-US" sz="2800" b="1" dirty="0">
                <a:solidFill>
                  <a:srgbClr val="404040"/>
                </a:solidFill>
                <a:ea typeface="Pretendard Black"/>
              </a:rPr>
              <a:t>핵심</a:t>
            </a:r>
            <a:r>
              <a:rPr lang="en-US" sz="2800" b="1" dirty="0">
                <a:solidFill>
                  <a:srgbClr val="404040"/>
                </a:solidFill>
                <a:latin typeface="Pretendard Black"/>
              </a:rPr>
              <a:t> </a:t>
            </a:r>
            <a:r>
              <a:rPr lang="ko-KR" altLang="en-US" sz="2800" b="1" dirty="0">
                <a:solidFill>
                  <a:srgbClr val="404040"/>
                </a:solidFill>
                <a:ea typeface="Pretendard Black"/>
              </a:rPr>
              <a:t>기능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F128B2-9366-C958-FDC9-E1A12E3F6D47}"/>
              </a:ext>
            </a:extLst>
          </p:cNvPr>
          <p:cNvSpPr txBox="1"/>
          <p:nvPr/>
        </p:nvSpPr>
        <p:spPr>
          <a:xfrm>
            <a:off x="829265" y="226379"/>
            <a:ext cx="331372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03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아이디어 도출 과정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733" y="1820334"/>
            <a:ext cx="4377267" cy="4233333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728134" y="677334"/>
            <a:ext cx="3572933" cy="4995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1">
                <a:solidFill>
                  <a:srgbClr val="404040"/>
                </a:solidFill>
                <a:ea typeface="Pretendard Black"/>
              </a:rPr>
              <a:t>기능별</a:t>
            </a:r>
            <a:r>
              <a:rPr lang="en-US" sz="2800" b="1">
                <a:solidFill>
                  <a:srgbClr val="404040"/>
                </a:solidFill>
                <a:latin typeface="Pretendard Black"/>
              </a:rPr>
              <a:t> </a:t>
            </a:r>
            <a:r>
              <a:rPr lang="ko-KR" altLang="en-US" sz="2800" b="1">
                <a:solidFill>
                  <a:srgbClr val="404040"/>
                </a:solidFill>
                <a:ea typeface="Pretendard Black"/>
              </a:rPr>
              <a:t>문제해결</a:t>
            </a:r>
            <a:r>
              <a:rPr lang="en-US" sz="2800" b="1">
                <a:solidFill>
                  <a:srgbClr val="404040"/>
                </a:solidFill>
                <a:latin typeface="Pretendard Black"/>
              </a:rPr>
              <a:t> </a:t>
            </a:r>
            <a:r>
              <a:rPr lang="ko-KR" altLang="en-US" sz="2800" b="1">
                <a:solidFill>
                  <a:srgbClr val="404040"/>
                </a:solidFill>
                <a:ea typeface="Pretendard Black"/>
              </a:rPr>
              <a:t>전략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28133" y="1176867"/>
            <a:ext cx="4250267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600">
                <a:solidFill>
                  <a:srgbClr val="404040"/>
                </a:solidFill>
                <a:latin typeface="Noto Sans CJK KR Regular"/>
              </a:rPr>
              <a:t>1. </a:t>
            </a:r>
            <a:r>
              <a:rPr lang="ko-KR" altLang="en-US" sz="1600">
                <a:solidFill>
                  <a:srgbClr val="404040"/>
                </a:solidFill>
                <a:ea typeface="Noto Sans CJK KR Regular"/>
              </a:rPr>
              <a:t>여행</a:t>
            </a:r>
            <a:r>
              <a:rPr lang="en-US" sz="160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1600">
                <a:solidFill>
                  <a:srgbClr val="404040"/>
                </a:solidFill>
                <a:ea typeface="Noto Sans CJK KR Regular"/>
              </a:rPr>
              <a:t>스타일을</a:t>
            </a:r>
            <a:r>
              <a:rPr lang="en-US" sz="160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1600">
                <a:solidFill>
                  <a:srgbClr val="404040"/>
                </a:solidFill>
                <a:ea typeface="Noto Sans CJK KR Regular"/>
              </a:rPr>
              <a:t>선택하여</a:t>
            </a:r>
            <a:r>
              <a:rPr lang="en-US" sz="160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1600">
                <a:solidFill>
                  <a:srgbClr val="404040"/>
                </a:solidFill>
                <a:ea typeface="Noto Sans CJK KR Regular"/>
              </a:rPr>
              <a:t>자동</a:t>
            </a:r>
            <a:r>
              <a:rPr lang="en-US" sz="160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1600">
                <a:solidFill>
                  <a:srgbClr val="404040"/>
                </a:solidFill>
                <a:ea typeface="Noto Sans CJK KR Regular"/>
              </a:rPr>
              <a:t>일정</a:t>
            </a:r>
            <a:r>
              <a:rPr lang="en-US" sz="160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1600">
                <a:solidFill>
                  <a:srgbClr val="404040"/>
                </a:solidFill>
                <a:ea typeface="Noto Sans CJK KR Regular"/>
              </a:rPr>
              <a:t>작성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12333" y="1960033"/>
            <a:ext cx="2760133" cy="4148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333" b="1" dirty="0">
                <a:solidFill>
                  <a:srgbClr val="404040"/>
                </a:solidFill>
                <a:ea typeface="Pretendard Medium"/>
              </a:rPr>
              <a:t>문제점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2333" y="2561167"/>
            <a:ext cx="4013200" cy="275166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직접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작성하는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데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평균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9.6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시간이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 </a:t>
            </a:r>
            <a:b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</a:b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소요되고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많은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여행객이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"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나만의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특별한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"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b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</a:b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구성하는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데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어려움을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겪음</a:t>
            </a:r>
          </a:p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기존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어플리케이션에서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해당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기능을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제공하지만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b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</a:b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스타일이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제한적이기에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세부적인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니즈를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반영하지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못함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467" y="1803400"/>
            <a:ext cx="4377267" cy="4233333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985000" y="1951566"/>
            <a:ext cx="2760133" cy="4148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333" b="1" dirty="0">
                <a:solidFill>
                  <a:srgbClr val="404040"/>
                </a:solidFill>
                <a:ea typeface="Pretendard Medium"/>
              </a:rPr>
              <a:t>해결전략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85000" y="2514599"/>
            <a:ext cx="4064000" cy="352213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GPT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기반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자동화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:</a:t>
            </a:r>
          </a:p>
          <a:p>
            <a:pPr marL="406420" lvl="1" indent="-22861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여행지역과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다양한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스타일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 err="1">
                <a:solidFill>
                  <a:srgbClr val="000000">
                    <a:alpha val="70196"/>
                  </a:srgbClr>
                </a:solidFill>
                <a:ea typeface="Pretendard Light"/>
              </a:rPr>
              <a:t>태그중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b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</a:br>
            <a:r>
              <a:rPr lang="ko-KR" altLang="en-US" sz="1400" dirty="0" err="1">
                <a:solidFill>
                  <a:srgbClr val="000000">
                    <a:alpha val="70196"/>
                  </a:srgbClr>
                </a:solidFill>
                <a:ea typeface="Pretendard Light"/>
              </a:rPr>
              <a:t>한개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이상의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스타일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태그를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선택하면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GPT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b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</a:b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이를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분석하여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개인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맞춤형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자동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생성</a:t>
            </a:r>
          </a:p>
          <a:p>
            <a:pPr marL="406420" lvl="1" indent="-22861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생성된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자유롭게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수정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가능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b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</a:b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니즈를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세밀히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반영</a:t>
            </a:r>
          </a:p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효율성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향상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:</a:t>
            </a:r>
          </a:p>
          <a:p>
            <a:pPr marL="406420" lvl="1" indent="-22861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계획에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소요되는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시간을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단축하고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b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</a:b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개인화된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제공을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통해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사용자의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만족도를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b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</a:b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높일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수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있음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ED04E1-85EF-9CCF-3267-713950B5B824}"/>
              </a:ext>
            </a:extLst>
          </p:cNvPr>
          <p:cNvSpPr txBox="1"/>
          <p:nvPr/>
        </p:nvSpPr>
        <p:spPr>
          <a:xfrm>
            <a:off x="829265" y="226379"/>
            <a:ext cx="331372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03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아이디어 도출 과정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733" y="1820334"/>
            <a:ext cx="4377267" cy="4385733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728134" y="677334"/>
            <a:ext cx="3572933" cy="4995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1" dirty="0">
                <a:solidFill>
                  <a:srgbClr val="404040"/>
                </a:solidFill>
                <a:ea typeface="Pretendard Black"/>
              </a:rPr>
              <a:t>기능별</a:t>
            </a:r>
            <a:r>
              <a:rPr lang="en-US" sz="2800" b="1" dirty="0">
                <a:solidFill>
                  <a:srgbClr val="404040"/>
                </a:solidFill>
                <a:latin typeface="Pretendard Black"/>
              </a:rPr>
              <a:t> </a:t>
            </a:r>
            <a:r>
              <a:rPr lang="ko-KR" altLang="en-US" sz="2800" b="1" dirty="0">
                <a:solidFill>
                  <a:srgbClr val="404040"/>
                </a:solidFill>
                <a:ea typeface="Pretendard Black"/>
              </a:rPr>
              <a:t>문제해결</a:t>
            </a:r>
            <a:r>
              <a:rPr lang="en-US" sz="2800" b="1" dirty="0">
                <a:solidFill>
                  <a:srgbClr val="404040"/>
                </a:solidFill>
                <a:latin typeface="Pretendard Black"/>
              </a:rPr>
              <a:t> </a:t>
            </a:r>
            <a:r>
              <a:rPr lang="ko-KR" altLang="en-US" sz="2800" b="1" dirty="0">
                <a:solidFill>
                  <a:srgbClr val="404040"/>
                </a:solidFill>
                <a:ea typeface="Pretendard Black"/>
              </a:rPr>
              <a:t>전략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28133" y="1176867"/>
            <a:ext cx="4250267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600">
                <a:solidFill>
                  <a:srgbClr val="404040"/>
                </a:solidFill>
                <a:latin typeface="Noto Sans CJK KR Regular"/>
              </a:rPr>
              <a:t>2. </a:t>
            </a:r>
            <a:r>
              <a:rPr lang="ko-KR" altLang="en-US" sz="1600">
                <a:solidFill>
                  <a:srgbClr val="404040"/>
                </a:solidFill>
                <a:ea typeface="Noto Sans CJK KR Regular"/>
              </a:rPr>
              <a:t>채팅을</a:t>
            </a:r>
            <a:r>
              <a:rPr lang="en-US" sz="160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1600">
                <a:solidFill>
                  <a:srgbClr val="404040"/>
                </a:solidFill>
                <a:ea typeface="Noto Sans CJK KR Regular"/>
              </a:rPr>
              <a:t>통한</a:t>
            </a:r>
            <a:r>
              <a:rPr lang="en-US" sz="160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1600">
                <a:solidFill>
                  <a:srgbClr val="404040"/>
                </a:solidFill>
                <a:ea typeface="Noto Sans CJK KR Regular"/>
              </a:rPr>
              <a:t>검색</a:t>
            </a:r>
            <a:r>
              <a:rPr lang="en-US" sz="160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1600">
                <a:solidFill>
                  <a:srgbClr val="404040"/>
                </a:solidFill>
                <a:ea typeface="Noto Sans CJK KR Regular"/>
              </a:rPr>
              <a:t>및</a:t>
            </a:r>
            <a:r>
              <a:rPr lang="en-US" sz="160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1600">
                <a:solidFill>
                  <a:srgbClr val="404040"/>
                </a:solidFill>
                <a:ea typeface="Noto Sans CJK KR Regular"/>
              </a:rPr>
              <a:t>일정</a:t>
            </a:r>
            <a:r>
              <a:rPr lang="en-US" sz="160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1600">
                <a:solidFill>
                  <a:srgbClr val="404040"/>
                </a:solidFill>
                <a:ea typeface="Noto Sans CJK KR Regular"/>
              </a:rPr>
              <a:t>작성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78467" y="2167467"/>
            <a:ext cx="2760133" cy="4148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333" b="1" dirty="0">
                <a:solidFill>
                  <a:srgbClr val="404040"/>
                </a:solidFill>
                <a:ea typeface="Pretendard Medium"/>
              </a:rPr>
              <a:t>문제점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78467" y="3344334"/>
            <a:ext cx="4013200" cy="13123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기존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채팅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기반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작성은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단순히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몇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박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며칠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목적지만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 err="1">
                <a:solidFill>
                  <a:srgbClr val="000000">
                    <a:alpha val="70196"/>
                  </a:srgbClr>
                </a:solidFill>
                <a:ea typeface="Pretendard Light"/>
              </a:rPr>
              <a:t>입력받아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생성했기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때문에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맞춤형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작성에는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한계가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있음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최신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얻기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위해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별도로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인터넷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검색을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해야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했고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이는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번거롭고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비효율적이었음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467" y="1176868"/>
            <a:ext cx="4453467" cy="50292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993467" y="1248833"/>
            <a:ext cx="2760133" cy="4148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333" b="1" dirty="0">
                <a:solidFill>
                  <a:srgbClr val="404040"/>
                </a:solidFill>
                <a:ea typeface="Pretendard Medium"/>
              </a:rPr>
              <a:t>해결전략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93467" y="1625600"/>
            <a:ext cx="4064000" cy="458046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GPT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기반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맞춤형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작성</a:t>
            </a:r>
          </a:p>
          <a:p>
            <a:pPr marL="406420" lvl="1" indent="-22861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작성에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필요한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GPT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자동으로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b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</a:b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분석하여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사용자에게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필요한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질문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(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식사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옵션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b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</a:b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활동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시간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등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)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던짐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  <a:p>
            <a:pPr marL="406420" lvl="1" indent="-22861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사용자는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간단히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질문에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답변하는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방식으로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작성하며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GPT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는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해당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답변을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분석해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개인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맞춤형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b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</a:b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자동으로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생성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  <a:p>
            <a:pPr marL="406420" lvl="1" indent="-22861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다양한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요구사항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(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테마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선호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활동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등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)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b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</a:b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반영하여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맞춤형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제공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실시간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검색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통합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:</a:t>
            </a:r>
          </a:p>
          <a:p>
            <a:pPr marL="406420" lvl="1" indent="-22861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검색을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희망할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경우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GEMINI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b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</a:b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연동하여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인터넷에서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해당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내용에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대한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b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</a:b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실시간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제공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  <a:p>
            <a:pPr marL="406420" lvl="1" indent="-22861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예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: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특정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명소의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운영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시간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교통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상황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날씨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등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b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</a:b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사용자의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처리하여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번거로움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제거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7E9035-175E-8407-2361-E22EEA00D6F2}"/>
              </a:ext>
            </a:extLst>
          </p:cNvPr>
          <p:cNvSpPr txBox="1"/>
          <p:nvPr/>
        </p:nvSpPr>
        <p:spPr>
          <a:xfrm>
            <a:off x="829265" y="226379"/>
            <a:ext cx="331372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03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아이디어 도출 과정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733" y="1820334"/>
            <a:ext cx="4377267" cy="4233333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467" y="863600"/>
            <a:ext cx="4453467" cy="5342467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28134" y="677334"/>
            <a:ext cx="3572933" cy="4995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1">
                <a:solidFill>
                  <a:srgbClr val="404040"/>
                </a:solidFill>
                <a:ea typeface="Pretendard Black"/>
              </a:rPr>
              <a:t>기능별</a:t>
            </a:r>
            <a:r>
              <a:rPr lang="en-US" sz="2800" b="1">
                <a:solidFill>
                  <a:srgbClr val="404040"/>
                </a:solidFill>
                <a:latin typeface="Pretendard Black"/>
              </a:rPr>
              <a:t> </a:t>
            </a:r>
            <a:r>
              <a:rPr lang="ko-KR" altLang="en-US" sz="2800" b="1">
                <a:solidFill>
                  <a:srgbClr val="404040"/>
                </a:solidFill>
                <a:ea typeface="Pretendard Black"/>
              </a:rPr>
              <a:t>문제해결</a:t>
            </a:r>
            <a:r>
              <a:rPr lang="en-US" sz="2800" b="1">
                <a:solidFill>
                  <a:srgbClr val="404040"/>
                </a:solidFill>
                <a:latin typeface="Pretendard Black"/>
              </a:rPr>
              <a:t> </a:t>
            </a:r>
            <a:r>
              <a:rPr lang="ko-KR" altLang="en-US" sz="2800" b="1">
                <a:solidFill>
                  <a:srgbClr val="404040"/>
                </a:solidFill>
                <a:ea typeface="Pretendard Black"/>
              </a:rPr>
              <a:t>전략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8134" y="1176867"/>
            <a:ext cx="4859866" cy="2116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600" dirty="0">
                <a:solidFill>
                  <a:srgbClr val="404040"/>
                </a:solidFill>
                <a:latin typeface="Noto Sans CJK KR Regular"/>
              </a:rPr>
              <a:t>3. </a:t>
            </a:r>
            <a:r>
              <a:rPr lang="ko-KR" altLang="en-US" sz="1600" dirty="0">
                <a:solidFill>
                  <a:srgbClr val="404040"/>
                </a:solidFill>
                <a:ea typeface="Noto Sans CJK KR Regular"/>
              </a:rPr>
              <a:t>일정</a:t>
            </a:r>
            <a:r>
              <a:rPr lang="en-US" sz="1600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1600" dirty="0">
                <a:solidFill>
                  <a:srgbClr val="404040"/>
                </a:solidFill>
                <a:ea typeface="Noto Sans CJK KR Regular"/>
              </a:rPr>
              <a:t>저장</a:t>
            </a:r>
            <a:r>
              <a:rPr lang="en-US" sz="1600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1600" dirty="0">
                <a:solidFill>
                  <a:srgbClr val="404040"/>
                </a:solidFill>
                <a:ea typeface="Noto Sans CJK KR Regular"/>
              </a:rPr>
              <a:t>시</a:t>
            </a:r>
            <a:r>
              <a:rPr lang="en-US" sz="1600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1600" dirty="0">
                <a:solidFill>
                  <a:srgbClr val="404040"/>
                </a:solidFill>
                <a:ea typeface="Noto Sans CJK KR Regular"/>
              </a:rPr>
              <a:t>장소별</a:t>
            </a:r>
            <a:r>
              <a:rPr lang="en-US" sz="1600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1600" dirty="0">
                <a:solidFill>
                  <a:srgbClr val="404040"/>
                </a:solidFill>
                <a:ea typeface="Noto Sans CJK KR Regular"/>
              </a:rPr>
              <a:t>가격</a:t>
            </a:r>
            <a:r>
              <a:rPr lang="en-US" sz="1600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1600" dirty="0">
                <a:solidFill>
                  <a:srgbClr val="404040"/>
                </a:solidFill>
                <a:ea typeface="Noto Sans CJK KR Regular"/>
              </a:rPr>
              <a:t>검색</a:t>
            </a:r>
            <a:r>
              <a:rPr lang="en-US" sz="1600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1600" dirty="0">
                <a:solidFill>
                  <a:srgbClr val="404040"/>
                </a:solidFill>
                <a:ea typeface="Noto Sans CJK KR Regular"/>
              </a:rPr>
              <a:t>및</a:t>
            </a:r>
            <a:r>
              <a:rPr lang="en-US" sz="1600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1600" dirty="0">
                <a:solidFill>
                  <a:srgbClr val="404040"/>
                </a:solidFill>
                <a:ea typeface="Noto Sans CJK KR Regular"/>
              </a:rPr>
              <a:t>여행</a:t>
            </a:r>
            <a:r>
              <a:rPr lang="en-US" sz="1600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1600" dirty="0">
                <a:solidFill>
                  <a:srgbClr val="404040"/>
                </a:solidFill>
                <a:ea typeface="Noto Sans CJK KR Regular"/>
              </a:rPr>
              <a:t>테마</a:t>
            </a:r>
            <a:r>
              <a:rPr lang="en-US" sz="1600" dirty="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1600" dirty="0">
                <a:solidFill>
                  <a:srgbClr val="404040"/>
                </a:solidFill>
                <a:ea typeface="Noto Sans CJK KR Regular"/>
              </a:rPr>
              <a:t>제공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2333" y="2015067"/>
            <a:ext cx="2760133" cy="4148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333" b="1" dirty="0">
                <a:solidFill>
                  <a:srgbClr val="404040"/>
                </a:solidFill>
                <a:ea typeface="Pretendard Medium"/>
              </a:rPr>
              <a:t>문제점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2333" y="3064934"/>
            <a:ext cx="4013200" cy="13123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사용자가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각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관광지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혹은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식당의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가격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정보를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별도로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 </a:t>
            </a:r>
            <a:b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</a:b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검색해야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하는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번거로움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존재</a:t>
            </a:r>
          </a:p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계획을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작성한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이후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내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여행을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돌아볼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때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b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</a:b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해당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여행을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특별하게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기억할만한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요소가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부족하여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b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</a:b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경험의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의미가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약화됨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93467" y="1024466"/>
            <a:ext cx="2760133" cy="4148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333" b="1" dirty="0">
                <a:solidFill>
                  <a:srgbClr val="404040"/>
                </a:solidFill>
                <a:ea typeface="Pretendard Medium"/>
              </a:rPr>
              <a:t>해결전략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93467" y="1439333"/>
            <a:ext cx="4064000" cy="476673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장소별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최신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가격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자동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업데이트</a:t>
            </a:r>
          </a:p>
          <a:p>
            <a:pPr marL="406420" lvl="1" indent="-22861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저장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GEMINI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해당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일정에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포함된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b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</a:b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각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장소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(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식당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관광지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)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의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최신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가격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자동으로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검색하고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반영함</a:t>
            </a:r>
          </a:p>
          <a:p>
            <a:pPr marL="406420" lvl="1" indent="-22861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사용자는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별도의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검색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없이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 err="1">
                <a:solidFill>
                  <a:srgbClr val="000000">
                    <a:alpha val="70196"/>
                  </a:srgbClr>
                </a:solidFill>
                <a:ea typeface="Pretendard Light"/>
              </a:rPr>
              <a:t>최신화된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가격정보를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b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</a:b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통한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예산을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확인할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수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있음</a:t>
            </a:r>
          </a:p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테마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및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태그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제공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:</a:t>
            </a:r>
          </a:p>
          <a:p>
            <a:pPr marL="406420" lvl="1" indent="-22861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태그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: GPT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스타일을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기반으로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b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</a:b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해당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잘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설명할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수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있는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태그를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3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자동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추천</a:t>
            </a:r>
          </a:p>
          <a:p>
            <a:pPr marL="406420" lvl="1" indent="-22861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테마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: GPT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일정의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전체적인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분위기와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GPT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선택한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여행스타일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태그를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분석해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여행의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고유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b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</a:b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테마를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지정</a:t>
            </a:r>
          </a:p>
          <a:p>
            <a:pPr marL="406420" lvl="1" indent="-22861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이를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통해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사용자는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돌아보며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더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잘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b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</a:b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기억할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수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있음</a:t>
            </a:r>
          </a:p>
          <a:p>
            <a:pPr marL="406420" lvl="1" indent="-22861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또한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이후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경험을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공유할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때도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유용함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863EAC-B83D-A03D-A808-7F1FAA325C02}"/>
              </a:ext>
            </a:extLst>
          </p:cNvPr>
          <p:cNvSpPr txBox="1"/>
          <p:nvPr/>
        </p:nvSpPr>
        <p:spPr>
          <a:xfrm>
            <a:off x="829265" y="226379"/>
            <a:ext cx="331372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03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아이디어 도출 과정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733" y="1820334"/>
            <a:ext cx="4377267" cy="4233333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088467" y="6485467"/>
            <a:ext cx="2006600" cy="20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133">
                <a:solidFill>
                  <a:srgbClr val="404040"/>
                </a:solidFill>
                <a:latin typeface="Noto Sans CJK KR Black"/>
              </a:rPr>
              <a:t>TEAM.ΔΩ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8134" y="677334"/>
            <a:ext cx="3572933" cy="4995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1" dirty="0">
                <a:solidFill>
                  <a:srgbClr val="404040"/>
                </a:solidFill>
                <a:ea typeface="Pretendard Black"/>
              </a:rPr>
              <a:t>기능별</a:t>
            </a:r>
            <a:r>
              <a:rPr lang="en-US" sz="2800" b="1" dirty="0">
                <a:solidFill>
                  <a:srgbClr val="404040"/>
                </a:solidFill>
                <a:latin typeface="Pretendard Black"/>
              </a:rPr>
              <a:t> </a:t>
            </a:r>
            <a:r>
              <a:rPr lang="ko-KR" altLang="en-US" sz="2800" b="1" dirty="0">
                <a:solidFill>
                  <a:srgbClr val="404040"/>
                </a:solidFill>
                <a:ea typeface="Pretendard Black"/>
              </a:rPr>
              <a:t>문제해결</a:t>
            </a:r>
            <a:r>
              <a:rPr lang="en-US" sz="2800" b="1" dirty="0">
                <a:solidFill>
                  <a:srgbClr val="404040"/>
                </a:solidFill>
                <a:latin typeface="Pretendard Black"/>
              </a:rPr>
              <a:t> </a:t>
            </a:r>
            <a:r>
              <a:rPr lang="ko-KR" altLang="en-US" sz="2800" b="1" dirty="0">
                <a:solidFill>
                  <a:srgbClr val="404040"/>
                </a:solidFill>
                <a:ea typeface="Pretendard Black"/>
              </a:rPr>
              <a:t>전략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28133" y="1176867"/>
            <a:ext cx="4250267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600">
                <a:solidFill>
                  <a:srgbClr val="404040"/>
                </a:solidFill>
                <a:latin typeface="Noto Sans CJK KR Regular"/>
              </a:rPr>
              <a:t>4. </a:t>
            </a:r>
            <a:r>
              <a:rPr lang="ko-KR" altLang="en-US" sz="1600">
                <a:solidFill>
                  <a:srgbClr val="404040"/>
                </a:solidFill>
                <a:ea typeface="Noto Sans CJK KR Regular"/>
              </a:rPr>
              <a:t>지역별</a:t>
            </a:r>
            <a:r>
              <a:rPr lang="en-US" sz="160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1600">
                <a:solidFill>
                  <a:srgbClr val="404040"/>
                </a:solidFill>
                <a:ea typeface="Noto Sans CJK KR Regular"/>
              </a:rPr>
              <a:t>실시간</a:t>
            </a:r>
            <a:r>
              <a:rPr lang="en-US" sz="160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1600">
                <a:solidFill>
                  <a:srgbClr val="404040"/>
                </a:solidFill>
                <a:ea typeface="Noto Sans CJK KR Regular"/>
              </a:rPr>
              <a:t>코멘트</a:t>
            </a:r>
            <a:r>
              <a:rPr lang="en-US" sz="1600">
                <a:solidFill>
                  <a:srgbClr val="404040"/>
                </a:solidFill>
                <a:latin typeface="Noto Sans CJK KR Regular"/>
              </a:rPr>
              <a:t> </a:t>
            </a:r>
            <a:r>
              <a:rPr lang="ko-KR" altLang="en-US" sz="1600">
                <a:solidFill>
                  <a:srgbClr val="404040"/>
                </a:solidFill>
                <a:ea typeface="Noto Sans CJK KR Regular"/>
              </a:rPr>
              <a:t>기능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12334" y="3039533"/>
            <a:ext cx="2760133" cy="4148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333" b="1" dirty="0">
                <a:solidFill>
                  <a:srgbClr val="404040"/>
                </a:solidFill>
                <a:ea typeface="Pretendard Medium"/>
              </a:rPr>
              <a:t>문제점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2334" y="3818467"/>
            <a:ext cx="4013200" cy="5164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도중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특정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지역의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즉시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제공받기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어렵고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검색을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위해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별도의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수고가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필요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467" y="1803400"/>
            <a:ext cx="4377267" cy="4233333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985000" y="3022600"/>
            <a:ext cx="2760133" cy="4148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333" b="1" dirty="0">
                <a:solidFill>
                  <a:srgbClr val="404040"/>
                </a:solidFill>
                <a:ea typeface="Pretendard Medium"/>
              </a:rPr>
              <a:t>해결전략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85000" y="3835400"/>
            <a:ext cx="4064000" cy="7789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GPT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를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통한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지역별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추천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제공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:</a:t>
            </a:r>
          </a:p>
          <a:p>
            <a:pPr marL="406420" lvl="1" indent="-22861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사용자가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선택한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여행지에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대한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간단한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</a:t>
            </a:r>
            <a:b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</a:b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(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추천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음식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유명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관광지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등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)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를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실시간으로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제공함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FEE0BB-6F31-D740-73F6-E209FCFF24CD}"/>
              </a:ext>
            </a:extLst>
          </p:cNvPr>
          <p:cNvSpPr txBox="1"/>
          <p:nvPr/>
        </p:nvSpPr>
        <p:spPr>
          <a:xfrm>
            <a:off x="829265" y="226379"/>
            <a:ext cx="331372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03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아이디어 도출 과정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134" y="838200"/>
            <a:ext cx="3572933" cy="5504543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067" y="811591"/>
            <a:ext cx="3987800" cy="5504543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431655765" y="-1347275267"/>
            <a:ext cx="1431655765" cy="1431655765"/>
            <a:chOff x="1431655765" y="-1347275267"/>
            <a:chExt cx="1431655765" cy="1431655765"/>
          </a:xfrm>
        </p:grpSpPr>
      </p:grpSp>
      <p:sp>
        <p:nvSpPr>
          <p:cNvPr id="35" name="TextBox 35"/>
          <p:cNvSpPr txBox="1"/>
          <p:nvPr/>
        </p:nvSpPr>
        <p:spPr>
          <a:xfrm>
            <a:off x="237067" y="1253067"/>
            <a:ext cx="3962400" cy="50630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용도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:</a:t>
            </a:r>
          </a:p>
          <a:p>
            <a:pPr marL="397953" lvl="1" indent="-22861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주된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작성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및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처리</a:t>
            </a:r>
          </a:p>
          <a:p>
            <a:pPr marL="567295" lvl="2" indent="-228611">
              <a:lnSpc>
                <a:spcPct val="124499"/>
              </a:lnSpc>
              <a:buClr>
                <a:srgbClr val="000000"/>
              </a:buClr>
              <a:buFont typeface="Arial"/>
              <a:buChar char="■"/>
            </a:pP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사용자가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선택한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스타일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지역을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기반으로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개인화된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일정을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자동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생성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  <a:p>
            <a:pPr marL="397953" lvl="1" indent="-22861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채팅을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통한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보완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및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예외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처리</a:t>
            </a:r>
          </a:p>
          <a:p>
            <a:pPr marL="567295" lvl="2" indent="-228611">
              <a:lnSpc>
                <a:spcPct val="124499"/>
              </a:lnSpc>
              <a:buClr>
                <a:srgbClr val="000000"/>
              </a:buClr>
              <a:buFont typeface="Arial"/>
              <a:buChar char="■"/>
            </a:pP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사용자의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대화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기록을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분석하여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작성에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필요한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정보가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미흡한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경우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추가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질문을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통해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데이터를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보완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  <a:p>
            <a:pPr marL="567295" lvl="2" indent="-228611">
              <a:lnSpc>
                <a:spcPct val="124499"/>
              </a:lnSpc>
              <a:buClr>
                <a:srgbClr val="000000"/>
              </a:buClr>
              <a:buFont typeface="Arial"/>
              <a:buChar char="■"/>
            </a:pP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부족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시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필요한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값을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자동으로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파악하고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관련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데이터를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검색하거나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생성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  <a:p>
            <a:pPr marL="397953" lvl="1" indent="-22861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검색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및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연동</a:t>
            </a:r>
          </a:p>
          <a:p>
            <a:pPr marL="567295" lvl="2" indent="-228611">
              <a:lnSpc>
                <a:spcPct val="124499"/>
              </a:lnSpc>
              <a:buClr>
                <a:srgbClr val="000000"/>
              </a:buClr>
              <a:buFont typeface="Arial"/>
              <a:buChar char="■"/>
            </a:pP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사용자가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검색을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요청하면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질문에서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핵심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키워드를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추출하고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검색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쿼리를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생성하여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GEMINI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호출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  <a:p>
            <a:pPr marL="567295" lvl="2" indent="-228611">
              <a:lnSpc>
                <a:spcPct val="124499"/>
              </a:lnSpc>
              <a:buClr>
                <a:srgbClr val="000000"/>
              </a:buClr>
              <a:buFont typeface="Arial"/>
              <a:buChar char="■"/>
            </a:pP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PLACE_API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를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활용해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특정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장소를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검색하고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장소에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대한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상세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데이터를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수집</a:t>
            </a:r>
          </a:p>
          <a:p>
            <a:pPr marL="397953" lvl="1" indent="-22861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클라이언트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데이터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보완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및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전달</a:t>
            </a:r>
          </a:p>
          <a:p>
            <a:pPr marL="567295" lvl="2" indent="-228611">
              <a:lnSpc>
                <a:spcPct val="124499"/>
              </a:lnSpc>
              <a:buClr>
                <a:srgbClr val="000000"/>
              </a:buClr>
              <a:buFont typeface="Arial"/>
              <a:buChar char="■"/>
            </a:pP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클라이언트로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데이터를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전달하기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전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누락된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(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예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: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장소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주소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)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가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있다면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이를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자동으로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감지하고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PLACE_API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를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통해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보완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00667" y="872067"/>
            <a:ext cx="2751667" cy="3386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933" b="1" dirty="0">
                <a:solidFill>
                  <a:srgbClr val="404040"/>
                </a:solidFill>
                <a:latin typeface="Pretendard Medium"/>
              </a:rPr>
              <a:t>GPT-4o</a:t>
            </a: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934" y="838200"/>
            <a:ext cx="423333" cy="414867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734" y="838200"/>
            <a:ext cx="3572933" cy="5504543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550334" y="939800"/>
            <a:ext cx="372533" cy="2370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333">
                <a:solidFill>
                  <a:srgbClr val="404040"/>
                </a:solidFill>
                <a:latin typeface="Pretendard Medium"/>
              </a:rPr>
              <a:t>01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063067" y="1930400"/>
            <a:ext cx="2751667" cy="3386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933" b="1" dirty="0">
                <a:solidFill>
                  <a:srgbClr val="404040"/>
                </a:solidFill>
                <a:latin typeface="Pretendard Medium"/>
              </a:rPr>
              <a:t>GPT-4O-Mini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385733" y="2675467"/>
            <a:ext cx="3429001" cy="25230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용도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:</a:t>
            </a:r>
          </a:p>
          <a:p>
            <a:pPr marL="397953" lvl="1" indent="-22861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사용자의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분류</a:t>
            </a:r>
          </a:p>
          <a:p>
            <a:pPr marL="567295" lvl="2" indent="-228611">
              <a:lnSpc>
                <a:spcPct val="124499"/>
              </a:lnSpc>
              <a:buClr>
                <a:srgbClr val="000000"/>
              </a:buClr>
              <a:buFont typeface="Arial"/>
              <a:buChar char="■"/>
            </a:pP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사용자가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보낸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채팅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내용을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분석하여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b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</a:b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해당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요청이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"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"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인지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b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</a:b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"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작성에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대한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도움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"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인지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파악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  <a:p>
            <a:pPr marL="567295" lvl="2" indent="-228611">
              <a:lnSpc>
                <a:spcPct val="124499"/>
              </a:lnSpc>
              <a:buClr>
                <a:srgbClr val="000000"/>
              </a:buClr>
              <a:buFont typeface="Arial"/>
              <a:buChar char="■"/>
            </a:pP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채팅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내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텍스트에서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사용자의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의도를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b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</a:b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추출하여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정확한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유형을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분류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  <a:p>
            <a:pPr marL="397953" lvl="1" indent="-22861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GPT-4O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와의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협력</a:t>
            </a:r>
          </a:p>
          <a:p>
            <a:pPr marL="567295" lvl="2" indent="-228611">
              <a:lnSpc>
                <a:spcPct val="124499"/>
              </a:lnSpc>
              <a:buClr>
                <a:srgbClr val="000000"/>
              </a:buClr>
              <a:buFont typeface="Arial"/>
              <a:buChar char="■"/>
            </a:pP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사용자의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요청에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따라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GPT-4O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에게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b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</a:b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적절한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요청을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전달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8867" y="1896533"/>
            <a:ext cx="423333" cy="414867"/>
          </a:xfrm>
          <a:prstGeom prst="rect">
            <a:avLst/>
          </a:prstGeom>
        </p:spPr>
      </p:pic>
      <p:sp>
        <p:nvSpPr>
          <p:cNvPr id="42" name="TextBox 42"/>
          <p:cNvSpPr txBox="1"/>
          <p:nvPr/>
        </p:nvSpPr>
        <p:spPr>
          <a:xfrm>
            <a:off x="4512734" y="1998133"/>
            <a:ext cx="372533" cy="2370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333">
                <a:solidFill>
                  <a:srgbClr val="404040"/>
                </a:solidFill>
                <a:latin typeface="Pretendard Medium"/>
              </a:rPr>
              <a:t>02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822267" y="1921933"/>
            <a:ext cx="2751667" cy="3386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933" b="1" dirty="0">
                <a:solidFill>
                  <a:srgbClr val="404040"/>
                </a:solidFill>
                <a:latin typeface="Pretendard Medium"/>
              </a:rPr>
              <a:t>Gemini-1.5</a:t>
            </a:r>
            <a:r>
              <a:rPr lang="en-US" sz="1933" dirty="0">
                <a:solidFill>
                  <a:srgbClr val="404040"/>
                </a:solidFill>
                <a:latin typeface="Pretendard Medium"/>
              </a:rPr>
              <a:t> Pro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144933" y="2667000"/>
            <a:ext cx="3462867" cy="25230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용도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:</a:t>
            </a:r>
          </a:p>
          <a:p>
            <a:pPr marL="397953" lvl="1" indent="-22861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실시간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인터넷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검색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및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최신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제공</a:t>
            </a:r>
          </a:p>
          <a:p>
            <a:pPr marL="567295" lvl="2" indent="-228611">
              <a:lnSpc>
                <a:spcPct val="124499"/>
              </a:lnSpc>
              <a:buClr>
                <a:srgbClr val="000000"/>
              </a:buClr>
              <a:buFont typeface="Arial"/>
              <a:buChar char="■"/>
            </a:pP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사용자의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요청에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따라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GPT-4O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가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전달한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검색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요청을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처리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  <a:p>
            <a:pPr marL="567295" lvl="2" indent="-228611">
              <a:lnSpc>
                <a:spcPct val="124499"/>
              </a:lnSpc>
              <a:buClr>
                <a:srgbClr val="000000"/>
              </a:buClr>
              <a:buFont typeface="Arial"/>
              <a:buChar char="■"/>
            </a:pP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인터넷에서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관련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정보를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실시간으로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검색한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후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결과를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분석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및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정리하여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GPT-4O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에게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전달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  <a:p>
            <a:pPr marL="397953" lvl="1" indent="-22861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저장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시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가격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검색</a:t>
            </a:r>
          </a:p>
          <a:p>
            <a:pPr marL="567295" lvl="2" indent="-228611">
              <a:lnSpc>
                <a:spcPct val="124499"/>
              </a:lnSpc>
              <a:buClr>
                <a:srgbClr val="000000"/>
              </a:buClr>
              <a:buFont typeface="Arial"/>
              <a:buChar char="■"/>
            </a:pP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저장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시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각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장소에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대한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최신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가격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정보를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검색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</p:txBody>
      </p:sp>
      <p:pic>
        <p:nvPicPr>
          <p:cNvPr id="45" name="Picture 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067" y="1888067"/>
            <a:ext cx="423333" cy="414867"/>
          </a:xfrm>
          <a:prstGeom prst="rect">
            <a:avLst/>
          </a:prstGeom>
        </p:spPr>
      </p:pic>
      <p:sp>
        <p:nvSpPr>
          <p:cNvPr id="46" name="TextBox 46"/>
          <p:cNvSpPr txBox="1"/>
          <p:nvPr/>
        </p:nvSpPr>
        <p:spPr>
          <a:xfrm>
            <a:off x="8263467" y="1989667"/>
            <a:ext cx="372533" cy="2370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333">
                <a:solidFill>
                  <a:srgbClr val="404040"/>
                </a:solidFill>
                <a:latin typeface="Pretendard Medium"/>
              </a:rPr>
              <a:t>03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D3C4DB2-5901-B8A9-5A1E-CDB64CA8CEE1}"/>
              </a:ext>
            </a:extLst>
          </p:cNvPr>
          <p:cNvSpPr txBox="1"/>
          <p:nvPr/>
        </p:nvSpPr>
        <p:spPr>
          <a:xfrm>
            <a:off x="286658" y="196503"/>
            <a:ext cx="637546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04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 </a:t>
            </a:r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AI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활용 및 실행 </a:t>
            </a:r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[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활용한 </a:t>
            </a:r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AI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기술 및 도구</a:t>
            </a:r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]</a:t>
            </a:r>
            <a:endParaRPr lang="ko-KR" altLang="en-US" sz="2400" dirty="0">
              <a:solidFill>
                <a:srgbClr val="A99A6F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989666" y="787400"/>
            <a:ext cx="7484533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1.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여행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스타일을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선택하여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자동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일정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작성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200" y="1405467"/>
            <a:ext cx="6358467" cy="5037667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1405467"/>
            <a:ext cx="4478867" cy="5037667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431655765" y="-1347275267"/>
            <a:ext cx="1431655765" cy="1431655765"/>
            <a:chOff x="1431655765" y="-1347275267"/>
            <a:chExt cx="1431655765" cy="1431655765"/>
          </a:xfrm>
        </p:grpSpPr>
      </p:grpSp>
      <p:sp>
        <p:nvSpPr>
          <p:cNvPr id="34" name="TextBox 34"/>
          <p:cNvSpPr txBox="1"/>
          <p:nvPr/>
        </p:nvSpPr>
        <p:spPr>
          <a:xfrm>
            <a:off x="6104467" y="1718733"/>
            <a:ext cx="4592562" cy="4148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333" b="1" dirty="0">
                <a:solidFill>
                  <a:srgbClr val="404040"/>
                </a:solidFill>
                <a:ea typeface="Pretendard Medium"/>
              </a:rPr>
              <a:t>사용</a:t>
            </a:r>
            <a:r>
              <a:rPr lang="en-US" sz="2333" b="1" dirty="0">
                <a:solidFill>
                  <a:srgbClr val="404040"/>
                </a:solidFill>
                <a:latin typeface="Pretendard Medium"/>
              </a:rPr>
              <a:t> </a:t>
            </a:r>
            <a:r>
              <a:rPr lang="ko-KR" altLang="en-US" sz="2333" b="1" dirty="0">
                <a:solidFill>
                  <a:srgbClr val="404040"/>
                </a:solidFill>
                <a:ea typeface="Pretendard Medium"/>
              </a:rPr>
              <a:t>모델</a:t>
            </a:r>
            <a:r>
              <a:rPr lang="en-US" sz="2333" b="1" dirty="0">
                <a:solidFill>
                  <a:srgbClr val="404040"/>
                </a:solidFill>
                <a:latin typeface="Pretendard Medium"/>
              </a:rPr>
              <a:t>: "model" =&gt; "gpt-4o"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511800" y="2421467"/>
            <a:ext cx="5935133" cy="33189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동작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방식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: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입력데이터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수신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: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사용자가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입력한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여행지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태그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여행일정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(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기간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)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데이터를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받는다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관광지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조회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Google Places API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를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통해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입력된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여행지의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관광지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리스트를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가져온다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GPT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메시지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작성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입력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데이터를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기반으로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GPT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에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보낼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메시지를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구성한다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(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다음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페이지에서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자세히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기술예정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)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GPT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호출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GPT-4o API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를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호출하여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일정을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생성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결과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반환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생성된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일정을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JSON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형식으로</a:t>
            </a:r>
            <a:r>
              <a:rPr lang="en-US" sz="140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>
                <a:solidFill>
                  <a:srgbClr val="000000">
                    <a:alpha val="70196"/>
                  </a:srgbClr>
                </a:solidFill>
                <a:ea typeface="Pretendard Light"/>
              </a:rPr>
              <a:t>반환</a:t>
            </a: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3333" y="1701800"/>
            <a:ext cx="457200" cy="457200"/>
          </a:xfrm>
          <a:prstGeom prst="rect">
            <a:avLst/>
          </a:prstGeom>
        </p:spPr>
      </p:pic>
      <p:sp>
        <p:nvSpPr>
          <p:cNvPr id="37" name="TextBox 37"/>
          <p:cNvSpPr txBox="1"/>
          <p:nvPr/>
        </p:nvSpPr>
        <p:spPr>
          <a:xfrm>
            <a:off x="5545667" y="1803400"/>
            <a:ext cx="372533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533">
                <a:solidFill>
                  <a:srgbClr val="404040"/>
                </a:solidFill>
                <a:latin typeface="Pretendard Medium"/>
              </a:rPr>
              <a:t>01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0267" y="2743200"/>
            <a:ext cx="2286000" cy="5588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7667" y="2142067"/>
            <a:ext cx="601133" cy="1524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0267" y="4445000"/>
            <a:ext cx="2286000" cy="5588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7667" y="3843867"/>
            <a:ext cx="601133" cy="1524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6733" y="1634067"/>
            <a:ext cx="1651000" cy="11684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75000" y="1634067"/>
            <a:ext cx="1651000" cy="11684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75000" y="3335867"/>
            <a:ext cx="1651000" cy="11684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6733" y="3335867"/>
            <a:ext cx="1651000" cy="11684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6733" y="5046133"/>
            <a:ext cx="1651000" cy="1168400"/>
          </a:xfrm>
          <a:prstGeom prst="rect">
            <a:avLst/>
          </a:prstGeom>
        </p:spPr>
      </p:pic>
      <p:sp>
        <p:nvSpPr>
          <p:cNvPr id="48" name="TextBox 48"/>
          <p:cNvSpPr txBox="1"/>
          <p:nvPr/>
        </p:nvSpPr>
        <p:spPr>
          <a:xfrm>
            <a:off x="1193800" y="1879600"/>
            <a:ext cx="1159933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000">
                <a:solidFill>
                  <a:srgbClr val="FFFFFF"/>
                </a:solidFill>
                <a:ea typeface="Pretendard Bold"/>
              </a:rPr>
              <a:t>입력데이터수신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420534" y="1879600"/>
            <a:ext cx="1159933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000">
                <a:solidFill>
                  <a:srgbClr val="FFFFFF"/>
                </a:solidFill>
                <a:ea typeface="Pretendard Bold"/>
              </a:rPr>
              <a:t>관광지</a:t>
            </a:r>
            <a:r>
              <a:rPr lang="en-US" sz="2000">
                <a:solidFill>
                  <a:srgbClr val="FFFFFF"/>
                </a:solidFill>
                <a:latin typeface="Pretendard Bold"/>
              </a:rPr>
              <a:t> </a:t>
            </a:r>
            <a:br>
              <a:rPr lang="en-US" sz="2000">
                <a:solidFill>
                  <a:srgbClr val="FFFFFF"/>
                </a:solidFill>
                <a:latin typeface="Pretendard Bold"/>
              </a:rPr>
            </a:br>
            <a:r>
              <a:rPr lang="ko-KR" altLang="en-US" sz="2000">
                <a:solidFill>
                  <a:srgbClr val="FFFFFF"/>
                </a:solidFill>
                <a:ea typeface="Pretendard Bold"/>
              </a:rPr>
              <a:t>정보</a:t>
            </a:r>
            <a:r>
              <a:rPr lang="en-US" sz="200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2000">
                <a:solidFill>
                  <a:srgbClr val="FFFFFF"/>
                </a:solidFill>
                <a:ea typeface="Pretendard Bold"/>
              </a:rPr>
              <a:t>조회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93800" y="3581400"/>
            <a:ext cx="1159933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>
                <a:solidFill>
                  <a:srgbClr val="FFFFFF"/>
                </a:solidFill>
                <a:latin typeface="Pretendard Bold"/>
              </a:rPr>
              <a:t>GPT</a:t>
            </a:r>
            <a:r>
              <a:rPr lang="ko-KR" altLang="en-US" sz="2000">
                <a:solidFill>
                  <a:srgbClr val="FFFFFF"/>
                </a:solidFill>
                <a:ea typeface="Pretendard Bold"/>
              </a:rPr>
              <a:t>요청메시지작성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420534" y="3733800"/>
            <a:ext cx="1159933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>
                <a:solidFill>
                  <a:srgbClr val="FFFFFF"/>
                </a:solidFill>
                <a:latin typeface="Pretendard Bold"/>
              </a:rPr>
              <a:t>GPT</a:t>
            </a:r>
            <a:r>
              <a:rPr lang="ko-KR" altLang="en-US" sz="2000">
                <a:solidFill>
                  <a:srgbClr val="FFFFFF"/>
                </a:solidFill>
                <a:ea typeface="Pretendard Bold"/>
              </a:rPr>
              <a:t>호출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93800" y="5444067"/>
            <a:ext cx="1159933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000">
                <a:solidFill>
                  <a:srgbClr val="FFFFFF"/>
                </a:solidFill>
                <a:ea typeface="Pretendard Bold"/>
              </a:rPr>
              <a:t>결과반환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FA800A3-F2C5-05CE-E30E-F1608B61764B}"/>
              </a:ext>
            </a:extLst>
          </p:cNvPr>
          <p:cNvSpPr txBox="1"/>
          <p:nvPr/>
        </p:nvSpPr>
        <p:spPr>
          <a:xfrm>
            <a:off x="417568" y="186498"/>
            <a:ext cx="28937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04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 </a:t>
            </a:r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AI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활용 및 실행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533" y="1213009"/>
            <a:ext cx="6866467" cy="2944123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132995" y="679610"/>
            <a:ext cx="7599438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1.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여행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스타일을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선택하여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자동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일정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작성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29" y="4182534"/>
            <a:ext cx="11306627" cy="224729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431655765" y="-1347275267"/>
            <a:ext cx="1431655765" cy="1431655765"/>
            <a:chOff x="1431655765" y="-1347275267"/>
            <a:chExt cx="1431655765" cy="1431655765"/>
          </a:xfrm>
        </p:grpSpPr>
      </p:grpSp>
      <p:sp>
        <p:nvSpPr>
          <p:cNvPr id="34" name="TextBox 34"/>
          <p:cNvSpPr txBox="1"/>
          <p:nvPr/>
        </p:nvSpPr>
        <p:spPr>
          <a:xfrm>
            <a:off x="1583267" y="4385734"/>
            <a:ext cx="3888619" cy="27939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933" b="1" dirty="0">
                <a:solidFill>
                  <a:srgbClr val="404040"/>
                </a:solidFill>
                <a:ea typeface="Pretendard Medium"/>
              </a:rPr>
              <a:t>사용</a:t>
            </a:r>
            <a:r>
              <a:rPr lang="en-US" sz="1933" b="1" dirty="0">
                <a:solidFill>
                  <a:srgbClr val="404040"/>
                </a:solidFill>
                <a:latin typeface="Pretendard Medium"/>
              </a:rPr>
              <a:t> </a:t>
            </a:r>
            <a:r>
              <a:rPr lang="ko-KR" altLang="en-US" sz="1933" b="1" dirty="0">
                <a:solidFill>
                  <a:srgbClr val="404040"/>
                </a:solidFill>
                <a:ea typeface="Pretendard Medium"/>
              </a:rPr>
              <a:t>모델</a:t>
            </a:r>
            <a:r>
              <a:rPr lang="en-US" sz="1933" b="1" dirty="0">
                <a:solidFill>
                  <a:srgbClr val="404040"/>
                </a:solidFill>
                <a:latin typeface="Pretendard Medium"/>
              </a:rPr>
              <a:t>: "model" =&gt; "gpt-4o"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83734" y="4783665"/>
            <a:ext cx="3344333" cy="14562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프롬프트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구성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기본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:</a:t>
            </a:r>
          </a:p>
          <a:p>
            <a:pPr marL="364085" lvl="1" indent="-228611">
              <a:lnSpc>
                <a:spcPct val="124499"/>
              </a:lnSpc>
              <a:buAutoNum type="alpha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사용자가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입력한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데이터를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기반으로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여행의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틀을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제공</a:t>
            </a:r>
          </a:p>
          <a:p>
            <a:pPr marL="499558" lvl="2" indent="-228611">
              <a:lnSpc>
                <a:spcPct val="124499"/>
              </a:lnSpc>
              <a:buAutoNum type="roman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기간</a:t>
            </a:r>
          </a:p>
          <a:p>
            <a:pPr marL="499558" lvl="2" indent="-228611">
              <a:lnSpc>
                <a:spcPct val="124499"/>
              </a:lnSpc>
              <a:buAutoNum type="roman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지역</a:t>
            </a:r>
          </a:p>
          <a:p>
            <a:pPr marL="499558" lvl="2" indent="-228611">
              <a:lnSpc>
                <a:spcPct val="124499"/>
              </a:lnSpc>
              <a:buAutoNum type="roman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스타일</a:t>
            </a: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733" y="4377267"/>
            <a:ext cx="381000" cy="381000"/>
          </a:xfrm>
          <a:prstGeom prst="rect">
            <a:avLst/>
          </a:prstGeom>
        </p:spPr>
      </p:pic>
      <p:sp>
        <p:nvSpPr>
          <p:cNvPr id="37" name="TextBox 37"/>
          <p:cNvSpPr txBox="1"/>
          <p:nvPr/>
        </p:nvSpPr>
        <p:spPr>
          <a:xfrm>
            <a:off x="1117600" y="4461933"/>
            <a:ext cx="313267" cy="2370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333" b="1" dirty="0">
                <a:solidFill>
                  <a:srgbClr val="404040"/>
                </a:solidFill>
                <a:latin typeface="Pretendard Medium"/>
              </a:rPr>
              <a:t>01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563534" y="4747381"/>
            <a:ext cx="3344333" cy="144175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프롬프트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구성</a:t>
            </a:r>
          </a:p>
          <a:p>
            <a:pPr lvl="0" algn="l">
              <a:lnSpc>
                <a:spcPct val="124499"/>
              </a:lnSpc>
            </a:pP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2.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일정에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반드시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포함되어야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할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요소를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명시</a:t>
            </a:r>
          </a:p>
          <a:p>
            <a:pPr marL="364085" lvl="1" indent="-228611">
              <a:lnSpc>
                <a:spcPct val="124499"/>
              </a:lnSpc>
              <a:buAutoNum type="alpha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하루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최소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3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곳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이상의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관광지</a:t>
            </a:r>
          </a:p>
          <a:p>
            <a:pPr marL="364085" lvl="1" indent="-228611">
              <a:lnSpc>
                <a:spcPct val="124499"/>
              </a:lnSpc>
              <a:buAutoNum type="alpha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매일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아침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점심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저녁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식사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장소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포함</a:t>
            </a:r>
          </a:p>
          <a:p>
            <a:pPr marL="364085" lvl="1" indent="-228611">
              <a:lnSpc>
                <a:spcPct val="124499"/>
              </a:lnSpc>
              <a:buAutoNum type="alpha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사용자가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선택한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스타일에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적합한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장소일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것</a:t>
            </a:r>
          </a:p>
          <a:p>
            <a:pPr marL="364085" lvl="1" indent="-228611">
              <a:lnSpc>
                <a:spcPct val="124499"/>
              </a:lnSpc>
              <a:buAutoNum type="alpha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이동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동선의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현실성을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고려할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것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924800" y="4461933"/>
            <a:ext cx="3615267" cy="182880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프롬프트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구성</a:t>
            </a:r>
          </a:p>
          <a:p>
            <a:pPr lvl="0" algn="l">
              <a:lnSpc>
                <a:spcPct val="124499"/>
              </a:lnSpc>
            </a:pP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3. AI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가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장소를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선정할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때의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기준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제시</a:t>
            </a:r>
          </a:p>
          <a:p>
            <a:pPr marL="364085" lvl="1" indent="-228611">
              <a:lnSpc>
                <a:spcPct val="124499"/>
              </a:lnSpc>
              <a:buAutoNum type="alpha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실제로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존재하는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유명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관광지와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장소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위주로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구성할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것</a:t>
            </a:r>
          </a:p>
          <a:p>
            <a:pPr marL="364085" lvl="1" indent="-228611">
              <a:lnSpc>
                <a:spcPct val="124499"/>
              </a:lnSpc>
              <a:buAutoNum type="alpha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정확한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장소명과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주소를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사용할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것</a:t>
            </a:r>
          </a:p>
          <a:p>
            <a:pPr marL="364085" lvl="1" indent="-228611">
              <a:lnSpc>
                <a:spcPct val="124499"/>
              </a:lnSpc>
              <a:buAutoNum type="alpha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식당은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검색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가능한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유명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식당으로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설정할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것</a:t>
            </a:r>
          </a:p>
          <a:p>
            <a:pPr lvl="0" algn="l">
              <a:lnSpc>
                <a:spcPct val="124499"/>
              </a:lnSpc>
            </a:pP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4. JSON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출력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형식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요구</a:t>
            </a:r>
          </a:p>
          <a:p>
            <a:pPr marL="364085" lvl="1" indent="-228611">
              <a:lnSpc>
                <a:spcPct val="124499"/>
              </a:lnSpc>
              <a:buAutoNum type="alpha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결과물이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일관되도록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특정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JSON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형식으로만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응답하도록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지시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0F7EDE-58BA-499A-161B-D0FE6E7D3C6C}"/>
              </a:ext>
            </a:extLst>
          </p:cNvPr>
          <p:cNvSpPr txBox="1"/>
          <p:nvPr/>
        </p:nvSpPr>
        <p:spPr>
          <a:xfrm>
            <a:off x="417568" y="186498"/>
            <a:ext cx="28937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04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 </a:t>
            </a:r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AI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활용 및 실행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10490200" y="5223934"/>
            <a:ext cx="1761067" cy="1744133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819400" y="761999"/>
            <a:ext cx="61976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>
                <a:solidFill>
                  <a:srgbClr val="404040"/>
                </a:solidFill>
                <a:latin typeface="Pretendard Bold"/>
              </a:rPr>
              <a:t>2.1 </a:t>
            </a:r>
            <a:r>
              <a:rPr lang="ko-KR" altLang="en-US" sz="3000">
                <a:solidFill>
                  <a:srgbClr val="404040"/>
                </a:solidFill>
                <a:ea typeface="Pretendard Bold"/>
              </a:rPr>
              <a:t>채팅의도</a:t>
            </a:r>
            <a:r>
              <a:rPr lang="en-US" sz="300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>
                <a:solidFill>
                  <a:srgbClr val="404040"/>
                </a:solidFill>
                <a:ea typeface="Pretendard Bold"/>
              </a:rPr>
              <a:t>파악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200" y="1405467"/>
            <a:ext cx="6358467" cy="5037667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67" y="1405467"/>
            <a:ext cx="4478867" cy="5037667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431655765" y="-1347275267"/>
            <a:ext cx="1431655765" cy="1431655765"/>
            <a:chOff x="1431655765" y="-1347275267"/>
            <a:chExt cx="1431655765" cy="1431655765"/>
          </a:xfrm>
        </p:grpSpPr>
      </p:grpSp>
      <p:sp>
        <p:nvSpPr>
          <p:cNvPr id="34" name="TextBox 34"/>
          <p:cNvSpPr txBox="1"/>
          <p:nvPr/>
        </p:nvSpPr>
        <p:spPr>
          <a:xfrm>
            <a:off x="6104467" y="1587499"/>
            <a:ext cx="5216676" cy="4148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333" b="1" dirty="0">
                <a:solidFill>
                  <a:srgbClr val="404040"/>
                </a:solidFill>
                <a:ea typeface="Pretendard Medium"/>
              </a:rPr>
              <a:t>사용</a:t>
            </a:r>
            <a:r>
              <a:rPr lang="en-US" sz="2333" b="1" dirty="0">
                <a:solidFill>
                  <a:srgbClr val="404040"/>
                </a:solidFill>
                <a:latin typeface="Pretendard Medium"/>
              </a:rPr>
              <a:t> </a:t>
            </a:r>
            <a:r>
              <a:rPr lang="ko-KR" altLang="en-US" sz="2333" b="1" dirty="0">
                <a:solidFill>
                  <a:srgbClr val="404040"/>
                </a:solidFill>
                <a:ea typeface="Pretendard Medium"/>
              </a:rPr>
              <a:t>모델</a:t>
            </a:r>
            <a:r>
              <a:rPr lang="en-US" sz="2333" b="1" dirty="0">
                <a:solidFill>
                  <a:srgbClr val="404040"/>
                </a:solidFill>
                <a:latin typeface="Pretendard Medium"/>
              </a:rPr>
              <a:t>: "model" =&gt; "gpt-4o-mini"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511800" y="2103965"/>
            <a:ext cx="6129867" cy="433916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동작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방식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: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입력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데이터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수신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 err="1">
                <a:solidFill>
                  <a:srgbClr val="000000">
                    <a:alpha val="70196"/>
                  </a:srgbClr>
                </a:solidFill>
                <a:ea typeface="Pretendard Light"/>
              </a:rPr>
              <a:t>채팅한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내용을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수신하여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데이터를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처리함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(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예시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) "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작성을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도와주세요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."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또는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"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경복궁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입장료는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얼마인가요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?"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의도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파악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사용자의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입력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(prompt)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기반으로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요청의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의도를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파악함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의도는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두가지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형식으로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분류됨</a:t>
            </a:r>
          </a:p>
          <a:p>
            <a:pPr marL="584229" lvl="2" indent="-228611">
              <a:lnSpc>
                <a:spcPct val="124499"/>
              </a:lnSpc>
              <a:buAutoNum type="romanLcPeriod"/>
            </a:pP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schedule(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생성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)</a:t>
            </a:r>
          </a:p>
          <a:p>
            <a:pPr marL="584229" lvl="2" indent="-228611">
              <a:lnSpc>
                <a:spcPct val="124499"/>
              </a:lnSpc>
              <a:buAutoNum type="romanLcPeriod"/>
            </a:pP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information(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검색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(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다음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페이지에서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자세히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기술예정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)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라우팅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및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작업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수행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사용자의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의도에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따라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작업을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처리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schedule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: </a:t>
            </a:r>
            <a:r>
              <a:rPr lang="en-US" sz="1400" dirty="0" err="1">
                <a:solidFill>
                  <a:srgbClr val="000000">
                    <a:alpha val="70196"/>
                  </a:srgbClr>
                </a:solidFill>
                <a:latin typeface="Pretendard Light"/>
              </a:rPr>
              <a:t>chat_route.php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라우팅하여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생성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작업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수행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information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: </a:t>
            </a:r>
            <a:r>
              <a:rPr lang="en-US" sz="1400" dirty="0" err="1">
                <a:solidFill>
                  <a:srgbClr val="000000">
                    <a:alpha val="70196"/>
                  </a:srgbClr>
                </a:solidFill>
                <a:latin typeface="Pretendard Light"/>
              </a:rPr>
              <a:t>chat_search.php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라우팅하여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검색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작업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수행</a:t>
            </a: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8734" y="1545166"/>
            <a:ext cx="457200" cy="457200"/>
          </a:xfrm>
          <a:prstGeom prst="rect">
            <a:avLst/>
          </a:prstGeom>
        </p:spPr>
      </p:pic>
      <p:sp>
        <p:nvSpPr>
          <p:cNvPr id="37" name="TextBox 37"/>
          <p:cNvSpPr txBox="1"/>
          <p:nvPr/>
        </p:nvSpPr>
        <p:spPr>
          <a:xfrm>
            <a:off x="5571068" y="1646766"/>
            <a:ext cx="372533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533" b="1">
                <a:solidFill>
                  <a:srgbClr val="404040"/>
                </a:solidFill>
                <a:latin typeface="Pretendard Medium"/>
              </a:rPr>
              <a:t>01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4400" y="1490134"/>
            <a:ext cx="1701800" cy="1185333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9400" y="2726267"/>
            <a:ext cx="423333" cy="440267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4400" y="3293534"/>
            <a:ext cx="1701800" cy="1185333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19400" y="4529667"/>
            <a:ext cx="423333" cy="440267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84400" y="5096934"/>
            <a:ext cx="1701800" cy="1185333"/>
          </a:xfrm>
          <a:prstGeom prst="rect">
            <a:avLst/>
          </a:prstGeom>
        </p:spPr>
      </p:pic>
      <p:sp>
        <p:nvSpPr>
          <p:cNvPr id="44" name="TextBox 44"/>
          <p:cNvSpPr txBox="1"/>
          <p:nvPr/>
        </p:nvSpPr>
        <p:spPr>
          <a:xfrm>
            <a:off x="2446867" y="1896533"/>
            <a:ext cx="1185333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000">
                <a:solidFill>
                  <a:srgbClr val="FFFFFF"/>
                </a:solidFill>
                <a:ea typeface="Pretendard Bold"/>
              </a:rPr>
              <a:t>입력받기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446867" y="3699933"/>
            <a:ext cx="1185333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000">
                <a:solidFill>
                  <a:srgbClr val="FFFFFF"/>
                </a:solidFill>
                <a:ea typeface="Pretendard Bold"/>
              </a:rPr>
              <a:t>의도파악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446867" y="5350933"/>
            <a:ext cx="1185333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>
                <a:solidFill>
                  <a:srgbClr val="FFFFFF"/>
                </a:solidFill>
                <a:latin typeface="Pretendard Bold"/>
              </a:rPr>
              <a:t>GPT </a:t>
            </a:r>
            <a:r>
              <a:rPr lang="ko-KR" altLang="en-US" sz="2000">
                <a:solidFill>
                  <a:srgbClr val="FFFFFF"/>
                </a:solidFill>
                <a:ea typeface="Pretendard Bold"/>
              </a:rPr>
              <a:t>요청</a:t>
            </a:r>
            <a:r>
              <a:rPr lang="en-US" sz="200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2000">
                <a:solidFill>
                  <a:srgbClr val="FFFFFF"/>
                </a:solidFill>
                <a:ea typeface="Pretendard Bold"/>
              </a:rPr>
              <a:t>및</a:t>
            </a:r>
            <a:r>
              <a:rPr lang="en-US" sz="200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2000">
                <a:solidFill>
                  <a:srgbClr val="FFFFFF"/>
                </a:solidFill>
                <a:ea typeface="Pretendard Bold"/>
              </a:rPr>
              <a:t>처리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52013F7-29C8-28B7-0986-AA86AAA184D9}"/>
              </a:ext>
            </a:extLst>
          </p:cNvPr>
          <p:cNvSpPr txBox="1"/>
          <p:nvPr/>
        </p:nvSpPr>
        <p:spPr>
          <a:xfrm>
            <a:off x="417568" y="186498"/>
            <a:ext cx="28937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04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 </a:t>
            </a:r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AI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활용 및 실행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983" y="1185072"/>
            <a:ext cx="6532034" cy="3302261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997200" y="685800"/>
            <a:ext cx="61976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dirty="0">
                <a:solidFill>
                  <a:srgbClr val="404040"/>
                </a:solidFill>
                <a:latin typeface="Pretendard Bold"/>
              </a:rPr>
              <a:t>2.1 </a:t>
            </a:r>
            <a:r>
              <a:rPr lang="ko-KR" altLang="en-US" sz="3000" dirty="0">
                <a:solidFill>
                  <a:srgbClr val="404040"/>
                </a:solidFill>
                <a:ea typeface="Pretendard Bold"/>
              </a:rPr>
              <a:t>채팅의도</a:t>
            </a:r>
            <a:r>
              <a:rPr lang="en-US" sz="3000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dirty="0">
                <a:solidFill>
                  <a:srgbClr val="404040"/>
                </a:solidFill>
                <a:ea typeface="Pretendard Bold"/>
              </a:rPr>
              <a:t>파악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4470400"/>
            <a:ext cx="10828867" cy="1947333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431655765" y="-1347275267"/>
            <a:ext cx="1431655765" cy="1431655765"/>
            <a:chOff x="1431655765" y="-1347275267"/>
            <a:chExt cx="1431655765" cy="1431655765"/>
          </a:xfrm>
        </p:grpSpPr>
      </p:grpSp>
      <p:sp>
        <p:nvSpPr>
          <p:cNvPr id="34" name="TextBox 34"/>
          <p:cNvSpPr txBox="1"/>
          <p:nvPr/>
        </p:nvSpPr>
        <p:spPr>
          <a:xfrm>
            <a:off x="1651000" y="4573211"/>
            <a:ext cx="5040086" cy="30359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933" b="1" dirty="0">
                <a:solidFill>
                  <a:srgbClr val="404040"/>
                </a:solidFill>
                <a:ea typeface="Pretendard Medium"/>
              </a:rPr>
              <a:t>사용</a:t>
            </a:r>
            <a:r>
              <a:rPr lang="en-US" sz="1933" b="1" dirty="0">
                <a:solidFill>
                  <a:srgbClr val="404040"/>
                </a:solidFill>
                <a:latin typeface="Pretendard Medium"/>
              </a:rPr>
              <a:t> </a:t>
            </a:r>
            <a:r>
              <a:rPr lang="ko-KR" altLang="en-US" sz="1933" b="1" dirty="0">
                <a:solidFill>
                  <a:srgbClr val="404040"/>
                </a:solidFill>
                <a:ea typeface="Pretendard Medium"/>
              </a:rPr>
              <a:t>모델</a:t>
            </a:r>
            <a:r>
              <a:rPr lang="en-US" sz="1933" b="1" dirty="0">
                <a:solidFill>
                  <a:srgbClr val="404040"/>
                </a:solidFill>
                <a:latin typeface="Pretendard Medium"/>
              </a:rPr>
              <a:t>: "model" =&gt; "gpt-4o-mini"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83734" y="5037667"/>
            <a:ext cx="3676952" cy="12615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프롬프트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구성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유형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분류</a:t>
            </a:r>
          </a:p>
          <a:p>
            <a:pPr marL="364085" lvl="1" indent="-228611">
              <a:lnSpc>
                <a:spcPct val="124499"/>
              </a:lnSpc>
              <a:buAutoNum type="alpha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사용자의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입력을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두가지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유형으로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분류하도록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명시</a:t>
            </a:r>
          </a:p>
          <a:p>
            <a:pPr marL="499558" lvl="2" indent="-228611">
              <a:lnSpc>
                <a:spcPct val="124499"/>
              </a:lnSpc>
              <a:buAutoNum type="roman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생성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(schedule)</a:t>
            </a:r>
          </a:p>
          <a:p>
            <a:pPr marL="499558" lvl="2" indent="-228611">
              <a:lnSpc>
                <a:spcPct val="124499"/>
              </a:lnSpc>
              <a:buAutoNum type="roman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검색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(information)</a:t>
            </a: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734" y="4538134"/>
            <a:ext cx="381000" cy="381000"/>
          </a:xfrm>
          <a:prstGeom prst="rect">
            <a:avLst/>
          </a:prstGeom>
        </p:spPr>
      </p:pic>
      <p:sp>
        <p:nvSpPr>
          <p:cNvPr id="37" name="TextBox 37"/>
          <p:cNvSpPr txBox="1"/>
          <p:nvPr/>
        </p:nvSpPr>
        <p:spPr>
          <a:xfrm>
            <a:off x="1117601" y="4622800"/>
            <a:ext cx="313267" cy="2370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333" b="1">
                <a:solidFill>
                  <a:srgbClr val="404040"/>
                </a:solidFill>
                <a:latin typeface="Pretendard Medium"/>
              </a:rPr>
              <a:t>01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260219" y="5101167"/>
            <a:ext cx="3344333" cy="7535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프롬프트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구성</a:t>
            </a:r>
          </a:p>
          <a:p>
            <a:pPr lvl="0" algn="l">
              <a:lnSpc>
                <a:spcPct val="124499"/>
              </a:lnSpc>
            </a:pP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2.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응답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형식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지시</a:t>
            </a:r>
          </a:p>
          <a:p>
            <a:pPr marL="364085" lvl="1" indent="-228611">
              <a:lnSpc>
                <a:spcPct val="124499"/>
              </a:lnSpc>
              <a:buAutoNum type="alpha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반드시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특정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JSON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형식으로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응답하도록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명시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B54D0E1-268E-A15B-9830-F055634D5873}"/>
              </a:ext>
            </a:extLst>
          </p:cNvPr>
          <p:cNvSpPr txBox="1"/>
          <p:nvPr/>
        </p:nvSpPr>
        <p:spPr>
          <a:xfrm>
            <a:off x="417568" y="186498"/>
            <a:ext cx="28937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04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 </a:t>
            </a:r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AI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활용 및 실행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10490200" y="5223934"/>
            <a:ext cx="1761067" cy="1744133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664884" y="611414"/>
            <a:ext cx="61976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2.2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채팅을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통한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검색기능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833" y="1102481"/>
            <a:ext cx="6358467" cy="5291666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" y="1144209"/>
            <a:ext cx="5096933" cy="463610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431655765" y="-1347275267"/>
            <a:ext cx="1431655765" cy="1431655765"/>
            <a:chOff x="1431655765" y="-1347275267"/>
            <a:chExt cx="1431655765" cy="1431655765"/>
          </a:xfrm>
        </p:grpSpPr>
      </p:grpSp>
      <p:sp>
        <p:nvSpPr>
          <p:cNvPr id="34" name="TextBox 34"/>
          <p:cNvSpPr txBox="1"/>
          <p:nvPr/>
        </p:nvSpPr>
        <p:spPr>
          <a:xfrm>
            <a:off x="6096000" y="1119414"/>
            <a:ext cx="4792133" cy="4148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333" b="1" dirty="0">
                <a:solidFill>
                  <a:srgbClr val="404040"/>
                </a:solidFill>
                <a:ea typeface="Pretendard Medium"/>
              </a:rPr>
              <a:t>사용</a:t>
            </a:r>
            <a:r>
              <a:rPr lang="en-US" sz="2333" b="1" dirty="0">
                <a:solidFill>
                  <a:srgbClr val="404040"/>
                </a:solidFill>
                <a:latin typeface="Pretendard Medium"/>
              </a:rPr>
              <a:t> </a:t>
            </a:r>
            <a:r>
              <a:rPr lang="ko-KR" altLang="en-US" sz="2333" b="1" dirty="0">
                <a:solidFill>
                  <a:srgbClr val="404040"/>
                </a:solidFill>
                <a:ea typeface="Pretendard Medium"/>
              </a:rPr>
              <a:t>모델</a:t>
            </a:r>
            <a:r>
              <a:rPr lang="en-US" sz="2333" b="1" dirty="0">
                <a:solidFill>
                  <a:srgbClr val="404040"/>
                </a:solidFill>
                <a:latin typeface="Pretendard Medium"/>
              </a:rPr>
              <a:t>: "model" =&gt; "gpt-4o"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410200" y="2095500"/>
            <a:ext cx="6261100" cy="425873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동작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방식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: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입력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데이터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수신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GPT-4o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호출하여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사용자의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요청에서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필요한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키워드와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카테고리를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추출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ko-KR" altLang="en-US" sz="1400" dirty="0" err="1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사용자능한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카테고리</a:t>
            </a:r>
          </a:p>
          <a:p>
            <a:pPr marL="584229" lvl="2" indent="-228611">
              <a:lnSpc>
                <a:spcPct val="124499"/>
              </a:lnSpc>
              <a:buAutoNum type="romanLcPeriod"/>
            </a:pP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[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기본정보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이용정보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교통정보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관광정보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편의정보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이벤트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b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</a:b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날씨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안전정보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방문자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리뷰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]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검색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생성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추출된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키워드와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카테고리를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기반으로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검색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생성</a:t>
            </a:r>
          </a:p>
          <a:p>
            <a:pPr marL="584229" lvl="2" indent="-228611">
              <a:lnSpc>
                <a:spcPct val="124499"/>
              </a:lnSpc>
              <a:buAutoNum type="romanL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예시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: "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경복궁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입장료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", "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경복궁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교통정보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"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Gemini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검색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실행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병렬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검색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프로세스를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통해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검색들을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동시에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처리함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결과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처리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및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정리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Gemini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에서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반환된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검색결과를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키워드와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카테고리별로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 err="1">
                <a:solidFill>
                  <a:srgbClr val="000000">
                    <a:alpha val="70196"/>
                  </a:srgbClr>
                </a:solidFill>
                <a:ea typeface="Pretendard Light"/>
              </a:rPr>
              <a:t>구조화하여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정리함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검색된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결과를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기반으로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GPT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호출하여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응답메시지를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생성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결과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반환</a:t>
            </a: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4866" y="1102481"/>
            <a:ext cx="457200" cy="457200"/>
          </a:xfrm>
          <a:prstGeom prst="rect">
            <a:avLst/>
          </a:prstGeom>
        </p:spPr>
      </p:pic>
      <p:sp>
        <p:nvSpPr>
          <p:cNvPr id="37" name="TextBox 37"/>
          <p:cNvSpPr txBox="1"/>
          <p:nvPr/>
        </p:nvSpPr>
        <p:spPr>
          <a:xfrm>
            <a:off x="5537200" y="1204081"/>
            <a:ext cx="372533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533" b="1">
                <a:solidFill>
                  <a:srgbClr val="404040"/>
                </a:solidFill>
                <a:latin typeface="Pretendard Medium"/>
              </a:rPr>
              <a:t>01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096000" y="1635881"/>
            <a:ext cx="4792133" cy="4148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333" b="1" dirty="0">
                <a:solidFill>
                  <a:srgbClr val="404040"/>
                </a:solidFill>
                <a:ea typeface="Pretendard Medium"/>
              </a:rPr>
              <a:t>사용</a:t>
            </a:r>
            <a:r>
              <a:rPr lang="en-US" sz="2333" b="1" dirty="0">
                <a:solidFill>
                  <a:srgbClr val="404040"/>
                </a:solidFill>
                <a:latin typeface="Pretendard Medium"/>
              </a:rPr>
              <a:t> </a:t>
            </a:r>
            <a:r>
              <a:rPr lang="ko-KR" altLang="en-US" sz="2333" b="1" dirty="0">
                <a:solidFill>
                  <a:srgbClr val="404040"/>
                </a:solidFill>
                <a:ea typeface="Pretendard Medium"/>
              </a:rPr>
              <a:t>모델</a:t>
            </a:r>
            <a:r>
              <a:rPr lang="en-US" sz="2333" b="1" dirty="0">
                <a:solidFill>
                  <a:srgbClr val="404040"/>
                </a:solidFill>
                <a:latin typeface="Pretendard Medium"/>
              </a:rPr>
              <a:t>: gemini-1.5-pro</a:t>
            </a:r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4866" y="1618948"/>
            <a:ext cx="457200" cy="457200"/>
          </a:xfrm>
          <a:prstGeom prst="rect">
            <a:avLst/>
          </a:prstGeom>
        </p:spPr>
      </p:pic>
      <p:sp>
        <p:nvSpPr>
          <p:cNvPr id="40" name="TextBox 40"/>
          <p:cNvSpPr txBox="1"/>
          <p:nvPr/>
        </p:nvSpPr>
        <p:spPr>
          <a:xfrm>
            <a:off x="5537200" y="1712081"/>
            <a:ext cx="372533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533" b="1">
                <a:solidFill>
                  <a:srgbClr val="404040"/>
                </a:solidFill>
                <a:latin typeface="Pretendard Medium"/>
              </a:rPr>
              <a:t>02</a:t>
            </a: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200" y="2700867"/>
            <a:ext cx="110067" cy="474133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200" y="3945467"/>
            <a:ext cx="110067" cy="474133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5400000">
            <a:off x="1651000" y="4301067"/>
            <a:ext cx="110067" cy="474133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33600" y="3996267"/>
            <a:ext cx="110067" cy="474133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33600" y="2751667"/>
            <a:ext cx="110067" cy="474133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3454400" y="1871134"/>
            <a:ext cx="110067" cy="474133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000" y="1871133"/>
            <a:ext cx="1388533" cy="9906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000" y="3090333"/>
            <a:ext cx="1388533" cy="9906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7000" y="4301067"/>
            <a:ext cx="1388533" cy="990600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33800" y="1871133"/>
            <a:ext cx="1388533" cy="9906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30400" y="4301067"/>
            <a:ext cx="1388533" cy="9906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30400" y="3090333"/>
            <a:ext cx="1388533" cy="9906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30400" y="1871133"/>
            <a:ext cx="1388533" cy="990600"/>
          </a:xfrm>
          <a:prstGeom prst="rect">
            <a:avLst/>
          </a:prstGeom>
        </p:spPr>
      </p:pic>
      <p:sp>
        <p:nvSpPr>
          <p:cNvPr id="54" name="TextBox 54"/>
          <p:cNvSpPr txBox="1"/>
          <p:nvPr/>
        </p:nvSpPr>
        <p:spPr>
          <a:xfrm>
            <a:off x="364067" y="2099733"/>
            <a:ext cx="922867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1600">
                <a:solidFill>
                  <a:srgbClr val="FFFFFF"/>
                </a:solidFill>
                <a:ea typeface="Pretendard Bold"/>
              </a:rPr>
              <a:t>입력데이터</a:t>
            </a:r>
            <a:r>
              <a:rPr lang="en-US" sz="160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1600">
                <a:solidFill>
                  <a:srgbClr val="FFFFFF"/>
                </a:solidFill>
                <a:ea typeface="Pretendard Bold"/>
              </a:rPr>
              <a:t>수신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125134" y="2099733"/>
            <a:ext cx="1007533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1600">
                <a:solidFill>
                  <a:srgbClr val="FFFFFF"/>
                </a:solidFill>
                <a:ea typeface="Pretendard Bold"/>
              </a:rPr>
              <a:t>응답</a:t>
            </a:r>
            <a:r>
              <a:rPr lang="en-US" sz="160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1600">
                <a:solidFill>
                  <a:srgbClr val="FFFFFF"/>
                </a:solidFill>
                <a:ea typeface="Pretendard Bold"/>
              </a:rPr>
              <a:t>메시지</a:t>
            </a:r>
            <a:r>
              <a:rPr lang="en-US" sz="160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1600">
                <a:solidFill>
                  <a:srgbClr val="FFFFFF"/>
                </a:solidFill>
                <a:ea typeface="Pretendard Bold"/>
              </a:rPr>
              <a:t>구성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21733" y="3437467"/>
            <a:ext cx="999067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1600">
                <a:solidFill>
                  <a:srgbClr val="FFFFFF"/>
                </a:solidFill>
                <a:ea typeface="Pretendard Bold"/>
              </a:rPr>
              <a:t>키워드</a:t>
            </a:r>
            <a:r>
              <a:rPr lang="en-US" sz="160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1600">
                <a:solidFill>
                  <a:srgbClr val="FFFFFF"/>
                </a:solidFill>
                <a:ea typeface="Pretendard Bold"/>
              </a:rPr>
              <a:t>추출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167467" y="3310467"/>
            <a:ext cx="922867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1600">
                <a:solidFill>
                  <a:srgbClr val="FFFFFF"/>
                </a:solidFill>
                <a:ea typeface="Pretendard Bold"/>
              </a:rPr>
              <a:t>결과</a:t>
            </a:r>
            <a:r>
              <a:rPr lang="en-US" sz="160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1600">
                <a:solidFill>
                  <a:srgbClr val="FFFFFF"/>
                </a:solidFill>
                <a:ea typeface="Pretendard Bold"/>
              </a:rPr>
              <a:t>처리</a:t>
            </a:r>
            <a:r>
              <a:rPr lang="en-US" sz="160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1600">
                <a:solidFill>
                  <a:srgbClr val="FFFFFF"/>
                </a:solidFill>
                <a:ea typeface="Pretendard Bold"/>
              </a:rPr>
              <a:t>및</a:t>
            </a:r>
            <a:r>
              <a:rPr lang="en-US" sz="160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1600">
                <a:solidFill>
                  <a:srgbClr val="FFFFFF"/>
                </a:solidFill>
                <a:ea typeface="Pretendard Bold"/>
              </a:rPr>
              <a:t>정리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2167467" y="4487333"/>
            <a:ext cx="922867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600">
                <a:solidFill>
                  <a:srgbClr val="FFFFFF"/>
                </a:solidFill>
                <a:latin typeface="Pretendard Bold"/>
              </a:rPr>
              <a:t>GEMINI </a:t>
            </a:r>
            <a:r>
              <a:rPr lang="ko-KR" altLang="en-US" sz="1600">
                <a:solidFill>
                  <a:srgbClr val="FFFFFF"/>
                </a:solidFill>
                <a:ea typeface="Pretendard Bold"/>
              </a:rPr>
              <a:t>검색</a:t>
            </a:r>
            <a:r>
              <a:rPr lang="en-US" sz="160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1600">
                <a:solidFill>
                  <a:srgbClr val="FFFFFF"/>
                </a:solidFill>
                <a:ea typeface="Pretendard Bold"/>
              </a:rPr>
              <a:t>실행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64067" y="4385734"/>
            <a:ext cx="922867" cy="8043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667">
                <a:solidFill>
                  <a:srgbClr val="FFFFFF"/>
                </a:solidFill>
                <a:latin typeface="Pretendard Bold"/>
              </a:rPr>
              <a:t>GEMINI </a:t>
            </a:r>
            <a:r>
              <a:rPr lang="ko-KR" altLang="en-US" sz="1667">
                <a:solidFill>
                  <a:srgbClr val="FFFFFF"/>
                </a:solidFill>
                <a:ea typeface="Pretendard Bold"/>
              </a:rPr>
              <a:t>검색</a:t>
            </a:r>
            <a:r>
              <a:rPr lang="en-US" sz="1667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1667">
                <a:solidFill>
                  <a:srgbClr val="FFFFFF"/>
                </a:solidFill>
                <a:ea typeface="Pretendard Bold"/>
              </a:rPr>
              <a:t>요청</a:t>
            </a:r>
            <a:r>
              <a:rPr lang="en-US" sz="1667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1667">
                <a:solidFill>
                  <a:srgbClr val="FFFFFF"/>
                </a:solidFill>
                <a:ea typeface="Pretendard Bold"/>
              </a:rPr>
              <a:t>생성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962400" y="2201333"/>
            <a:ext cx="922867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1600">
                <a:solidFill>
                  <a:srgbClr val="FFFFFF"/>
                </a:solidFill>
                <a:ea typeface="Pretendard Bold"/>
              </a:rPr>
              <a:t>결과</a:t>
            </a:r>
            <a:r>
              <a:rPr lang="en-US" sz="160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1600">
                <a:solidFill>
                  <a:srgbClr val="FFFFFF"/>
                </a:solidFill>
                <a:ea typeface="Pretendard Bold"/>
              </a:rPr>
              <a:t>반환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EA7AAD-4524-69F4-0F62-4C3CC96E48A2}"/>
              </a:ext>
            </a:extLst>
          </p:cNvPr>
          <p:cNvSpPr txBox="1"/>
          <p:nvPr/>
        </p:nvSpPr>
        <p:spPr>
          <a:xfrm>
            <a:off x="417568" y="186498"/>
            <a:ext cx="28937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04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 </a:t>
            </a:r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AI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활용 및 실행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100" y="1283366"/>
            <a:ext cx="5765800" cy="2914892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755900" y="742042"/>
            <a:ext cx="6712857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2.2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채팅을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통한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검색기능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-(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키워드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추출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)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814" y="4130650"/>
            <a:ext cx="10828867" cy="2235199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431655765" y="-1347275267"/>
            <a:ext cx="1431655765" cy="1431655765"/>
            <a:chOff x="1431655765" y="-1347275267"/>
            <a:chExt cx="1431655765" cy="1431655765"/>
          </a:xfrm>
        </p:grpSpPr>
      </p:grpSp>
      <p:sp>
        <p:nvSpPr>
          <p:cNvPr id="34" name="TextBox 34"/>
          <p:cNvSpPr txBox="1"/>
          <p:nvPr/>
        </p:nvSpPr>
        <p:spPr>
          <a:xfrm>
            <a:off x="1498600" y="4411134"/>
            <a:ext cx="4013200" cy="3471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933" b="1" dirty="0">
                <a:solidFill>
                  <a:srgbClr val="404040"/>
                </a:solidFill>
                <a:ea typeface="Pretendard Medium"/>
              </a:rPr>
              <a:t>사용</a:t>
            </a:r>
            <a:r>
              <a:rPr lang="en-US" sz="1933" b="1" dirty="0">
                <a:solidFill>
                  <a:srgbClr val="404040"/>
                </a:solidFill>
                <a:latin typeface="Pretendard Medium"/>
              </a:rPr>
              <a:t> </a:t>
            </a:r>
            <a:r>
              <a:rPr lang="ko-KR" altLang="en-US" sz="1933" b="1" dirty="0">
                <a:solidFill>
                  <a:srgbClr val="404040"/>
                </a:solidFill>
                <a:ea typeface="Pretendard Medium"/>
              </a:rPr>
              <a:t>모델</a:t>
            </a:r>
            <a:r>
              <a:rPr lang="en-US" sz="1933" b="1" dirty="0">
                <a:solidFill>
                  <a:srgbClr val="404040"/>
                </a:solidFill>
                <a:latin typeface="Pretendard Medium"/>
              </a:rPr>
              <a:t>: "model" =&gt; "gpt-4o"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83734" y="4945744"/>
            <a:ext cx="3344333" cy="103172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프롬프트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구성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키워드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추출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목적</a:t>
            </a:r>
          </a:p>
          <a:p>
            <a:pPr marL="364085" lvl="1" indent="-228611">
              <a:lnSpc>
                <a:spcPct val="124499"/>
              </a:lnSpc>
              <a:buAutoNum type="alpha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사용자가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입력한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질문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또는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내용을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분석하여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필요한</a:t>
            </a:r>
            <a:b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</a:b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정보를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카테고리와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키워드로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분류</a:t>
            </a: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733" y="4377267"/>
            <a:ext cx="381000" cy="381000"/>
          </a:xfrm>
          <a:prstGeom prst="rect">
            <a:avLst/>
          </a:prstGeom>
        </p:spPr>
      </p:pic>
      <p:sp>
        <p:nvSpPr>
          <p:cNvPr id="37" name="TextBox 37"/>
          <p:cNvSpPr txBox="1"/>
          <p:nvPr/>
        </p:nvSpPr>
        <p:spPr>
          <a:xfrm>
            <a:off x="1117600" y="4461933"/>
            <a:ext cx="313267" cy="2370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333" b="1">
                <a:solidFill>
                  <a:srgbClr val="404040"/>
                </a:solidFill>
                <a:latin typeface="Pretendard Medium"/>
              </a:rPr>
              <a:t>01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358191" y="4122726"/>
            <a:ext cx="3344333" cy="233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프롬프트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구성</a:t>
            </a:r>
          </a:p>
          <a:p>
            <a:pPr lvl="0" algn="l">
              <a:lnSpc>
                <a:spcPct val="124499"/>
              </a:lnSpc>
            </a:pP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2.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가능한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카테고리</a:t>
            </a:r>
          </a:p>
          <a:p>
            <a:pPr marL="364085" lvl="1" indent="-228611">
              <a:lnSpc>
                <a:spcPct val="124499"/>
              </a:lnSpc>
              <a:buAutoNum type="alpha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기본정보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(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개요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특징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규모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역사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등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)</a:t>
            </a:r>
          </a:p>
          <a:p>
            <a:pPr marL="364085" lvl="1" indent="-228611">
              <a:lnSpc>
                <a:spcPct val="124499"/>
              </a:lnSpc>
              <a:buAutoNum type="alpha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이용정보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(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영업시간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입장료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할인정보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등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)</a:t>
            </a:r>
          </a:p>
          <a:p>
            <a:pPr marL="364085" lvl="1" indent="-228611">
              <a:lnSpc>
                <a:spcPct val="124499"/>
              </a:lnSpc>
              <a:buAutoNum type="alpha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교통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(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주소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주차장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대중교통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등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)</a:t>
            </a:r>
          </a:p>
          <a:p>
            <a:pPr marL="364085" lvl="1" indent="-228611">
              <a:lnSpc>
                <a:spcPct val="124499"/>
              </a:lnSpc>
              <a:buAutoNum type="alpha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관광정보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(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명소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코스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볼거리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등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)</a:t>
            </a:r>
          </a:p>
          <a:p>
            <a:pPr marL="364085" lvl="1" indent="-228611">
              <a:lnSpc>
                <a:spcPct val="124499"/>
              </a:lnSpc>
              <a:buAutoNum type="alpha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편의정보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(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맛집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카페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쇼핑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등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)</a:t>
            </a:r>
          </a:p>
          <a:p>
            <a:pPr marL="364085" lvl="1" indent="-228611">
              <a:lnSpc>
                <a:spcPct val="124499"/>
              </a:lnSpc>
              <a:buAutoNum type="alpha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이벤트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(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행사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축제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공연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등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)</a:t>
            </a:r>
          </a:p>
          <a:p>
            <a:pPr marL="364085" lvl="1" indent="-228611">
              <a:lnSpc>
                <a:spcPct val="124499"/>
              </a:lnSpc>
              <a:buAutoNum type="alpha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날씨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(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기후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계절별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특징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등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)</a:t>
            </a:r>
          </a:p>
          <a:p>
            <a:pPr marL="364085" lvl="1" indent="-228611">
              <a:lnSpc>
                <a:spcPct val="124499"/>
              </a:lnSpc>
              <a:buAutoNum type="alpha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안전정보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(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규정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준비물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연락처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등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)</a:t>
            </a:r>
          </a:p>
          <a:p>
            <a:pPr marL="364085" lvl="1" indent="-228611">
              <a:lnSpc>
                <a:spcPct val="124499"/>
              </a:lnSpc>
              <a:buAutoNum type="alpha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방문자리뷰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(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후기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평점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등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)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173660" y="5242327"/>
            <a:ext cx="3496733" cy="87363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프롬프트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구성</a:t>
            </a:r>
          </a:p>
          <a:p>
            <a:pPr lvl="0" algn="l">
              <a:lnSpc>
                <a:spcPct val="124499"/>
              </a:lnSpc>
            </a:pP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3.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사용자의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질문을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분석하여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가장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적합한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카테고리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2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선택</a:t>
            </a:r>
          </a:p>
          <a:p>
            <a:pPr lvl="0" algn="l">
              <a:lnSpc>
                <a:spcPct val="124499"/>
              </a:lnSpc>
            </a:pP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4.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선택된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카테고리에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대해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검색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가능한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키워드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추출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53821E2-7451-FD34-9C41-3C7979D89058}"/>
              </a:ext>
            </a:extLst>
          </p:cNvPr>
          <p:cNvSpPr txBox="1"/>
          <p:nvPr/>
        </p:nvSpPr>
        <p:spPr>
          <a:xfrm>
            <a:off x="417568" y="186498"/>
            <a:ext cx="28937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04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 </a:t>
            </a:r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AI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활용 및 실행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20" y="1244600"/>
            <a:ext cx="4460713" cy="4990497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463524" y="651933"/>
            <a:ext cx="8621485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2.2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채팅을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통한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검색기능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-(GEMINI</a:t>
            </a:r>
            <a:r>
              <a:rPr lang="ko-KR" altLang="en-US" sz="3000" b="1" dirty="0" err="1">
                <a:solidFill>
                  <a:srgbClr val="404040"/>
                </a:solidFill>
                <a:ea typeface="Pretendard Bold"/>
              </a:rPr>
              <a:t>요청쿼리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작성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)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0867" y="1337732"/>
            <a:ext cx="6602790" cy="4990497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431655765" y="-1347275267"/>
            <a:ext cx="1431655765" cy="1431655765"/>
            <a:chOff x="1431655765" y="-1347275267"/>
            <a:chExt cx="1431655765" cy="1431655765"/>
          </a:xfrm>
        </p:grpSpPr>
      </p:grpSp>
      <p:sp>
        <p:nvSpPr>
          <p:cNvPr id="34" name="TextBox 34"/>
          <p:cNvSpPr txBox="1"/>
          <p:nvPr/>
        </p:nvSpPr>
        <p:spPr>
          <a:xfrm>
            <a:off x="5774267" y="1871134"/>
            <a:ext cx="3403600" cy="2963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667" b="1" dirty="0">
                <a:solidFill>
                  <a:srgbClr val="404040"/>
                </a:solidFill>
                <a:latin typeface="Pretendard Medium"/>
              </a:rPr>
              <a:t>Gemini</a:t>
            </a:r>
            <a:r>
              <a:rPr lang="ko-KR" altLang="en-US" sz="1667" b="1" dirty="0">
                <a:solidFill>
                  <a:srgbClr val="404040"/>
                </a:solidFill>
                <a:ea typeface="Pretendard Medium"/>
              </a:rPr>
              <a:t>검색</a:t>
            </a:r>
            <a:r>
              <a:rPr lang="en-US" sz="1667" b="1" dirty="0">
                <a:solidFill>
                  <a:srgbClr val="404040"/>
                </a:solidFill>
                <a:latin typeface="Pretendard Medium"/>
              </a:rPr>
              <a:t> </a:t>
            </a:r>
            <a:r>
              <a:rPr lang="ko-KR" altLang="en-US" sz="1667" b="1" dirty="0">
                <a:solidFill>
                  <a:srgbClr val="404040"/>
                </a:solidFill>
                <a:ea typeface="Pretendard Medium"/>
              </a:rPr>
              <a:t>쿼리</a:t>
            </a:r>
            <a:r>
              <a:rPr lang="en-US" sz="1667" b="1" dirty="0">
                <a:solidFill>
                  <a:srgbClr val="404040"/>
                </a:solidFill>
                <a:latin typeface="Pretendard Medium"/>
              </a:rPr>
              <a:t> </a:t>
            </a:r>
            <a:r>
              <a:rPr lang="ko-KR" altLang="en-US" sz="1667" b="1" dirty="0">
                <a:solidFill>
                  <a:srgbClr val="404040"/>
                </a:solidFill>
                <a:ea typeface="Pretendard Medium"/>
              </a:rPr>
              <a:t>생성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393267" y="2302934"/>
            <a:ext cx="6155267" cy="32173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키워드와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카테고리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데이터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입력</a:t>
            </a:r>
          </a:p>
          <a:p>
            <a:pPr marL="372552" lvl="1" indent="-228611">
              <a:lnSpc>
                <a:spcPct val="124499"/>
              </a:lnSpc>
              <a:buAutoNum type="alphaLcPeriod"/>
            </a:pP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사용자가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입력한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질문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(prompt)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을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기반으로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GPT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가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추출한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키워드와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카테고리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정보를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추가</a:t>
            </a:r>
          </a:p>
          <a:p>
            <a:pPr marL="372552" lvl="1" indent="-228611">
              <a:lnSpc>
                <a:spcPct val="124499"/>
              </a:lnSpc>
              <a:buAutoNum type="alphaLcPeriod"/>
            </a:pP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각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키워드와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카테고리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조합에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대해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API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요청을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준비함</a:t>
            </a:r>
          </a:p>
          <a:p>
            <a:pPr marL="372552" lvl="1" indent="-228611">
              <a:lnSpc>
                <a:spcPct val="124499"/>
              </a:lnSpc>
              <a:buAutoNum type="alphaLcPeriod"/>
            </a:pP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제공된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카테고리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배열을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가져오며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없을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경우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기본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카테고리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(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기본정보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이용정보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)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를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</a:t>
            </a:r>
          </a:p>
          <a:p>
            <a:pPr marL="372552" lvl="1" indent="-228611">
              <a:lnSpc>
                <a:spcPct val="124499"/>
              </a:lnSpc>
              <a:buAutoNum type="alphaLcPeriod"/>
            </a:pP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카테고리별로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세부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쿼리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생성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요청을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진행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카테고리별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쿼리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생성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</a:t>
            </a:r>
          </a:p>
          <a:p>
            <a:pPr marL="372552" lvl="1" indent="-228611">
              <a:lnSpc>
                <a:spcPct val="124499"/>
              </a:lnSpc>
              <a:buAutoNum type="alphaLcPeriod"/>
            </a:pP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전달받은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키워드와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카테고리에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대해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적합한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세부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쿼리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목록을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생성합니다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카테고리별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쿼리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생성</a:t>
            </a:r>
          </a:p>
          <a:p>
            <a:pPr marL="372552" lvl="1" indent="-228611">
              <a:lnSpc>
                <a:spcPct val="124499"/>
              </a:lnSpc>
              <a:buAutoNum type="alphaLcPeriod"/>
            </a:pP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전달받은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카테고리가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미리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정의된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categoryQueries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배열에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존재하면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해당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카테고리에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맞는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b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</a:b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세부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쿼리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템플릿을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사용함</a:t>
            </a:r>
          </a:p>
          <a:p>
            <a:pPr marL="372552" lvl="1" indent="-228611">
              <a:lnSpc>
                <a:spcPct val="124499"/>
              </a:lnSpc>
              <a:buAutoNum type="alphaLcPeriod"/>
            </a:pP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각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쿼리는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키워드와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템플릿의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조합으로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완성됨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결과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반환</a:t>
            </a:r>
          </a:p>
          <a:p>
            <a:pPr marL="372552" lvl="1" indent="-228611">
              <a:lnSpc>
                <a:spcPct val="124499"/>
              </a:lnSpc>
              <a:buAutoNum type="alphaLcPeriod"/>
            </a:pP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생성된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쿼리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목록을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반환</a:t>
            </a: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2467" y="1854200"/>
            <a:ext cx="330200" cy="330200"/>
          </a:xfrm>
          <a:prstGeom prst="rect">
            <a:avLst/>
          </a:prstGeom>
        </p:spPr>
      </p:pic>
      <p:sp>
        <p:nvSpPr>
          <p:cNvPr id="37" name="TextBox 37"/>
          <p:cNvSpPr txBox="1"/>
          <p:nvPr/>
        </p:nvSpPr>
        <p:spPr>
          <a:xfrm>
            <a:off x="5376333" y="1930400"/>
            <a:ext cx="262467" cy="1947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133" b="1">
                <a:solidFill>
                  <a:srgbClr val="404040"/>
                </a:solidFill>
                <a:latin typeface="Pretendard Medium"/>
              </a:rPr>
              <a:t>01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A13B7D8-1D16-8CEF-1231-6D4E72AE114E}"/>
              </a:ext>
            </a:extLst>
          </p:cNvPr>
          <p:cNvSpPr txBox="1"/>
          <p:nvPr/>
        </p:nvSpPr>
        <p:spPr>
          <a:xfrm>
            <a:off x="417568" y="186498"/>
            <a:ext cx="28937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04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 </a:t>
            </a:r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AI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활용 및 실행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33" y="1433285"/>
            <a:ext cx="4105098" cy="4880429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866900" y="879929"/>
            <a:ext cx="7814733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2.2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채팅을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통한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검색기능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-(GEMINI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검색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)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0867" y="1611086"/>
            <a:ext cx="6400800" cy="4702628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431655765" y="-1347275267"/>
            <a:ext cx="1431655765" cy="1431655765"/>
            <a:chOff x="1431655765" y="-1347275267"/>
            <a:chExt cx="1431655765" cy="1431655765"/>
          </a:xfrm>
        </p:grpSpPr>
      </p:grpSp>
      <p:sp>
        <p:nvSpPr>
          <p:cNvPr id="34" name="TextBox 34"/>
          <p:cNvSpPr txBox="1"/>
          <p:nvPr/>
        </p:nvSpPr>
        <p:spPr>
          <a:xfrm>
            <a:off x="5774267" y="2125134"/>
            <a:ext cx="3403600" cy="2963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667" b="1" dirty="0">
                <a:solidFill>
                  <a:srgbClr val="404040"/>
                </a:solidFill>
                <a:latin typeface="Pretendard Medium"/>
              </a:rPr>
              <a:t>Gemini</a:t>
            </a:r>
            <a:r>
              <a:rPr lang="ko-KR" altLang="en-US" sz="1667" b="1" dirty="0">
                <a:solidFill>
                  <a:srgbClr val="404040"/>
                </a:solidFill>
                <a:ea typeface="Pretendard Medium"/>
              </a:rPr>
              <a:t>검색</a:t>
            </a:r>
            <a:r>
              <a:rPr lang="en-US" sz="1667" b="1" dirty="0">
                <a:solidFill>
                  <a:srgbClr val="404040"/>
                </a:solidFill>
                <a:latin typeface="Pretendard Medium"/>
              </a:rPr>
              <a:t> </a:t>
            </a:r>
            <a:r>
              <a:rPr lang="ko-KR" altLang="en-US" sz="1667" b="1" dirty="0">
                <a:solidFill>
                  <a:srgbClr val="404040"/>
                </a:solidFill>
                <a:ea typeface="Pretendard Medium"/>
              </a:rPr>
              <a:t>쿼리</a:t>
            </a:r>
            <a:r>
              <a:rPr lang="en-US" sz="1667" b="1" dirty="0">
                <a:solidFill>
                  <a:srgbClr val="404040"/>
                </a:solidFill>
                <a:latin typeface="Pretendard Medium"/>
              </a:rPr>
              <a:t> </a:t>
            </a:r>
            <a:r>
              <a:rPr lang="ko-KR" altLang="en-US" sz="1667" b="1" dirty="0">
                <a:solidFill>
                  <a:srgbClr val="404040"/>
                </a:solidFill>
                <a:ea typeface="Pretendard Medium"/>
              </a:rPr>
              <a:t>생성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393267" y="2726267"/>
            <a:ext cx="6155267" cy="183121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1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</a:t>
            </a:r>
            <a:r>
              <a:rPr lang="en-US" sz="11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URL </a:t>
            </a:r>
            <a:r>
              <a:rPr lang="ko-KR" altLang="en-US" sz="11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생성</a:t>
            </a:r>
          </a:p>
          <a:p>
            <a:pPr marL="372552" lvl="1" indent="-228611">
              <a:lnSpc>
                <a:spcPct val="124499"/>
              </a:lnSpc>
              <a:buAutoNum type="alphaLcPeriod"/>
            </a:pPr>
            <a:r>
              <a:rPr lang="en-US" sz="11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Gemini API</a:t>
            </a:r>
            <a:r>
              <a:rPr lang="ko-KR" altLang="en-US" sz="11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에</a:t>
            </a:r>
            <a:r>
              <a:rPr lang="en-US" sz="11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접근하기</a:t>
            </a:r>
            <a:r>
              <a:rPr lang="en-US" sz="11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위한</a:t>
            </a:r>
            <a:r>
              <a:rPr lang="en-US" sz="11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URL </a:t>
            </a:r>
            <a:r>
              <a:rPr lang="ko-KR" altLang="en-US" sz="11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생성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1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프롬프트</a:t>
            </a:r>
            <a:r>
              <a:rPr lang="en-US" sz="11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생성</a:t>
            </a:r>
          </a:p>
          <a:p>
            <a:pPr marL="372552" lvl="1" indent="-228611">
              <a:lnSpc>
                <a:spcPct val="124499"/>
              </a:lnSpc>
              <a:buAutoNum type="alphaLcPeriod"/>
            </a:pPr>
            <a:r>
              <a:rPr lang="en-US" sz="11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API </a:t>
            </a:r>
            <a:r>
              <a:rPr lang="ko-KR" altLang="en-US" sz="11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호출</a:t>
            </a:r>
            <a:r>
              <a:rPr lang="en-US" sz="11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시</a:t>
            </a:r>
            <a:r>
              <a:rPr lang="en-US" sz="11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사용할</a:t>
            </a:r>
            <a:r>
              <a:rPr lang="en-US" sz="11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검색</a:t>
            </a:r>
            <a:r>
              <a:rPr lang="en-US" sz="11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프롬프트</a:t>
            </a:r>
            <a:r>
              <a:rPr lang="en-US" sz="11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생성</a:t>
            </a:r>
          </a:p>
          <a:p>
            <a:pPr marL="372552" lvl="1" indent="-228611">
              <a:lnSpc>
                <a:spcPct val="124499"/>
              </a:lnSpc>
              <a:buAutoNum type="alphaLcPeriod"/>
            </a:pPr>
            <a:r>
              <a:rPr lang="ko-KR" altLang="en-US" sz="1133" dirty="0" err="1">
                <a:solidFill>
                  <a:srgbClr val="000000">
                    <a:alpha val="70196"/>
                  </a:srgbClr>
                </a:solidFill>
                <a:ea typeface="Pretendard Light"/>
              </a:rPr>
              <a:t>입력받은</a:t>
            </a:r>
            <a:r>
              <a:rPr lang="en-US" sz="11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query</a:t>
            </a:r>
            <a:r>
              <a:rPr lang="ko-KR" altLang="en-US" sz="11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를</a:t>
            </a:r>
            <a:r>
              <a:rPr lang="en-US" sz="11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기반으로</a:t>
            </a:r>
            <a:r>
              <a:rPr lang="en-US" sz="11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간단명료한</a:t>
            </a:r>
            <a:r>
              <a:rPr lang="en-US" sz="11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정보를</a:t>
            </a:r>
            <a:r>
              <a:rPr lang="en-US" sz="11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요청하는</a:t>
            </a:r>
            <a:r>
              <a:rPr lang="en-US" sz="11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프롬프트</a:t>
            </a:r>
            <a:r>
              <a:rPr lang="en-US" sz="11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작성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1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</a:t>
            </a:r>
            <a:r>
              <a:rPr lang="en-US" sz="11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데이터</a:t>
            </a:r>
            <a:r>
              <a:rPr lang="en-US" sz="11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구성</a:t>
            </a:r>
          </a:p>
          <a:p>
            <a:pPr marL="372552" lvl="1" indent="-228611">
              <a:lnSpc>
                <a:spcPct val="124499"/>
              </a:lnSpc>
              <a:buAutoNum type="alphaLcPeriod"/>
            </a:pPr>
            <a:r>
              <a:rPr lang="ko-KR" altLang="en-US" sz="11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이때</a:t>
            </a:r>
            <a:r>
              <a:rPr lang="en-US" sz="11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en-US" sz="1133" dirty="0" err="1">
                <a:solidFill>
                  <a:srgbClr val="000000">
                    <a:alpha val="70196"/>
                  </a:srgbClr>
                </a:solidFill>
                <a:latin typeface="Pretendard Light"/>
              </a:rPr>
              <a:t>google_search_retrieval</a:t>
            </a:r>
            <a:r>
              <a:rPr lang="en-US" sz="11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도구를</a:t>
            </a:r>
            <a:r>
              <a:rPr lang="en-US" sz="11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활성화하여</a:t>
            </a:r>
            <a:r>
              <a:rPr lang="en-US" sz="11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인터넷</a:t>
            </a:r>
            <a:r>
              <a:rPr lang="en-US" sz="11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검색을</a:t>
            </a:r>
            <a:r>
              <a:rPr lang="en-US" sz="11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활성화</a:t>
            </a: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2467" y="2108200"/>
            <a:ext cx="330200" cy="330200"/>
          </a:xfrm>
          <a:prstGeom prst="rect">
            <a:avLst/>
          </a:prstGeom>
        </p:spPr>
      </p:pic>
      <p:sp>
        <p:nvSpPr>
          <p:cNvPr id="37" name="TextBox 37"/>
          <p:cNvSpPr txBox="1"/>
          <p:nvPr/>
        </p:nvSpPr>
        <p:spPr>
          <a:xfrm>
            <a:off x="5376333" y="2184400"/>
            <a:ext cx="262467" cy="1947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133" b="1" dirty="0">
                <a:solidFill>
                  <a:srgbClr val="404040"/>
                </a:solidFill>
                <a:latin typeface="Pretendard Medium"/>
              </a:rPr>
              <a:t>01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342467" y="1647977"/>
            <a:ext cx="4013200" cy="3471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933" b="1" dirty="0">
                <a:solidFill>
                  <a:srgbClr val="404040"/>
                </a:solidFill>
                <a:ea typeface="Pretendard Medium"/>
              </a:rPr>
              <a:t>사용</a:t>
            </a:r>
            <a:r>
              <a:rPr lang="en-US" sz="1933" b="1" dirty="0">
                <a:solidFill>
                  <a:srgbClr val="404040"/>
                </a:solidFill>
                <a:latin typeface="Pretendard Medium"/>
              </a:rPr>
              <a:t> </a:t>
            </a:r>
            <a:r>
              <a:rPr lang="ko-KR" altLang="en-US" sz="1933" b="1" dirty="0">
                <a:solidFill>
                  <a:srgbClr val="404040"/>
                </a:solidFill>
                <a:ea typeface="Pretendard Medium"/>
              </a:rPr>
              <a:t>모델</a:t>
            </a:r>
            <a:r>
              <a:rPr lang="en-US" sz="1933" b="1" dirty="0">
                <a:solidFill>
                  <a:srgbClr val="404040"/>
                </a:solidFill>
                <a:latin typeface="Pretendard Medium"/>
              </a:rPr>
              <a:t>: gemini-1.5-pro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5B71EFB-4E11-9CCF-5BCD-D1CBD005F39F}"/>
              </a:ext>
            </a:extLst>
          </p:cNvPr>
          <p:cNvSpPr txBox="1"/>
          <p:nvPr/>
        </p:nvSpPr>
        <p:spPr>
          <a:xfrm>
            <a:off x="417568" y="186498"/>
            <a:ext cx="28937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04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 </a:t>
            </a:r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AI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활용 및 실행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127" y="1375232"/>
            <a:ext cx="6227745" cy="3148428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10490200" y="5223934"/>
            <a:ext cx="1761067" cy="1744133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102757" y="732943"/>
            <a:ext cx="8215086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2.2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채팅을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통한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검색기능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-(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최종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응답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생성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)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786" y="4580466"/>
            <a:ext cx="5617028" cy="1786466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431655765" y="-1347275267"/>
            <a:ext cx="1431655765" cy="1431655765"/>
            <a:chOff x="1431655765" y="-1347275267"/>
            <a:chExt cx="1431655765" cy="1431655765"/>
          </a:xfrm>
        </p:grpSpPr>
      </p:grpSp>
      <p:sp>
        <p:nvSpPr>
          <p:cNvPr id="34" name="TextBox 34"/>
          <p:cNvSpPr txBox="1"/>
          <p:nvPr/>
        </p:nvSpPr>
        <p:spPr>
          <a:xfrm>
            <a:off x="4623707" y="4529668"/>
            <a:ext cx="4013200" cy="49835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933" b="1" dirty="0">
                <a:solidFill>
                  <a:srgbClr val="404040"/>
                </a:solidFill>
                <a:ea typeface="Pretendard Medium"/>
              </a:rPr>
              <a:t>사용</a:t>
            </a:r>
            <a:r>
              <a:rPr lang="en-US" sz="1933" b="1" dirty="0">
                <a:solidFill>
                  <a:srgbClr val="404040"/>
                </a:solidFill>
                <a:latin typeface="Pretendard Medium"/>
              </a:rPr>
              <a:t> </a:t>
            </a:r>
            <a:r>
              <a:rPr lang="ko-KR" altLang="en-US" sz="1933" b="1" dirty="0">
                <a:solidFill>
                  <a:srgbClr val="404040"/>
                </a:solidFill>
                <a:ea typeface="Pretendard Medium"/>
              </a:rPr>
              <a:t>모델</a:t>
            </a:r>
            <a:r>
              <a:rPr lang="en-US" sz="1933" b="1" dirty="0">
                <a:solidFill>
                  <a:srgbClr val="404040"/>
                </a:solidFill>
                <a:latin typeface="Pretendard Medium"/>
              </a:rPr>
              <a:t>: "model" =&gt; "gpt-4o"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093633" y="5049191"/>
            <a:ext cx="4292600" cy="122766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프롬프트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구성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응답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작성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기준과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규칙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정의</a:t>
            </a:r>
          </a:p>
          <a:p>
            <a:pPr marL="364085" lvl="1" indent="-228611">
              <a:lnSpc>
                <a:spcPct val="124499"/>
              </a:lnSpc>
              <a:buAutoNum type="alpha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전문가의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역할을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부여하고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사용자가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기대하는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정보를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전달하도록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설정</a:t>
            </a:r>
          </a:p>
          <a:p>
            <a:pPr marL="364085" lvl="1" indent="-228611">
              <a:lnSpc>
                <a:spcPct val="124499"/>
              </a:lnSpc>
              <a:buAutoNum type="alpha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출처를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언급하고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불확실한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정보의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경우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유보적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표현을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쓰도록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</a:t>
            </a: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1300" y="4559302"/>
            <a:ext cx="381000" cy="381000"/>
          </a:xfrm>
          <a:prstGeom prst="rect">
            <a:avLst/>
          </a:prstGeom>
        </p:spPr>
      </p:pic>
      <p:sp>
        <p:nvSpPr>
          <p:cNvPr id="37" name="TextBox 37"/>
          <p:cNvSpPr txBox="1"/>
          <p:nvPr/>
        </p:nvSpPr>
        <p:spPr>
          <a:xfrm>
            <a:off x="4093633" y="4643968"/>
            <a:ext cx="313267" cy="2370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333" b="1" dirty="0">
                <a:solidFill>
                  <a:srgbClr val="404040"/>
                </a:solidFill>
                <a:latin typeface="Pretendard Medium"/>
              </a:rPr>
              <a:t>01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E339D76-CA0E-79A9-196A-F497CBA962F0}"/>
              </a:ext>
            </a:extLst>
          </p:cNvPr>
          <p:cNvSpPr txBox="1"/>
          <p:nvPr/>
        </p:nvSpPr>
        <p:spPr>
          <a:xfrm>
            <a:off x="417568" y="186498"/>
            <a:ext cx="28937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04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 </a:t>
            </a:r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AI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활용 및 실행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10490200" y="5223934"/>
            <a:ext cx="1761067" cy="1744133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6524" y="728134"/>
            <a:ext cx="4666343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2.3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채팅을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통한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일정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작성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067" y="719667"/>
            <a:ext cx="7147201" cy="5706534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091" y="1244600"/>
            <a:ext cx="4380577" cy="5173738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431655765" y="-1347275267"/>
            <a:ext cx="1431655765" cy="1431655765"/>
            <a:chOff x="1431655765" y="-1347275267"/>
            <a:chExt cx="1431655765" cy="1431655765"/>
          </a:xfrm>
        </p:grpSpPr>
      </p:grpSp>
      <p:sp>
        <p:nvSpPr>
          <p:cNvPr id="34" name="TextBox 34"/>
          <p:cNvSpPr txBox="1"/>
          <p:nvPr/>
        </p:nvSpPr>
        <p:spPr>
          <a:xfrm>
            <a:off x="6104467" y="829733"/>
            <a:ext cx="4792133" cy="4148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333" b="1" dirty="0">
                <a:solidFill>
                  <a:srgbClr val="404040"/>
                </a:solidFill>
                <a:ea typeface="Pretendard Medium"/>
              </a:rPr>
              <a:t>사용</a:t>
            </a:r>
            <a:r>
              <a:rPr lang="en-US" sz="2333" b="1" dirty="0">
                <a:solidFill>
                  <a:srgbClr val="404040"/>
                </a:solidFill>
                <a:latin typeface="Pretendard Medium"/>
              </a:rPr>
              <a:t> </a:t>
            </a:r>
            <a:r>
              <a:rPr lang="ko-KR" altLang="en-US" sz="2333" b="1" dirty="0">
                <a:solidFill>
                  <a:srgbClr val="404040"/>
                </a:solidFill>
                <a:ea typeface="Pretendard Medium"/>
              </a:rPr>
              <a:t>모델</a:t>
            </a:r>
            <a:r>
              <a:rPr lang="en-US" sz="2333" b="1" dirty="0">
                <a:solidFill>
                  <a:srgbClr val="404040"/>
                </a:solidFill>
                <a:latin typeface="Pretendard Medium"/>
              </a:rPr>
              <a:t>: "model" =&gt; "gpt-4o"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800602" y="1380068"/>
            <a:ext cx="7014027" cy="489010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동작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방식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: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입력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데이터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수신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(JSON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데이터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)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수신하고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 err="1">
                <a:solidFill>
                  <a:srgbClr val="000000">
                    <a:alpha val="70196"/>
                  </a:srgbClr>
                </a:solidFill>
                <a:ea typeface="Pretendard Light"/>
              </a:rPr>
              <a:t>파싱하여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prompt,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세션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등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추출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새로운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세션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여부를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확인하여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기존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데이터를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초기화할지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판단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채팅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기록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분석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해당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세션의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기존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채팅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기록을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데이터베이스에서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가져와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분석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작성에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필요한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(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스타일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장소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선호도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등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)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중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누락된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항목을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확인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태그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및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장소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로드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관광지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유형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태그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및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활성화된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관광지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리스트를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불러옴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계획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사용할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수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있는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장소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데이터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확보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대화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상태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판단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채팅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기록을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분석하여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필요한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충분히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수집되었는지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확인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부족한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있다면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추가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질문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생성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충분하면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작성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단계로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진행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생성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및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검증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수집된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바탕으로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JSON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형식의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맞춤형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작성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장소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정보의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주소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및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좌표가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누락된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경우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Google Place API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보완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응답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생성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및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반환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대화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단계에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따라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자연스러운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응답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또는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JSON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데이터를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생성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3333" y="812800"/>
            <a:ext cx="457200" cy="457200"/>
          </a:xfrm>
          <a:prstGeom prst="rect">
            <a:avLst/>
          </a:prstGeom>
        </p:spPr>
      </p:pic>
      <p:sp>
        <p:nvSpPr>
          <p:cNvPr id="37" name="TextBox 37"/>
          <p:cNvSpPr txBox="1"/>
          <p:nvPr/>
        </p:nvSpPr>
        <p:spPr>
          <a:xfrm>
            <a:off x="5545667" y="914400"/>
            <a:ext cx="372533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533" b="1">
                <a:solidFill>
                  <a:srgbClr val="404040"/>
                </a:solidFill>
                <a:latin typeface="Pretendard Medium"/>
              </a:rPr>
              <a:t>01</a:t>
            </a: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2579" y="2552700"/>
            <a:ext cx="2286000" cy="5588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9979" y="1951567"/>
            <a:ext cx="601133" cy="1524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2579" y="4254500"/>
            <a:ext cx="2286000" cy="5588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39979" y="3653367"/>
            <a:ext cx="601133" cy="1524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9046" y="1443567"/>
            <a:ext cx="1651000" cy="11684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17312" y="1443567"/>
            <a:ext cx="1651000" cy="11684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17312" y="3145367"/>
            <a:ext cx="1651000" cy="11684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39979" y="5372100"/>
            <a:ext cx="601133" cy="1524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9046" y="3145367"/>
            <a:ext cx="1651000" cy="11684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9046" y="4855634"/>
            <a:ext cx="1651000" cy="11684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17312" y="4864100"/>
            <a:ext cx="1651000" cy="1168400"/>
          </a:xfrm>
          <a:prstGeom prst="rect">
            <a:avLst/>
          </a:prstGeom>
        </p:spPr>
      </p:pic>
      <p:sp>
        <p:nvSpPr>
          <p:cNvPr id="49" name="TextBox 49"/>
          <p:cNvSpPr txBox="1"/>
          <p:nvPr/>
        </p:nvSpPr>
        <p:spPr>
          <a:xfrm>
            <a:off x="624446" y="1841500"/>
            <a:ext cx="16002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000">
                <a:solidFill>
                  <a:srgbClr val="FFFFFF"/>
                </a:solidFill>
                <a:ea typeface="Pretendard Bold"/>
              </a:rPr>
              <a:t>채팅</a:t>
            </a:r>
            <a:r>
              <a:rPr lang="en-US" sz="200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2000">
                <a:solidFill>
                  <a:srgbClr val="FFFFFF"/>
                </a:solidFill>
                <a:ea typeface="Pretendard Bold"/>
              </a:rPr>
              <a:t>기록</a:t>
            </a:r>
            <a:r>
              <a:rPr lang="en-US" sz="200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2000">
                <a:solidFill>
                  <a:srgbClr val="FFFFFF"/>
                </a:solidFill>
                <a:ea typeface="Pretendard Bold"/>
              </a:rPr>
              <a:t>분석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062846" y="1731434"/>
            <a:ext cx="1151467" cy="5672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1733">
                <a:solidFill>
                  <a:srgbClr val="FFFFFF"/>
                </a:solidFill>
                <a:ea typeface="Pretendard Bold"/>
              </a:rPr>
              <a:t>부족한</a:t>
            </a:r>
            <a:r>
              <a:rPr lang="en-US" sz="1733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1733">
                <a:solidFill>
                  <a:srgbClr val="FFFFFF"/>
                </a:solidFill>
                <a:ea typeface="Pretendard Bold"/>
              </a:rPr>
              <a:t>정보</a:t>
            </a:r>
            <a:r>
              <a:rPr lang="en-US" sz="1733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1733">
                <a:solidFill>
                  <a:srgbClr val="FFFFFF"/>
                </a:solidFill>
                <a:ea typeface="Pretendard Bold"/>
              </a:rPr>
              <a:t>질문</a:t>
            </a:r>
            <a:r>
              <a:rPr lang="en-US" sz="1733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1733">
                <a:solidFill>
                  <a:srgbClr val="FFFFFF"/>
                </a:solidFill>
                <a:ea typeface="Pretendard Bold"/>
              </a:rPr>
              <a:t>생성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44579" y="3416300"/>
            <a:ext cx="1159933" cy="6180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1867">
                <a:solidFill>
                  <a:srgbClr val="FFFFFF"/>
                </a:solidFill>
                <a:ea typeface="Pretendard Bold"/>
              </a:rPr>
              <a:t>사용자</a:t>
            </a:r>
            <a:r>
              <a:rPr lang="en-US" sz="1867">
                <a:solidFill>
                  <a:srgbClr val="FFFFFF"/>
                </a:solidFill>
                <a:latin typeface="Pretendard Bold"/>
              </a:rPr>
              <a:t> </a:t>
            </a:r>
            <a:br>
              <a:rPr lang="en-US" sz="1867">
                <a:solidFill>
                  <a:srgbClr val="FFFFFF"/>
                </a:solidFill>
                <a:latin typeface="Pretendard Bold"/>
              </a:rPr>
            </a:br>
            <a:r>
              <a:rPr lang="ko-KR" altLang="en-US" sz="1867">
                <a:solidFill>
                  <a:srgbClr val="FFFFFF"/>
                </a:solidFill>
                <a:ea typeface="Pretendard Bold"/>
              </a:rPr>
              <a:t>응답</a:t>
            </a:r>
            <a:r>
              <a:rPr lang="en-US" sz="1867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1867">
                <a:solidFill>
                  <a:srgbClr val="FFFFFF"/>
                </a:solidFill>
                <a:ea typeface="Pretendard Bold"/>
              </a:rPr>
              <a:t>수집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062846" y="3543300"/>
            <a:ext cx="1159933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000">
                <a:solidFill>
                  <a:srgbClr val="FFFFFF"/>
                </a:solidFill>
                <a:ea typeface="Pretendard Bold"/>
              </a:rPr>
              <a:t>일정</a:t>
            </a:r>
            <a:r>
              <a:rPr lang="en-US" sz="200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2000">
                <a:solidFill>
                  <a:srgbClr val="FFFFFF"/>
                </a:solidFill>
                <a:ea typeface="Pretendard Bold"/>
              </a:rPr>
              <a:t>생성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44579" y="5092700"/>
            <a:ext cx="1159933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000">
                <a:solidFill>
                  <a:srgbClr val="FFFFFF"/>
                </a:solidFill>
                <a:ea typeface="Pretendard Bold"/>
              </a:rPr>
              <a:t>장소</a:t>
            </a:r>
            <a:r>
              <a:rPr lang="en-US" sz="200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2000">
                <a:solidFill>
                  <a:srgbClr val="FFFFFF"/>
                </a:solidFill>
                <a:ea typeface="Pretendard Bold"/>
              </a:rPr>
              <a:t>정보</a:t>
            </a:r>
            <a:r>
              <a:rPr lang="en-US" sz="200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2000">
                <a:solidFill>
                  <a:srgbClr val="FFFFFF"/>
                </a:solidFill>
                <a:ea typeface="Pretendard Bold"/>
              </a:rPr>
              <a:t>보완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062846" y="5262034"/>
            <a:ext cx="1159933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000">
                <a:solidFill>
                  <a:srgbClr val="FFFFFF"/>
                </a:solidFill>
                <a:ea typeface="Pretendard Bold"/>
              </a:rPr>
              <a:t>응답</a:t>
            </a:r>
            <a:r>
              <a:rPr lang="en-US" sz="200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2000">
                <a:solidFill>
                  <a:srgbClr val="FFFFFF"/>
                </a:solidFill>
                <a:ea typeface="Pretendard Bold"/>
              </a:rPr>
              <a:t>제공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67E07DD-86EC-280D-0577-0B8157ECBF7E}"/>
              </a:ext>
            </a:extLst>
          </p:cNvPr>
          <p:cNvSpPr txBox="1"/>
          <p:nvPr/>
        </p:nvSpPr>
        <p:spPr>
          <a:xfrm>
            <a:off x="417568" y="186498"/>
            <a:ext cx="28937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04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 </a:t>
            </a:r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AI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활용 및 실행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456267"/>
            <a:ext cx="4961467" cy="4504267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044700" y="682776"/>
            <a:ext cx="7797800" cy="812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67" b="1" dirty="0">
                <a:solidFill>
                  <a:srgbClr val="404040"/>
                </a:solidFill>
                <a:latin typeface="Pretendard Bold"/>
              </a:rPr>
              <a:t>2.3 </a:t>
            </a:r>
            <a:r>
              <a:rPr lang="ko-KR" altLang="en-US" sz="2467" b="1" dirty="0">
                <a:solidFill>
                  <a:srgbClr val="404040"/>
                </a:solidFill>
                <a:ea typeface="Pretendard Bold"/>
              </a:rPr>
              <a:t>채팅을</a:t>
            </a:r>
            <a:r>
              <a:rPr lang="en-US" sz="2467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2467" b="1" dirty="0">
                <a:solidFill>
                  <a:srgbClr val="404040"/>
                </a:solidFill>
                <a:ea typeface="Pretendard Bold"/>
              </a:rPr>
              <a:t>통한</a:t>
            </a:r>
            <a:r>
              <a:rPr lang="en-US" sz="2467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2467" b="1" dirty="0">
                <a:solidFill>
                  <a:srgbClr val="404040"/>
                </a:solidFill>
                <a:ea typeface="Pretendard Bold"/>
              </a:rPr>
              <a:t>일정</a:t>
            </a:r>
            <a:r>
              <a:rPr lang="en-US" sz="2467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2467" b="1" dirty="0">
                <a:solidFill>
                  <a:srgbClr val="404040"/>
                </a:solidFill>
                <a:ea typeface="Pretendard Bold"/>
              </a:rPr>
              <a:t>작성</a:t>
            </a:r>
          </a:p>
          <a:p>
            <a:pPr lvl="0" algn="ctr">
              <a:lnSpc>
                <a:spcPct val="99600"/>
              </a:lnSpc>
            </a:pPr>
            <a:r>
              <a:rPr lang="en-US" sz="2467" b="1" dirty="0">
                <a:solidFill>
                  <a:srgbClr val="404040"/>
                </a:solidFill>
                <a:latin typeface="Pretendard Bold"/>
              </a:rPr>
              <a:t>(</a:t>
            </a:r>
            <a:r>
              <a:rPr lang="ko-KR" altLang="en-US" sz="2467" b="1" dirty="0">
                <a:solidFill>
                  <a:srgbClr val="404040"/>
                </a:solidFill>
                <a:ea typeface="Pretendard Bold"/>
              </a:rPr>
              <a:t>부족한</a:t>
            </a:r>
            <a:r>
              <a:rPr lang="en-US" sz="2467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2467" b="1" dirty="0">
                <a:solidFill>
                  <a:srgbClr val="404040"/>
                </a:solidFill>
                <a:ea typeface="Pretendard Bold"/>
              </a:rPr>
              <a:t>정보를</a:t>
            </a:r>
            <a:r>
              <a:rPr lang="en-US" sz="2467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2467" b="1" dirty="0">
                <a:solidFill>
                  <a:srgbClr val="404040"/>
                </a:solidFill>
                <a:ea typeface="Pretendard Bold"/>
              </a:rPr>
              <a:t>확인하는</a:t>
            </a:r>
            <a:r>
              <a:rPr lang="en-US" sz="2467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2467" b="1" dirty="0">
                <a:solidFill>
                  <a:srgbClr val="404040"/>
                </a:solidFill>
                <a:ea typeface="Pretendard Bold"/>
              </a:rPr>
              <a:t>로직</a:t>
            </a:r>
            <a:r>
              <a:rPr lang="en-US" sz="2467" b="1" dirty="0">
                <a:solidFill>
                  <a:srgbClr val="404040"/>
                </a:solidFill>
                <a:latin typeface="Pretendard Bold"/>
              </a:rPr>
              <a:t>)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0867" y="1456267"/>
            <a:ext cx="6400800" cy="4504267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431655765" y="-1347275267"/>
            <a:ext cx="1431655765" cy="1431655765"/>
            <a:chOff x="1431655765" y="-1347275267"/>
            <a:chExt cx="1431655765" cy="1431655765"/>
          </a:xfrm>
        </p:grpSpPr>
      </p:grpSp>
      <p:sp>
        <p:nvSpPr>
          <p:cNvPr id="34" name="TextBox 34"/>
          <p:cNvSpPr txBox="1"/>
          <p:nvPr/>
        </p:nvSpPr>
        <p:spPr>
          <a:xfrm>
            <a:off x="5943600" y="2836333"/>
            <a:ext cx="4436533" cy="3894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133">
                <a:solidFill>
                  <a:srgbClr val="404040"/>
                </a:solidFill>
                <a:ea typeface="Pretendard Medium"/>
              </a:rPr>
              <a:t>부족한</a:t>
            </a:r>
            <a:r>
              <a:rPr lang="en-US" sz="2133">
                <a:solidFill>
                  <a:srgbClr val="404040"/>
                </a:solidFill>
                <a:latin typeface="Pretendard Medium"/>
              </a:rPr>
              <a:t> </a:t>
            </a:r>
            <a:r>
              <a:rPr lang="ko-KR" altLang="en-US" sz="2133">
                <a:solidFill>
                  <a:srgbClr val="404040"/>
                </a:solidFill>
                <a:ea typeface="Pretendard Medium"/>
              </a:rPr>
              <a:t>정보를</a:t>
            </a:r>
            <a:r>
              <a:rPr lang="en-US" sz="2133">
                <a:solidFill>
                  <a:srgbClr val="404040"/>
                </a:solidFill>
                <a:latin typeface="Pretendard Medium"/>
              </a:rPr>
              <a:t> </a:t>
            </a:r>
            <a:r>
              <a:rPr lang="ko-KR" altLang="en-US" sz="2133">
                <a:solidFill>
                  <a:srgbClr val="404040"/>
                </a:solidFill>
                <a:ea typeface="Pretendard Medium"/>
              </a:rPr>
              <a:t>확인하는</a:t>
            </a:r>
            <a:r>
              <a:rPr lang="en-US" sz="2133">
                <a:solidFill>
                  <a:srgbClr val="404040"/>
                </a:solidFill>
                <a:latin typeface="Pretendard Medium"/>
              </a:rPr>
              <a:t> </a:t>
            </a:r>
            <a:r>
              <a:rPr lang="ko-KR" altLang="en-US" sz="2133">
                <a:solidFill>
                  <a:srgbClr val="404040"/>
                </a:solidFill>
                <a:ea typeface="Pretendard Medium"/>
              </a:rPr>
              <a:t>로직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393267" y="3479800"/>
            <a:ext cx="6155267" cy="7450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333">
                <a:solidFill>
                  <a:srgbClr val="000000">
                    <a:alpha val="70196"/>
                  </a:srgbClr>
                </a:solidFill>
                <a:ea typeface="Pretendard Light"/>
              </a:rPr>
              <a:t>채팅</a:t>
            </a:r>
            <a:r>
              <a:rPr lang="en-US" sz="13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>
                <a:solidFill>
                  <a:srgbClr val="000000">
                    <a:alpha val="70196"/>
                  </a:srgbClr>
                </a:solidFill>
                <a:ea typeface="Pretendard Light"/>
              </a:rPr>
              <a:t>기록을</a:t>
            </a:r>
            <a:r>
              <a:rPr lang="en-US" sz="13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>
                <a:solidFill>
                  <a:srgbClr val="000000">
                    <a:alpha val="70196"/>
                  </a:srgbClr>
                </a:solidFill>
                <a:ea typeface="Pretendard Light"/>
              </a:rPr>
              <a:t>분석하여</a:t>
            </a:r>
            <a:r>
              <a:rPr lang="en-US" sz="13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</a:t>
            </a:r>
            <a:r>
              <a:rPr lang="en-US" sz="13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</a:t>
            </a:r>
            <a:r>
              <a:rPr lang="en-US" sz="13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>
                <a:solidFill>
                  <a:srgbClr val="000000">
                    <a:alpha val="70196"/>
                  </a:srgbClr>
                </a:solidFill>
                <a:ea typeface="Pretendard Light"/>
              </a:rPr>
              <a:t>생성에</a:t>
            </a:r>
            <a:r>
              <a:rPr lang="en-US" sz="13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>
                <a:solidFill>
                  <a:srgbClr val="000000">
                    <a:alpha val="70196"/>
                  </a:srgbClr>
                </a:solidFill>
                <a:ea typeface="Pretendard Light"/>
              </a:rPr>
              <a:t>필요한</a:t>
            </a:r>
            <a:r>
              <a:rPr lang="en-US" sz="13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정보가</a:t>
            </a:r>
            <a:r>
              <a:rPr lang="en-US" sz="13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>
                <a:solidFill>
                  <a:srgbClr val="000000">
                    <a:alpha val="70196"/>
                  </a:srgbClr>
                </a:solidFill>
                <a:ea typeface="Pretendard Light"/>
              </a:rPr>
              <a:t>부족한지를</a:t>
            </a:r>
            <a:r>
              <a:rPr lang="en-US" sz="13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>
                <a:solidFill>
                  <a:srgbClr val="000000">
                    <a:alpha val="70196"/>
                  </a:srgbClr>
                </a:solidFill>
                <a:ea typeface="Pretendard Light"/>
              </a:rPr>
              <a:t>확인</a:t>
            </a:r>
          </a:p>
          <a:p>
            <a:pPr marL="397953" lvl="1" indent="-22861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ko-KR" altLang="en-US" sz="1333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</a:t>
            </a:r>
            <a:r>
              <a:rPr lang="en-US" sz="13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>
                <a:solidFill>
                  <a:srgbClr val="000000">
                    <a:alpha val="70196"/>
                  </a:srgbClr>
                </a:solidFill>
                <a:ea typeface="Pretendard Light"/>
              </a:rPr>
              <a:t>스타일</a:t>
            </a:r>
            <a:r>
              <a:rPr lang="en-US" sz="13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333">
                <a:solidFill>
                  <a:srgbClr val="000000">
                    <a:alpha val="70196"/>
                  </a:srgbClr>
                </a:solidFill>
                <a:ea typeface="Pretendard Light"/>
              </a:rPr>
              <a:t>음식</a:t>
            </a:r>
            <a:r>
              <a:rPr lang="en-US" sz="13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>
                <a:solidFill>
                  <a:srgbClr val="000000">
                    <a:alpha val="70196"/>
                  </a:srgbClr>
                </a:solidFill>
                <a:ea typeface="Pretendard Light"/>
              </a:rPr>
              <a:t>선호도</a:t>
            </a:r>
            <a:r>
              <a:rPr lang="en-US" sz="13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333">
                <a:solidFill>
                  <a:srgbClr val="000000">
                    <a:alpha val="70196"/>
                  </a:srgbClr>
                </a:solidFill>
                <a:ea typeface="Pretendard Light"/>
              </a:rPr>
              <a:t>시간대별</a:t>
            </a:r>
            <a:r>
              <a:rPr lang="en-US" sz="13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>
                <a:solidFill>
                  <a:srgbClr val="000000">
                    <a:alpha val="70196"/>
                  </a:srgbClr>
                </a:solidFill>
                <a:ea typeface="Pretendard Light"/>
              </a:rPr>
              <a:t>활동</a:t>
            </a:r>
            <a:r>
              <a:rPr lang="en-US" sz="13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333">
                <a:solidFill>
                  <a:srgbClr val="000000">
                    <a:alpha val="70196"/>
                  </a:srgbClr>
                </a:solidFill>
                <a:ea typeface="Pretendard Light"/>
              </a:rPr>
              <a:t>관광지</a:t>
            </a:r>
            <a:r>
              <a:rPr lang="en-US" sz="13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>
                <a:solidFill>
                  <a:srgbClr val="000000">
                    <a:alpha val="70196"/>
                  </a:srgbClr>
                </a:solidFill>
                <a:ea typeface="Pretendard Light"/>
              </a:rPr>
              <a:t>유형</a:t>
            </a:r>
            <a:r>
              <a:rPr lang="en-US" sz="13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>
                <a:solidFill>
                  <a:srgbClr val="000000">
                    <a:alpha val="70196"/>
                  </a:srgbClr>
                </a:solidFill>
                <a:ea typeface="Pretendard Light"/>
              </a:rPr>
              <a:t>등의</a:t>
            </a:r>
            <a:r>
              <a:rPr lang="en-US" sz="13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정보를</a:t>
            </a:r>
            <a:r>
              <a:rPr lang="en-US" sz="13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>
                <a:solidFill>
                  <a:srgbClr val="000000">
                    <a:alpha val="70196"/>
                  </a:srgbClr>
                </a:solidFill>
                <a:ea typeface="Pretendard Light"/>
              </a:rPr>
              <a:t>분석</a:t>
            </a:r>
          </a:p>
          <a:p>
            <a:pPr marL="397953" lvl="1" indent="-228611">
              <a:lnSpc>
                <a:spcPct val="124499"/>
              </a:lnSpc>
              <a:buClr>
                <a:srgbClr val="000000"/>
              </a:buClr>
              <a:buFont typeface="Arial"/>
              <a:buChar char="○"/>
            </a:pPr>
            <a:r>
              <a:rPr lang="ko-KR" altLang="en-US" sz="1333">
                <a:solidFill>
                  <a:srgbClr val="000000">
                    <a:alpha val="70196"/>
                  </a:srgbClr>
                </a:solidFill>
                <a:ea typeface="Pretendard Light"/>
              </a:rPr>
              <a:t>부족한</a:t>
            </a:r>
            <a:r>
              <a:rPr lang="en-US" sz="13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정보가</a:t>
            </a:r>
            <a:r>
              <a:rPr lang="en-US" sz="13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>
                <a:solidFill>
                  <a:srgbClr val="000000">
                    <a:alpha val="70196"/>
                  </a:srgbClr>
                </a:solidFill>
                <a:ea typeface="Pretendard Light"/>
              </a:rPr>
              <a:t>있는</a:t>
            </a:r>
            <a:r>
              <a:rPr lang="en-US" sz="13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>
                <a:solidFill>
                  <a:srgbClr val="000000">
                    <a:alpha val="70196"/>
                  </a:srgbClr>
                </a:solidFill>
                <a:ea typeface="Pretendard Light"/>
              </a:rPr>
              <a:t>경우</a:t>
            </a:r>
            <a:r>
              <a:rPr lang="en-US" sz="13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>
                <a:solidFill>
                  <a:srgbClr val="000000">
                    <a:alpha val="70196"/>
                  </a:srgbClr>
                </a:solidFill>
                <a:ea typeface="Pretendard Light"/>
              </a:rPr>
              <a:t>이를</a:t>
            </a:r>
            <a:r>
              <a:rPr lang="en-US" sz="13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>
                <a:solidFill>
                  <a:srgbClr val="000000">
                    <a:alpha val="70196"/>
                  </a:srgbClr>
                </a:solidFill>
                <a:ea typeface="Pretendard Light"/>
              </a:rPr>
              <a:t>플래그로</a:t>
            </a:r>
            <a:r>
              <a:rPr lang="en-US" sz="13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>
                <a:solidFill>
                  <a:srgbClr val="000000">
                    <a:alpha val="70196"/>
                  </a:srgbClr>
                </a:solidFill>
                <a:ea typeface="Pretendard Light"/>
              </a:rPr>
              <a:t>설정</a:t>
            </a: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3267" y="2819400"/>
            <a:ext cx="423333" cy="423333"/>
          </a:xfrm>
          <a:prstGeom prst="rect">
            <a:avLst/>
          </a:prstGeom>
        </p:spPr>
      </p:pic>
      <p:sp>
        <p:nvSpPr>
          <p:cNvPr id="37" name="TextBox 37"/>
          <p:cNvSpPr txBox="1"/>
          <p:nvPr/>
        </p:nvSpPr>
        <p:spPr>
          <a:xfrm>
            <a:off x="5435600" y="2912533"/>
            <a:ext cx="347133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467">
                <a:solidFill>
                  <a:srgbClr val="404040"/>
                </a:solidFill>
                <a:latin typeface="Pretendard Medium"/>
              </a:rPr>
              <a:t>01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613481-76AF-6201-D445-6A42D68C2CD5}"/>
              </a:ext>
            </a:extLst>
          </p:cNvPr>
          <p:cNvSpPr txBox="1"/>
          <p:nvPr/>
        </p:nvSpPr>
        <p:spPr>
          <a:xfrm>
            <a:off x="417568" y="186498"/>
            <a:ext cx="28937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04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 </a:t>
            </a:r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AI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활용 및 실행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0759" y="1407744"/>
            <a:ext cx="6292547" cy="3181189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203146" y="694267"/>
            <a:ext cx="7387772" cy="9228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800" b="1" dirty="0">
                <a:solidFill>
                  <a:srgbClr val="404040"/>
                </a:solidFill>
                <a:latin typeface="Pretendard Bold"/>
              </a:rPr>
              <a:t>2.3 </a:t>
            </a:r>
            <a:r>
              <a:rPr lang="ko-KR" altLang="en-US" sz="2800" b="1" dirty="0">
                <a:solidFill>
                  <a:srgbClr val="404040"/>
                </a:solidFill>
                <a:ea typeface="Pretendard Bold"/>
              </a:rPr>
              <a:t>채팅을</a:t>
            </a:r>
            <a:r>
              <a:rPr lang="en-US" sz="28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2800" b="1" dirty="0">
                <a:solidFill>
                  <a:srgbClr val="404040"/>
                </a:solidFill>
                <a:ea typeface="Pretendard Bold"/>
              </a:rPr>
              <a:t>통한</a:t>
            </a:r>
            <a:r>
              <a:rPr lang="en-US" sz="28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2800" b="1" dirty="0">
                <a:solidFill>
                  <a:srgbClr val="404040"/>
                </a:solidFill>
                <a:ea typeface="Pretendard Bold"/>
              </a:rPr>
              <a:t>일정</a:t>
            </a:r>
            <a:r>
              <a:rPr lang="en-US" sz="28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2800" b="1" dirty="0">
                <a:solidFill>
                  <a:srgbClr val="404040"/>
                </a:solidFill>
                <a:ea typeface="Pretendard Bold"/>
              </a:rPr>
              <a:t>작성</a:t>
            </a:r>
          </a:p>
          <a:p>
            <a:pPr lvl="0" algn="ctr">
              <a:lnSpc>
                <a:spcPct val="99600"/>
              </a:lnSpc>
            </a:pPr>
            <a:r>
              <a:rPr lang="en-US" sz="2800" b="1" dirty="0">
                <a:solidFill>
                  <a:srgbClr val="404040"/>
                </a:solidFill>
                <a:latin typeface="Pretendard Bold"/>
              </a:rPr>
              <a:t>(</a:t>
            </a:r>
            <a:r>
              <a:rPr lang="ko-KR" altLang="en-US" sz="2800" b="1" dirty="0">
                <a:solidFill>
                  <a:srgbClr val="404040"/>
                </a:solidFill>
                <a:ea typeface="Pretendard Bold"/>
              </a:rPr>
              <a:t>추가</a:t>
            </a:r>
            <a:r>
              <a:rPr lang="en-US" sz="28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2800" b="1" dirty="0">
                <a:solidFill>
                  <a:srgbClr val="404040"/>
                </a:solidFill>
                <a:ea typeface="Pretendard Bold"/>
              </a:rPr>
              <a:t>질문</a:t>
            </a:r>
            <a:r>
              <a:rPr lang="en-US" sz="28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2800" b="1" dirty="0">
                <a:solidFill>
                  <a:srgbClr val="404040"/>
                </a:solidFill>
                <a:ea typeface="Pretendard Bold"/>
              </a:rPr>
              <a:t>생성</a:t>
            </a:r>
            <a:r>
              <a:rPr lang="en-US" sz="28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2800" b="1" dirty="0">
                <a:solidFill>
                  <a:srgbClr val="404040"/>
                </a:solidFill>
                <a:ea typeface="Pretendard Bold"/>
              </a:rPr>
              <a:t>또는</a:t>
            </a:r>
            <a:r>
              <a:rPr lang="en-US" sz="28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2800" b="1" dirty="0">
                <a:solidFill>
                  <a:srgbClr val="404040"/>
                </a:solidFill>
                <a:ea typeface="Pretendard Bold"/>
              </a:rPr>
              <a:t>일정</a:t>
            </a:r>
            <a:r>
              <a:rPr lang="en-US" sz="28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2800" b="1" dirty="0">
                <a:solidFill>
                  <a:srgbClr val="404040"/>
                </a:solidFill>
                <a:ea typeface="Pretendard Bold"/>
              </a:rPr>
              <a:t>생성</a:t>
            </a:r>
            <a:r>
              <a:rPr lang="en-US" sz="28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2800" b="1" dirty="0">
                <a:solidFill>
                  <a:srgbClr val="404040"/>
                </a:solidFill>
                <a:ea typeface="Pretendard Bold"/>
              </a:rPr>
              <a:t>요청</a:t>
            </a:r>
            <a:r>
              <a:rPr lang="en-US" sz="2800" b="1" dirty="0">
                <a:solidFill>
                  <a:srgbClr val="404040"/>
                </a:solidFill>
                <a:latin typeface="Pretendard Bold"/>
              </a:rPr>
              <a:t>)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4609495"/>
            <a:ext cx="10828867" cy="1659468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431655765" y="-1347275267"/>
            <a:ext cx="1431655765" cy="1431655765"/>
            <a:chOff x="1431655765" y="-1347275267"/>
            <a:chExt cx="1431655765" cy="1431655765"/>
          </a:xfrm>
        </p:grpSpPr>
      </p:grpSp>
      <p:sp>
        <p:nvSpPr>
          <p:cNvPr id="34" name="TextBox 34"/>
          <p:cNvSpPr txBox="1"/>
          <p:nvPr/>
        </p:nvSpPr>
        <p:spPr>
          <a:xfrm>
            <a:off x="3702353" y="4406900"/>
            <a:ext cx="4013200" cy="3471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933" b="1" dirty="0">
                <a:solidFill>
                  <a:srgbClr val="404040"/>
                </a:solidFill>
                <a:ea typeface="Pretendard Medium"/>
              </a:rPr>
              <a:t>사용</a:t>
            </a:r>
            <a:r>
              <a:rPr lang="en-US" sz="1933" b="1" dirty="0">
                <a:solidFill>
                  <a:srgbClr val="404040"/>
                </a:solidFill>
                <a:latin typeface="Pretendard Medium"/>
              </a:rPr>
              <a:t> </a:t>
            </a:r>
            <a:r>
              <a:rPr lang="ko-KR" altLang="en-US" sz="1933" b="1" dirty="0">
                <a:solidFill>
                  <a:srgbClr val="404040"/>
                </a:solidFill>
                <a:ea typeface="Pretendard Medium"/>
              </a:rPr>
              <a:t>모델</a:t>
            </a:r>
            <a:r>
              <a:rPr lang="en-US" sz="1933" b="1" dirty="0">
                <a:solidFill>
                  <a:srgbClr val="404040"/>
                </a:solidFill>
                <a:latin typeface="Pretendard Medium"/>
              </a:rPr>
              <a:t>: "model" =&gt; "gpt-4o"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78592" y="4863495"/>
            <a:ext cx="5249637" cy="144780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프롬프트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구성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추가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질문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생성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프롬프트</a:t>
            </a:r>
          </a:p>
          <a:p>
            <a:pPr marL="364085" lvl="1" indent="-228611">
              <a:lnSpc>
                <a:spcPct val="124499"/>
              </a:lnSpc>
              <a:buAutoNum type="alpha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사용자의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채팅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기록을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바탕으로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수집된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정보를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요약하고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부족한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정보를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확인하기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위해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사용자에게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추가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질문을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던지도록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GPT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에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요청함</a:t>
            </a:r>
          </a:p>
          <a:p>
            <a:pPr marL="364085" lvl="1" indent="-228611">
              <a:lnSpc>
                <a:spcPct val="124499"/>
              </a:lnSpc>
              <a:buAutoNum type="alpha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프롬프트는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사용자에게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자연스러운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대화를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통해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b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</a:b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확인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요청을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진행하도록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유도함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946900" y="4863496"/>
            <a:ext cx="3344333" cy="123613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프롬프트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구성</a:t>
            </a:r>
          </a:p>
          <a:p>
            <a:pPr lvl="0" algn="l">
              <a:lnSpc>
                <a:spcPct val="124499"/>
              </a:lnSpc>
            </a:pP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2.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생성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프롬프트</a:t>
            </a:r>
          </a:p>
          <a:p>
            <a:pPr marL="364085" lvl="1" indent="-228611">
              <a:lnSpc>
                <a:spcPct val="124499"/>
              </a:lnSpc>
              <a:buAutoNum type="alpha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필요한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모든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정보가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수집되었다고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판단되면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GPT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에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b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</a:b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일정을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생성하도록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</a:t>
            </a:r>
          </a:p>
          <a:p>
            <a:pPr marL="364085" lvl="1" indent="-228611">
              <a:lnSpc>
                <a:spcPct val="124499"/>
              </a:lnSpc>
              <a:buAutoNum type="alpha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각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장소의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이름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주소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위도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경도를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포함하도록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8D7B94-403D-BB22-A0F4-25B3CF82D495}"/>
              </a:ext>
            </a:extLst>
          </p:cNvPr>
          <p:cNvSpPr txBox="1"/>
          <p:nvPr/>
        </p:nvSpPr>
        <p:spPr>
          <a:xfrm>
            <a:off x="417568" y="186498"/>
            <a:ext cx="28937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04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 </a:t>
            </a:r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AI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활용 및 실행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62" y="1426633"/>
            <a:ext cx="4030829" cy="4792133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625600" y="901095"/>
            <a:ext cx="8322733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2.2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채팅을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통한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검색기능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-(GPT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통한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검증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로직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)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372" y="2023533"/>
            <a:ext cx="6539200" cy="359833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431655765" y="-1347275267"/>
            <a:ext cx="1431655765" cy="1431655765"/>
            <a:chOff x="1431655765" y="-1347275267"/>
            <a:chExt cx="1431655765" cy="1431655765"/>
          </a:xfrm>
        </p:grpSpPr>
      </p:grpSp>
      <p:sp>
        <p:nvSpPr>
          <p:cNvPr id="34" name="TextBox 34"/>
          <p:cNvSpPr txBox="1"/>
          <p:nvPr/>
        </p:nvSpPr>
        <p:spPr>
          <a:xfrm>
            <a:off x="5393267" y="3005667"/>
            <a:ext cx="6155267" cy="18118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검증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프롬프트</a:t>
            </a:r>
          </a:p>
          <a:p>
            <a:pPr marL="372552" lvl="1" indent="-228611">
              <a:lnSpc>
                <a:spcPct val="124499"/>
              </a:lnSpc>
              <a:buAutoNum type="alphaLcPeriod"/>
            </a:pP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GPT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가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생성한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일정에서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장소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(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이름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주소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위도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경도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)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가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누락되거나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부정확한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경우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검증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작업을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수행</a:t>
            </a:r>
          </a:p>
          <a:p>
            <a:pPr marL="372552" lvl="1" indent="-228611">
              <a:lnSpc>
                <a:spcPct val="124499"/>
              </a:lnSpc>
              <a:buAutoNum type="alphaLcPeriod"/>
            </a:pP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누락된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정보가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발견되면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GPT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에게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수정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요청을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전달하며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최대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재시도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횟수에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도달할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때까지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반복적으로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검증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및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요청을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진행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검증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후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재요청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반복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프롬프트</a:t>
            </a:r>
          </a:p>
          <a:p>
            <a:pPr marL="372552" lvl="1" indent="-228611">
              <a:lnSpc>
                <a:spcPct val="124499"/>
              </a:lnSpc>
              <a:buAutoNum type="alphaLcPeriod"/>
            </a:pP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검증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실패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시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보완을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위해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GPT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에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수정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요청을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반복적으로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전달함</a:t>
            </a:r>
          </a:p>
          <a:p>
            <a:pPr marL="372552" lvl="1" indent="-228611">
              <a:lnSpc>
                <a:spcPct val="124499"/>
              </a:lnSpc>
              <a:buAutoNum type="alphaLcPeriod"/>
            </a:pP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최대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재시도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횟수에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도달할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때까지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검증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-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-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수정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과정을</a:t>
            </a:r>
            <a:r>
              <a:rPr lang="en-US" sz="1133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133">
                <a:solidFill>
                  <a:srgbClr val="000000">
                    <a:alpha val="70196"/>
                  </a:srgbClr>
                </a:solidFill>
                <a:ea typeface="Pretendard Light"/>
              </a:rPr>
              <a:t>반복</a:t>
            </a: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0933" y="2311400"/>
            <a:ext cx="491067" cy="491067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5401734" y="2413000"/>
            <a:ext cx="397933" cy="2963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667" b="1" dirty="0">
                <a:solidFill>
                  <a:srgbClr val="404040"/>
                </a:solidFill>
                <a:latin typeface="Pretendard Medium"/>
              </a:rPr>
              <a:t>01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935133" y="2370667"/>
            <a:ext cx="4013200" cy="3471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933" b="1" dirty="0">
                <a:solidFill>
                  <a:srgbClr val="404040"/>
                </a:solidFill>
                <a:ea typeface="Pretendard Medium"/>
              </a:rPr>
              <a:t>사용</a:t>
            </a:r>
            <a:r>
              <a:rPr lang="en-US" sz="1933" b="1" dirty="0">
                <a:solidFill>
                  <a:srgbClr val="404040"/>
                </a:solidFill>
                <a:latin typeface="Pretendard Medium"/>
              </a:rPr>
              <a:t> </a:t>
            </a:r>
            <a:r>
              <a:rPr lang="ko-KR" altLang="en-US" sz="1933" b="1" dirty="0">
                <a:solidFill>
                  <a:srgbClr val="404040"/>
                </a:solidFill>
                <a:ea typeface="Pretendard Medium"/>
              </a:rPr>
              <a:t>모델</a:t>
            </a:r>
            <a:r>
              <a:rPr lang="en-US" sz="1933" b="1" dirty="0">
                <a:solidFill>
                  <a:srgbClr val="404040"/>
                </a:solidFill>
                <a:latin typeface="Pretendard Medium"/>
              </a:rPr>
              <a:t>: "model" =&gt; "gpt-4o"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8AE6269-DA11-85A3-7571-246BF5A4915D}"/>
              </a:ext>
            </a:extLst>
          </p:cNvPr>
          <p:cNvSpPr txBox="1"/>
          <p:nvPr/>
        </p:nvSpPr>
        <p:spPr>
          <a:xfrm>
            <a:off x="417568" y="186498"/>
            <a:ext cx="28937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04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 </a:t>
            </a:r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AI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활용 및 실행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310006" y="746365"/>
            <a:ext cx="12008519" cy="52363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3.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일정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저장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시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장소별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가격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검색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및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 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여행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테마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제공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200" y="1253067"/>
            <a:ext cx="6792686" cy="5190067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934" y="1509486"/>
            <a:ext cx="4444999" cy="4827894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431655765" y="-1347275267"/>
            <a:ext cx="1431655765" cy="1431655765"/>
            <a:chOff x="1431655765" y="-1347275267"/>
            <a:chExt cx="1431655765" cy="1431655765"/>
          </a:xfrm>
        </p:grpSpPr>
      </p:grpSp>
      <p:sp>
        <p:nvSpPr>
          <p:cNvPr id="34" name="TextBox 34"/>
          <p:cNvSpPr txBox="1"/>
          <p:nvPr/>
        </p:nvSpPr>
        <p:spPr>
          <a:xfrm>
            <a:off x="5511800" y="2396067"/>
            <a:ext cx="6186714" cy="38777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동작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방식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: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입력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데이터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수신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확인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태그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및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테마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조회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장소별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비용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추출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(GEMINI_API)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일정에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포함된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장소이름으로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Gemini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호출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장소별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입장료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또는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1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인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식사비를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검색하여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결과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추출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비용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및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경로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데이터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계산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장소별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비용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데이터를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기반으로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총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비용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일일비용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경로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설명을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작성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태그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및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테마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결정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(GPT_API)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경로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데이터를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분석하여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적합한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태그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(3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)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테마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(1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)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GPT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경로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점수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계산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비용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거리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장소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수를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기반으로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경로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점수를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계산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경로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저장</a:t>
            </a: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0267" y="2743200"/>
            <a:ext cx="2286000" cy="5588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7667" y="2142067"/>
            <a:ext cx="601133" cy="1524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0267" y="4445000"/>
            <a:ext cx="2286000" cy="5588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7667" y="3843867"/>
            <a:ext cx="601133" cy="1524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6733" y="1634067"/>
            <a:ext cx="1651000" cy="11684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75000" y="1634067"/>
            <a:ext cx="1651000" cy="11684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75000" y="3335867"/>
            <a:ext cx="1651000" cy="11684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6733" y="3335867"/>
            <a:ext cx="1651000" cy="11684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6733" y="5046133"/>
            <a:ext cx="1651000" cy="1168400"/>
          </a:xfrm>
          <a:prstGeom prst="rect">
            <a:avLst/>
          </a:prstGeom>
        </p:spPr>
      </p:pic>
      <p:sp>
        <p:nvSpPr>
          <p:cNvPr id="44" name="TextBox 44"/>
          <p:cNvSpPr txBox="1"/>
          <p:nvPr/>
        </p:nvSpPr>
        <p:spPr>
          <a:xfrm>
            <a:off x="1193800" y="1879600"/>
            <a:ext cx="1159933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000">
                <a:solidFill>
                  <a:srgbClr val="FFFFFF"/>
                </a:solidFill>
                <a:ea typeface="Pretendard Bold"/>
              </a:rPr>
              <a:t>입력데이터수신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420533" y="1828800"/>
            <a:ext cx="1151467" cy="7704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600">
                <a:solidFill>
                  <a:srgbClr val="FFFFFF"/>
                </a:solidFill>
                <a:latin typeface="Pretendard Bold"/>
              </a:rPr>
              <a:t>GEMINI</a:t>
            </a:r>
            <a:r>
              <a:rPr lang="ko-KR" altLang="en-US" sz="1600">
                <a:solidFill>
                  <a:srgbClr val="FFFFFF"/>
                </a:solidFill>
                <a:ea typeface="Pretendard Bold"/>
              </a:rPr>
              <a:t>를</a:t>
            </a:r>
            <a:r>
              <a:rPr lang="en-US" sz="1600">
                <a:solidFill>
                  <a:srgbClr val="FFFFFF"/>
                </a:solidFill>
                <a:latin typeface="Pretendard Bold"/>
              </a:rPr>
              <a:t> </a:t>
            </a:r>
            <a:br>
              <a:rPr lang="en-US" sz="1600">
                <a:solidFill>
                  <a:srgbClr val="FFFFFF"/>
                </a:solidFill>
                <a:latin typeface="Pretendard Bold"/>
              </a:rPr>
            </a:br>
            <a:r>
              <a:rPr lang="ko-KR" altLang="en-US" sz="1600">
                <a:solidFill>
                  <a:srgbClr val="FFFFFF"/>
                </a:solidFill>
                <a:ea typeface="Pretendard Bold"/>
              </a:rPr>
              <a:t>통한</a:t>
            </a:r>
            <a:r>
              <a:rPr lang="en-US" sz="160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1600">
                <a:solidFill>
                  <a:srgbClr val="FFFFFF"/>
                </a:solidFill>
                <a:ea typeface="Pretendard Bold"/>
              </a:rPr>
              <a:t>장소별</a:t>
            </a:r>
            <a:r>
              <a:rPr lang="en-US" sz="160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1600">
                <a:solidFill>
                  <a:srgbClr val="FFFFFF"/>
                </a:solidFill>
                <a:ea typeface="Pretendard Bold"/>
              </a:rPr>
              <a:t>비용</a:t>
            </a:r>
            <a:r>
              <a:rPr lang="en-US" sz="160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1600">
                <a:solidFill>
                  <a:srgbClr val="FFFFFF"/>
                </a:solidFill>
                <a:ea typeface="Pretendard Bold"/>
              </a:rPr>
              <a:t>추출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17600" y="3429000"/>
            <a:ext cx="1329267" cy="965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000">
                <a:solidFill>
                  <a:srgbClr val="FFFFFF"/>
                </a:solidFill>
                <a:ea typeface="Pretendard Bold"/>
              </a:rPr>
              <a:t>비용</a:t>
            </a:r>
            <a:r>
              <a:rPr lang="en-US" sz="200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2000">
                <a:solidFill>
                  <a:srgbClr val="FFFFFF"/>
                </a:solidFill>
                <a:ea typeface="Pretendard Bold"/>
              </a:rPr>
              <a:t>및</a:t>
            </a:r>
            <a:r>
              <a:rPr lang="en-US" sz="2000">
                <a:solidFill>
                  <a:srgbClr val="FFFFFF"/>
                </a:solidFill>
                <a:latin typeface="Pretendard Bold"/>
              </a:rPr>
              <a:t> </a:t>
            </a:r>
          </a:p>
          <a:p>
            <a:pPr lvl="0" algn="ctr">
              <a:lnSpc>
                <a:spcPct val="99600"/>
              </a:lnSpc>
            </a:pPr>
            <a:r>
              <a:rPr lang="ko-KR" altLang="en-US" sz="2000">
                <a:solidFill>
                  <a:srgbClr val="FFFFFF"/>
                </a:solidFill>
                <a:ea typeface="Pretendard Bold"/>
              </a:rPr>
              <a:t>경로</a:t>
            </a:r>
            <a:r>
              <a:rPr lang="en-US" sz="200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2000">
                <a:solidFill>
                  <a:srgbClr val="FFFFFF"/>
                </a:solidFill>
                <a:ea typeface="Pretendard Bold"/>
              </a:rPr>
              <a:t>데이터</a:t>
            </a:r>
            <a:r>
              <a:rPr lang="en-US" sz="200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2000">
                <a:solidFill>
                  <a:srgbClr val="FFFFFF"/>
                </a:solidFill>
                <a:ea typeface="Pretendard Bold"/>
              </a:rPr>
              <a:t>계산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327400" y="3581400"/>
            <a:ext cx="1337733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000">
                <a:solidFill>
                  <a:srgbClr val="FFFFFF"/>
                </a:solidFill>
                <a:ea typeface="Pretendard Bold"/>
              </a:rPr>
              <a:t>태그</a:t>
            </a:r>
            <a:r>
              <a:rPr lang="en-US" sz="200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2000">
                <a:solidFill>
                  <a:srgbClr val="FFFFFF"/>
                </a:solidFill>
                <a:ea typeface="Pretendard Bold"/>
              </a:rPr>
              <a:t>및</a:t>
            </a:r>
            <a:r>
              <a:rPr lang="en-US" sz="200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2000">
                <a:solidFill>
                  <a:srgbClr val="FFFFFF"/>
                </a:solidFill>
                <a:ea typeface="Pretendard Bold"/>
              </a:rPr>
              <a:t>테마</a:t>
            </a:r>
            <a:r>
              <a:rPr lang="en-US" sz="200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2000">
                <a:solidFill>
                  <a:srgbClr val="FFFFFF"/>
                </a:solidFill>
                <a:ea typeface="Pretendard Bold"/>
              </a:rPr>
              <a:t>결정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93800" y="5291667"/>
            <a:ext cx="1159933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000">
                <a:solidFill>
                  <a:srgbClr val="FFFFFF"/>
                </a:solidFill>
                <a:ea typeface="Pretendard Bold"/>
              </a:rPr>
              <a:t>경로</a:t>
            </a:r>
            <a:r>
              <a:rPr lang="en-US" sz="200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2000">
                <a:solidFill>
                  <a:srgbClr val="FFFFFF"/>
                </a:solidFill>
                <a:ea typeface="Pretendard Bold"/>
              </a:rPr>
              <a:t>점수</a:t>
            </a:r>
            <a:r>
              <a:rPr lang="en-US" sz="200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2000">
                <a:solidFill>
                  <a:srgbClr val="FFFFFF"/>
                </a:solidFill>
                <a:ea typeface="Pretendard Bold"/>
              </a:rPr>
              <a:t>계산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019800" y="1270000"/>
            <a:ext cx="4792133" cy="4148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333">
                <a:solidFill>
                  <a:srgbClr val="404040"/>
                </a:solidFill>
                <a:ea typeface="Pretendard Medium"/>
              </a:rPr>
              <a:t>사용</a:t>
            </a:r>
            <a:r>
              <a:rPr lang="en-US" sz="2333">
                <a:solidFill>
                  <a:srgbClr val="404040"/>
                </a:solidFill>
                <a:latin typeface="Pretendard Medium"/>
              </a:rPr>
              <a:t> </a:t>
            </a:r>
            <a:r>
              <a:rPr lang="ko-KR" altLang="en-US" sz="2333">
                <a:solidFill>
                  <a:srgbClr val="404040"/>
                </a:solidFill>
                <a:ea typeface="Pretendard Medium"/>
              </a:rPr>
              <a:t>모델</a:t>
            </a:r>
            <a:r>
              <a:rPr lang="en-US" sz="2333">
                <a:solidFill>
                  <a:srgbClr val="404040"/>
                </a:solidFill>
                <a:latin typeface="Pretendard Medium"/>
              </a:rPr>
              <a:t>: "model" =&gt; "gpt-4o"</a:t>
            </a:r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18667" y="1253067"/>
            <a:ext cx="457200" cy="457200"/>
          </a:xfrm>
          <a:prstGeom prst="rect">
            <a:avLst/>
          </a:prstGeom>
        </p:spPr>
      </p:pic>
      <p:sp>
        <p:nvSpPr>
          <p:cNvPr id="51" name="TextBox 51"/>
          <p:cNvSpPr txBox="1"/>
          <p:nvPr/>
        </p:nvSpPr>
        <p:spPr>
          <a:xfrm>
            <a:off x="5469467" y="1354667"/>
            <a:ext cx="372533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533">
                <a:solidFill>
                  <a:srgbClr val="404040"/>
                </a:solidFill>
                <a:latin typeface="Pretendard Medium"/>
              </a:rPr>
              <a:t>01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019800" y="1786467"/>
            <a:ext cx="4792133" cy="4148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333">
                <a:solidFill>
                  <a:srgbClr val="404040"/>
                </a:solidFill>
                <a:ea typeface="Pretendard Medium"/>
              </a:rPr>
              <a:t>사용</a:t>
            </a:r>
            <a:r>
              <a:rPr lang="en-US" sz="2333">
                <a:solidFill>
                  <a:srgbClr val="404040"/>
                </a:solidFill>
                <a:latin typeface="Pretendard Medium"/>
              </a:rPr>
              <a:t> </a:t>
            </a:r>
            <a:r>
              <a:rPr lang="ko-KR" altLang="en-US" sz="2333">
                <a:solidFill>
                  <a:srgbClr val="404040"/>
                </a:solidFill>
                <a:ea typeface="Pretendard Medium"/>
              </a:rPr>
              <a:t>모델</a:t>
            </a:r>
            <a:r>
              <a:rPr lang="en-US" sz="2333">
                <a:solidFill>
                  <a:srgbClr val="404040"/>
                </a:solidFill>
                <a:latin typeface="Pretendard Medium"/>
              </a:rPr>
              <a:t>: gemini-1.5-pro</a:t>
            </a:r>
          </a:p>
        </p:txBody>
      </p:sp>
      <p:pic>
        <p:nvPicPr>
          <p:cNvPr id="53" name="Picture 5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18667" y="1769533"/>
            <a:ext cx="457200" cy="457200"/>
          </a:xfrm>
          <a:prstGeom prst="rect">
            <a:avLst/>
          </a:prstGeom>
        </p:spPr>
      </p:pic>
      <p:sp>
        <p:nvSpPr>
          <p:cNvPr id="54" name="TextBox 54"/>
          <p:cNvSpPr txBox="1"/>
          <p:nvPr/>
        </p:nvSpPr>
        <p:spPr>
          <a:xfrm>
            <a:off x="5469467" y="1862667"/>
            <a:ext cx="372533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533">
                <a:solidFill>
                  <a:srgbClr val="404040"/>
                </a:solidFill>
                <a:latin typeface="Pretendard Medium"/>
              </a:rPr>
              <a:t>02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5628AFD-F64F-CD9C-E44D-3F653A6BD862}"/>
              </a:ext>
            </a:extLst>
          </p:cNvPr>
          <p:cNvSpPr txBox="1"/>
          <p:nvPr/>
        </p:nvSpPr>
        <p:spPr>
          <a:xfrm>
            <a:off x="417568" y="186498"/>
            <a:ext cx="28937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04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 </a:t>
            </a:r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AI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활용 및 실행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553029"/>
            <a:ext cx="5020733" cy="4426858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10490200" y="5223934"/>
            <a:ext cx="1761067" cy="1744133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319314" y="563033"/>
            <a:ext cx="11596915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533" b="1" dirty="0">
                <a:solidFill>
                  <a:srgbClr val="404040"/>
                </a:solidFill>
                <a:latin typeface="Pretendard Bold"/>
              </a:rPr>
              <a:t>3. </a:t>
            </a:r>
            <a:r>
              <a:rPr lang="ko-KR" altLang="en-US" sz="2533" b="1" dirty="0">
                <a:solidFill>
                  <a:srgbClr val="404040"/>
                </a:solidFill>
                <a:ea typeface="Pretendard Bold"/>
              </a:rPr>
              <a:t>일정</a:t>
            </a:r>
            <a:r>
              <a:rPr lang="en-US" sz="2533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2533" b="1" dirty="0">
                <a:solidFill>
                  <a:srgbClr val="404040"/>
                </a:solidFill>
                <a:ea typeface="Pretendard Bold"/>
              </a:rPr>
              <a:t>저장</a:t>
            </a:r>
            <a:r>
              <a:rPr lang="en-US" sz="2533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2533" b="1" dirty="0">
                <a:solidFill>
                  <a:srgbClr val="404040"/>
                </a:solidFill>
                <a:ea typeface="Pretendard Bold"/>
              </a:rPr>
              <a:t>시</a:t>
            </a:r>
            <a:r>
              <a:rPr lang="en-US" sz="2533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2533" b="1" dirty="0">
                <a:solidFill>
                  <a:srgbClr val="404040"/>
                </a:solidFill>
                <a:ea typeface="Pretendard Bold"/>
              </a:rPr>
              <a:t>장소별</a:t>
            </a:r>
            <a:r>
              <a:rPr lang="en-US" sz="2533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2533" b="1" dirty="0">
                <a:solidFill>
                  <a:srgbClr val="404040"/>
                </a:solidFill>
                <a:ea typeface="Pretendard Bold"/>
              </a:rPr>
              <a:t>가격</a:t>
            </a:r>
            <a:r>
              <a:rPr lang="en-US" sz="2533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2533" b="1" dirty="0">
                <a:solidFill>
                  <a:srgbClr val="404040"/>
                </a:solidFill>
                <a:ea typeface="Pretendard Bold"/>
              </a:rPr>
              <a:t>검색</a:t>
            </a:r>
            <a:r>
              <a:rPr lang="en-US" sz="2533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2533" b="1" dirty="0">
                <a:solidFill>
                  <a:srgbClr val="404040"/>
                </a:solidFill>
                <a:ea typeface="Pretendard Bold"/>
              </a:rPr>
              <a:t>및</a:t>
            </a:r>
            <a:r>
              <a:rPr lang="en-US" sz="2533" b="1" dirty="0">
                <a:solidFill>
                  <a:srgbClr val="404040"/>
                </a:solidFill>
                <a:latin typeface="Pretendard Bold"/>
              </a:rPr>
              <a:t> </a:t>
            </a:r>
            <a:r>
              <a:rPr lang="ko-KR" altLang="en-US" sz="2533" b="1" dirty="0">
                <a:solidFill>
                  <a:srgbClr val="404040"/>
                </a:solidFill>
                <a:ea typeface="Pretendard Bold"/>
              </a:rPr>
              <a:t>여행</a:t>
            </a:r>
            <a:r>
              <a:rPr lang="en-US" sz="2533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2533" b="1" dirty="0">
                <a:solidFill>
                  <a:srgbClr val="404040"/>
                </a:solidFill>
                <a:ea typeface="Pretendard Bold"/>
              </a:rPr>
              <a:t>테마</a:t>
            </a:r>
            <a:r>
              <a:rPr lang="en-US" sz="2533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2533" b="1" dirty="0">
                <a:solidFill>
                  <a:srgbClr val="404040"/>
                </a:solidFill>
                <a:ea typeface="Pretendard Bold"/>
              </a:rPr>
              <a:t>제공</a:t>
            </a:r>
            <a:r>
              <a:rPr lang="en-US" sz="2533" b="1" dirty="0">
                <a:solidFill>
                  <a:srgbClr val="404040"/>
                </a:solidFill>
                <a:latin typeface="Pretendard Bold"/>
              </a:rPr>
              <a:t>(</a:t>
            </a:r>
            <a:r>
              <a:rPr lang="ko-KR" altLang="en-US" sz="2533" b="1" dirty="0">
                <a:solidFill>
                  <a:srgbClr val="404040"/>
                </a:solidFill>
                <a:ea typeface="Pretendard Bold"/>
              </a:rPr>
              <a:t>가격</a:t>
            </a:r>
            <a:r>
              <a:rPr lang="en-US" sz="2533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2533" b="1" dirty="0">
                <a:solidFill>
                  <a:srgbClr val="404040"/>
                </a:solidFill>
                <a:ea typeface="Pretendard Bold"/>
              </a:rPr>
              <a:t>검색</a:t>
            </a:r>
            <a:r>
              <a:rPr lang="en-US" sz="2533" b="1" dirty="0">
                <a:solidFill>
                  <a:srgbClr val="404040"/>
                </a:solidFill>
                <a:latin typeface="Pretendard Bold"/>
              </a:rPr>
              <a:t>)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0867" y="1553029"/>
            <a:ext cx="6400800" cy="4426857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431655765" y="-1347275267"/>
            <a:ext cx="1431655765" cy="1431655765"/>
            <a:chOff x="1431655765" y="-1347275267"/>
            <a:chExt cx="1431655765" cy="1431655765"/>
          </a:xfrm>
        </p:grpSpPr>
      </p:grpSp>
      <p:sp>
        <p:nvSpPr>
          <p:cNvPr id="34" name="TextBox 34"/>
          <p:cNvSpPr txBox="1"/>
          <p:nvPr/>
        </p:nvSpPr>
        <p:spPr>
          <a:xfrm>
            <a:off x="5393267" y="2345267"/>
            <a:ext cx="6155267" cy="23791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사용자가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제공한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장소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이름에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대해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가격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정보를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검색하도록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검색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결과를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기반으로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입장료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혹은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평균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식사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비용을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반환하도록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구성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프롬프트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조건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:</a:t>
            </a:r>
          </a:p>
          <a:p>
            <a:pPr marL="397953" lvl="1" indent="-228611">
              <a:lnSpc>
                <a:spcPct val="124499"/>
              </a:lnSpc>
              <a:buAutoNum type="alphaLcPeriod"/>
            </a:pP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정확한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금액만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(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숫자로만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)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응답할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것</a:t>
            </a:r>
          </a:p>
          <a:p>
            <a:pPr marL="397953" lvl="1" indent="-228611">
              <a:lnSpc>
                <a:spcPct val="124499"/>
              </a:lnSpc>
              <a:buAutoNum type="alphaLcPeriod"/>
            </a:pP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입장료의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경우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성인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기준</a:t>
            </a:r>
          </a:p>
          <a:p>
            <a:pPr marL="397953" lvl="1" indent="-228611">
              <a:lnSpc>
                <a:spcPct val="124499"/>
              </a:lnSpc>
              <a:buAutoNum type="alphaLcPeriod"/>
            </a:pP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식당의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경우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1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인당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평균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식사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비용</a:t>
            </a:r>
          </a:p>
          <a:p>
            <a:pPr marL="397953" lvl="1" indent="-228611">
              <a:lnSpc>
                <a:spcPct val="124499"/>
              </a:lnSpc>
              <a:buAutoNum type="alphaLcPeriod"/>
            </a:pP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무료인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경우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"0"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으로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응답할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것</a:t>
            </a:r>
          </a:p>
          <a:p>
            <a:pPr marL="397953" lvl="1" indent="-228611">
              <a:lnSpc>
                <a:spcPct val="124499"/>
              </a:lnSpc>
              <a:buAutoNum type="alphaLcPeriod"/>
            </a:pP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추가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설명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없이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금액만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반환할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것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Google Search Retrieval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옵션을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통해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인터넷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검색기능을</a:t>
            </a:r>
            <a:r>
              <a:rPr lang="en-US" sz="1333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333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허용함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994400" y="1761067"/>
            <a:ext cx="4792133" cy="4148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333" b="1" dirty="0">
                <a:solidFill>
                  <a:srgbClr val="404040"/>
                </a:solidFill>
                <a:ea typeface="Pretendard Medium"/>
              </a:rPr>
              <a:t>사용</a:t>
            </a:r>
            <a:r>
              <a:rPr lang="en-US" sz="2333" b="1" dirty="0">
                <a:solidFill>
                  <a:srgbClr val="404040"/>
                </a:solidFill>
                <a:latin typeface="Pretendard Medium"/>
              </a:rPr>
              <a:t> </a:t>
            </a:r>
            <a:r>
              <a:rPr lang="ko-KR" altLang="en-US" sz="2333" b="1" dirty="0">
                <a:solidFill>
                  <a:srgbClr val="404040"/>
                </a:solidFill>
                <a:ea typeface="Pretendard Medium"/>
              </a:rPr>
              <a:t>모델</a:t>
            </a:r>
            <a:r>
              <a:rPr lang="en-US" sz="2333" b="1" dirty="0">
                <a:solidFill>
                  <a:srgbClr val="404040"/>
                </a:solidFill>
                <a:latin typeface="Pretendard Medium"/>
              </a:rPr>
              <a:t>: gemini-1.5-pro</a:t>
            </a: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3267" y="1744133"/>
            <a:ext cx="457200" cy="457200"/>
          </a:xfrm>
          <a:prstGeom prst="rect">
            <a:avLst/>
          </a:prstGeom>
        </p:spPr>
      </p:pic>
      <p:sp>
        <p:nvSpPr>
          <p:cNvPr id="37" name="TextBox 37"/>
          <p:cNvSpPr txBox="1"/>
          <p:nvPr/>
        </p:nvSpPr>
        <p:spPr>
          <a:xfrm>
            <a:off x="5435600" y="1845733"/>
            <a:ext cx="372533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533" b="1" dirty="0">
                <a:solidFill>
                  <a:srgbClr val="404040"/>
                </a:solidFill>
                <a:latin typeface="Pretendard Medium"/>
              </a:rPr>
              <a:t>01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8FC576F-8F81-61B8-41ED-ED73C5134690}"/>
              </a:ext>
            </a:extLst>
          </p:cNvPr>
          <p:cNvSpPr txBox="1"/>
          <p:nvPr/>
        </p:nvSpPr>
        <p:spPr>
          <a:xfrm>
            <a:off x="417568" y="186498"/>
            <a:ext cx="28937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04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 </a:t>
            </a:r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AI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활용 및 실행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34" y="1490133"/>
            <a:ext cx="5020733" cy="4089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960033" y="643467"/>
            <a:ext cx="77978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533" b="1" dirty="0">
                <a:solidFill>
                  <a:srgbClr val="404040"/>
                </a:solidFill>
                <a:latin typeface="Pretendard Bold"/>
              </a:rPr>
              <a:t>3. </a:t>
            </a:r>
            <a:r>
              <a:rPr lang="ko-KR" altLang="en-US" sz="2533" b="1" dirty="0">
                <a:solidFill>
                  <a:srgbClr val="404040"/>
                </a:solidFill>
                <a:ea typeface="Pretendard Bold"/>
              </a:rPr>
              <a:t>일정</a:t>
            </a:r>
            <a:r>
              <a:rPr lang="en-US" sz="2533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2533" b="1" dirty="0">
                <a:solidFill>
                  <a:srgbClr val="404040"/>
                </a:solidFill>
                <a:ea typeface="Pretendard Bold"/>
              </a:rPr>
              <a:t>저장</a:t>
            </a:r>
            <a:r>
              <a:rPr lang="en-US" sz="2533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2533" b="1" dirty="0">
                <a:solidFill>
                  <a:srgbClr val="404040"/>
                </a:solidFill>
                <a:ea typeface="Pretendard Bold"/>
              </a:rPr>
              <a:t>시</a:t>
            </a:r>
            <a:r>
              <a:rPr lang="en-US" sz="2533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2533" b="1" dirty="0">
                <a:solidFill>
                  <a:srgbClr val="404040"/>
                </a:solidFill>
                <a:ea typeface="Pretendard Bold"/>
              </a:rPr>
              <a:t>장소별</a:t>
            </a:r>
            <a:r>
              <a:rPr lang="en-US" sz="2533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2533" b="1" dirty="0">
                <a:solidFill>
                  <a:srgbClr val="404040"/>
                </a:solidFill>
                <a:ea typeface="Pretendard Bold"/>
              </a:rPr>
              <a:t>가격</a:t>
            </a:r>
            <a:r>
              <a:rPr lang="en-US" sz="2533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2533" b="1" dirty="0">
                <a:solidFill>
                  <a:srgbClr val="404040"/>
                </a:solidFill>
                <a:ea typeface="Pretendard Bold"/>
              </a:rPr>
              <a:t>검색</a:t>
            </a:r>
            <a:r>
              <a:rPr lang="en-US" sz="2533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2533" b="1" dirty="0">
                <a:solidFill>
                  <a:srgbClr val="404040"/>
                </a:solidFill>
                <a:ea typeface="Pretendard Bold"/>
              </a:rPr>
              <a:t>및</a:t>
            </a:r>
            <a:r>
              <a:rPr lang="en-US" sz="2533" b="1" dirty="0">
                <a:solidFill>
                  <a:srgbClr val="404040"/>
                </a:solidFill>
                <a:latin typeface="Pretendard Bold"/>
              </a:rPr>
              <a:t> </a:t>
            </a:r>
          </a:p>
          <a:p>
            <a:pPr lvl="0" algn="ctr">
              <a:lnSpc>
                <a:spcPct val="99600"/>
              </a:lnSpc>
            </a:pPr>
            <a:r>
              <a:rPr lang="ko-KR" altLang="en-US" sz="2533" b="1" dirty="0">
                <a:solidFill>
                  <a:srgbClr val="404040"/>
                </a:solidFill>
                <a:ea typeface="Pretendard Bold"/>
              </a:rPr>
              <a:t>여행</a:t>
            </a:r>
            <a:r>
              <a:rPr lang="en-US" sz="2533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2533" b="1" dirty="0">
                <a:solidFill>
                  <a:srgbClr val="404040"/>
                </a:solidFill>
                <a:ea typeface="Pretendard Bold"/>
              </a:rPr>
              <a:t>테마</a:t>
            </a:r>
            <a:r>
              <a:rPr lang="en-US" sz="2533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2533" b="1" dirty="0">
                <a:solidFill>
                  <a:srgbClr val="404040"/>
                </a:solidFill>
                <a:ea typeface="Pretendard Bold"/>
              </a:rPr>
              <a:t>제공</a:t>
            </a:r>
            <a:r>
              <a:rPr lang="en-US" sz="2533" b="1" dirty="0">
                <a:solidFill>
                  <a:srgbClr val="404040"/>
                </a:solidFill>
                <a:latin typeface="Pretendard Bold"/>
              </a:rPr>
              <a:t>(</a:t>
            </a:r>
            <a:r>
              <a:rPr lang="ko-KR" altLang="en-US" sz="2533" b="1" dirty="0">
                <a:solidFill>
                  <a:srgbClr val="404040"/>
                </a:solidFill>
                <a:ea typeface="Pretendard Bold"/>
              </a:rPr>
              <a:t>태그선택</a:t>
            </a:r>
            <a:r>
              <a:rPr lang="en-US" sz="2533" b="1" dirty="0">
                <a:solidFill>
                  <a:srgbClr val="404040"/>
                </a:solidFill>
                <a:latin typeface="Pretendard Bold"/>
              </a:rPr>
              <a:t>)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0867" y="1473200"/>
            <a:ext cx="6400800" cy="40640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431655765" y="-1347275267"/>
            <a:ext cx="1431655765" cy="1431655765"/>
            <a:chOff x="1431655765" y="-1347275267"/>
            <a:chExt cx="1431655765" cy="1431655765"/>
          </a:xfrm>
        </p:grpSpPr>
      </p:grpSp>
      <p:sp>
        <p:nvSpPr>
          <p:cNvPr id="34" name="TextBox 34"/>
          <p:cNvSpPr txBox="1"/>
          <p:nvPr/>
        </p:nvSpPr>
        <p:spPr>
          <a:xfrm>
            <a:off x="5393267" y="3107267"/>
            <a:ext cx="6155267" cy="8551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467">
                <a:solidFill>
                  <a:srgbClr val="000000">
                    <a:alpha val="70196"/>
                  </a:srgbClr>
                </a:solidFill>
                <a:ea typeface="Pretendard Light"/>
              </a:rPr>
              <a:t>태그</a:t>
            </a:r>
            <a:r>
              <a:rPr lang="en-US" sz="1467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67">
                <a:solidFill>
                  <a:srgbClr val="000000">
                    <a:alpha val="70196"/>
                  </a:srgbClr>
                </a:solidFill>
                <a:ea typeface="Pretendard Light"/>
              </a:rPr>
              <a:t>분석</a:t>
            </a:r>
            <a:r>
              <a:rPr lang="en-US" sz="1467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67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</a:t>
            </a:r>
          </a:p>
          <a:p>
            <a:pPr marL="414887" lvl="1" indent="-228611">
              <a:lnSpc>
                <a:spcPct val="124499"/>
              </a:lnSpc>
              <a:buAutoNum type="alphaLcPeriod"/>
            </a:pPr>
            <a:r>
              <a:rPr lang="ko-KR" altLang="en-US" sz="1467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사용자가</a:t>
            </a:r>
            <a:r>
              <a:rPr lang="en-US" sz="1467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67">
                <a:solidFill>
                  <a:srgbClr val="000000">
                    <a:alpha val="70196"/>
                  </a:srgbClr>
                </a:solidFill>
                <a:ea typeface="Pretendard Light"/>
              </a:rPr>
              <a:t>제공한</a:t>
            </a:r>
            <a:r>
              <a:rPr lang="en-US" sz="1467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67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</a:t>
            </a:r>
            <a:r>
              <a:rPr lang="en-US" sz="1467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67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일정과</a:t>
            </a:r>
            <a:r>
              <a:rPr lang="en-US" sz="1467">
                <a:solidFill>
                  <a:srgbClr val="000000">
                    <a:alpha val="70196"/>
                  </a:srgbClr>
                </a:solidFill>
                <a:latin typeface="Pretendard Light"/>
              </a:rPr>
              <a:t> DB</a:t>
            </a:r>
            <a:r>
              <a:rPr lang="ko-KR" altLang="en-US" sz="1467">
                <a:solidFill>
                  <a:srgbClr val="000000">
                    <a:alpha val="70196"/>
                  </a:srgbClr>
                </a:solidFill>
                <a:ea typeface="Pretendard Light"/>
              </a:rPr>
              <a:t>의</a:t>
            </a:r>
            <a:r>
              <a:rPr lang="en-US" sz="1467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67">
                <a:solidFill>
                  <a:srgbClr val="000000">
                    <a:alpha val="70196"/>
                  </a:srgbClr>
                </a:solidFill>
                <a:ea typeface="Pretendard Light"/>
              </a:rPr>
              <a:t>태그</a:t>
            </a:r>
            <a:r>
              <a:rPr lang="en-US" sz="1467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67">
                <a:solidFill>
                  <a:srgbClr val="000000">
                    <a:alpha val="70196"/>
                  </a:srgbClr>
                </a:solidFill>
                <a:ea typeface="Pretendard Light"/>
              </a:rPr>
              <a:t>리스트를</a:t>
            </a:r>
            <a:r>
              <a:rPr lang="en-US" sz="1467">
                <a:solidFill>
                  <a:srgbClr val="000000">
                    <a:alpha val="70196"/>
                  </a:srgbClr>
                </a:solidFill>
                <a:latin typeface="Pretendard Light"/>
              </a:rPr>
              <a:t> GPT</a:t>
            </a:r>
            <a:r>
              <a:rPr lang="ko-KR" altLang="en-US" sz="1467">
                <a:solidFill>
                  <a:srgbClr val="000000">
                    <a:alpha val="70196"/>
                  </a:srgbClr>
                </a:solidFill>
                <a:ea typeface="Pretendard Light"/>
              </a:rPr>
              <a:t>에</a:t>
            </a:r>
            <a:r>
              <a:rPr lang="en-US" sz="1467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67">
                <a:solidFill>
                  <a:srgbClr val="000000">
                    <a:alpha val="70196"/>
                  </a:srgbClr>
                </a:solidFill>
                <a:ea typeface="Pretendard Light"/>
              </a:rPr>
              <a:t>전달</a:t>
            </a:r>
          </a:p>
          <a:p>
            <a:pPr marL="414887" lvl="1" indent="-228611">
              <a:lnSpc>
                <a:spcPct val="124499"/>
              </a:lnSpc>
              <a:buAutoNum type="alphaLcPeriod"/>
            </a:pPr>
            <a:r>
              <a:rPr lang="en-US" sz="1467">
                <a:solidFill>
                  <a:srgbClr val="000000">
                    <a:alpha val="70196"/>
                  </a:srgbClr>
                </a:solidFill>
                <a:latin typeface="Pretendard Light"/>
              </a:rPr>
              <a:t>GPT</a:t>
            </a:r>
            <a:r>
              <a:rPr lang="ko-KR" altLang="en-US" sz="1467">
                <a:solidFill>
                  <a:srgbClr val="000000">
                    <a:alpha val="70196"/>
                  </a:srgbClr>
                </a:solidFill>
                <a:ea typeface="Pretendard Light"/>
              </a:rPr>
              <a:t>는</a:t>
            </a:r>
            <a:r>
              <a:rPr lang="en-US" sz="1467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67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사용자의</a:t>
            </a:r>
            <a:r>
              <a:rPr lang="en-US" sz="1467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67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</a:t>
            </a:r>
            <a:r>
              <a:rPr lang="en-US" sz="1467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67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일정에</a:t>
            </a:r>
            <a:r>
              <a:rPr lang="en-US" sz="1467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67">
                <a:solidFill>
                  <a:srgbClr val="000000">
                    <a:alpha val="70196"/>
                  </a:srgbClr>
                </a:solidFill>
                <a:ea typeface="Pretendard Light"/>
              </a:rPr>
              <a:t>적합한</a:t>
            </a:r>
            <a:r>
              <a:rPr lang="en-US" sz="1467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67">
                <a:solidFill>
                  <a:srgbClr val="000000">
                    <a:alpha val="70196"/>
                  </a:srgbClr>
                </a:solidFill>
                <a:ea typeface="Pretendard Light"/>
              </a:rPr>
              <a:t>태그</a:t>
            </a:r>
            <a:r>
              <a:rPr lang="en-US" sz="1467">
                <a:solidFill>
                  <a:srgbClr val="000000">
                    <a:alpha val="70196"/>
                  </a:srgbClr>
                </a:solidFill>
                <a:latin typeface="Pretendard Light"/>
              </a:rPr>
              <a:t> 3</a:t>
            </a:r>
            <a:r>
              <a:rPr lang="ko-KR" altLang="en-US" sz="1467">
                <a:solidFill>
                  <a:srgbClr val="000000">
                    <a:alpha val="70196"/>
                  </a:srgbClr>
                </a:solidFill>
                <a:ea typeface="Pretendard Light"/>
              </a:rPr>
              <a:t>개를</a:t>
            </a:r>
            <a:r>
              <a:rPr lang="en-US" sz="1467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67">
                <a:solidFill>
                  <a:srgbClr val="000000">
                    <a:alpha val="70196"/>
                  </a:srgbClr>
                </a:solidFill>
                <a:ea typeface="Pretendard Light"/>
              </a:rPr>
              <a:t>추천</a:t>
            </a: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8667" y="2506133"/>
            <a:ext cx="491067" cy="491067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5461000" y="2616200"/>
            <a:ext cx="397933" cy="2963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667" b="1" dirty="0">
                <a:solidFill>
                  <a:srgbClr val="404040"/>
                </a:solidFill>
                <a:latin typeface="Pretendard Medium"/>
              </a:rPr>
              <a:t>01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994400" y="2565400"/>
            <a:ext cx="4013200" cy="3471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933" b="1" dirty="0">
                <a:solidFill>
                  <a:srgbClr val="404040"/>
                </a:solidFill>
                <a:ea typeface="Pretendard Medium"/>
              </a:rPr>
              <a:t>사용</a:t>
            </a:r>
            <a:r>
              <a:rPr lang="en-US" sz="1933" b="1" dirty="0">
                <a:solidFill>
                  <a:srgbClr val="404040"/>
                </a:solidFill>
                <a:latin typeface="Pretendard Medium"/>
              </a:rPr>
              <a:t> </a:t>
            </a:r>
            <a:r>
              <a:rPr lang="ko-KR" altLang="en-US" sz="1933" b="1" dirty="0">
                <a:solidFill>
                  <a:srgbClr val="404040"/>
                </a:solidFill>
                <a:ea typeface="Pretendard Medium"/>
              </a:rPr>
              <a:t>모델</a:t>
            </a:r>
            <a:r>
              <a:rPr lang="en-US" sz="1933" b="1" dirty="0">
                <a:solidFill>
                  <a:srgbClr val="404040"/>
                </a:solidFill>
                <a:latin typeface="Pretendard Medium"/>
              </a:rPr>
              <a:t>: "model" =&gt; "gpt-4o"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A78433-3DC1-224E-FAF3-A15548E4E42F}"/>
              </a:ext>
            </a:extLst>
          </p:cNvPr>
          <p:cNvSpPr txBox="1"/>
          <p:nvPr/>
        </p:nvSpPr>
        <p:spPr>
          <a:xfrm>
            <a:off x="417568" y="186498"/>
            <a:ext cx="28937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04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 </a:t>
            </a:r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AI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활용 및 실행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571" y="1548715"/>
            <a:ext cx="5794829" cy="3360509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02342" y="572258"/>
            <a:ext cx="10856686" cy="990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3.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일정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저장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시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장소별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가격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검색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및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 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여행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테마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제공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(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테마선택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)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514" y="4909225"/>
            <a:ext cx="7968343" cy="1466176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431655765" y="-1347275267"/>
            <a:ext cx="1431655765" cy="1431655765"/>
            <a:chOff x="1431655765" y="-1347275267"/>
            <a:chExt cx="1431655765" cy="1431655765"/>
          </a:xfrm>
        </p:grpSpPr>
      </p:grpSp>
      <p:sp>
        <p:nvSpPr>
          <p:cNvPr id="34" name="TextBox 34"/>
          <p:cNvSpPr txBox="1"/>
          <p:nvPr/>
        </p:nvSpPr>
        <p:spPr>
          <a:xfrm>
            <a:off x="3866847" y="4998882"/>
            <a:ext cx="4013200" cy="3471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933" b="1" dirty="0">
                <a:solidFill>
                  <a:srgbClr val="404040"/>
                </a:solidFill>
                <a:ea typeface="Pretendard Medium"/>
              </a:rPr>
              <a:t>사용</a:t>
            </a:r>
            <a:r>
              <a:rPr lang="en-US" sz="1933" b="1" dirty="0">
                <a:solidFill>
                  <a:srgbClr val="404040"/>
                </a:solidFill>
                <a:latin typeface="Pretendard Medium"/>
              </a:rPr>
              <a:t> </a:t>
            </a:r>
            <a:r>
              <a:rPr lang="ko-KR" altLang="en-US" sz="1933" b="1" dirty="0">
                <a:solidFill>
                  <a:srgbClr val="404040"/>
                </a:solidFill>
                <a:ea typeface="Pretendard Medium"/>
              </a:rPr>
              <a:t>모델</a:t>
            </a:r>
            <a:r>
              <a:rPr lang="en-US" sz="1933" b="1" dirty="0">
                <a:solidFill>
                  <a:srgbClr val="404040"/>
                </a:solidFill>
                <a:latin typeface="Pretendard Medium"/>
              </a:rPr>
              <a:t>: "model" =&gt; "gpt-4o"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367314" y="5447542"/>
            <a:ext cx="5548086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프롬프트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구성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테마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결정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</a:t>
            </a:r>
          </a:p>
          <a:p>
            <a:pPr marL="364085" lvl="1" indent="-228611">
              <a:lnSpc>
                <a:spcPct val="124499"/>
              </a:lnSpc>
              <a:buAutoNum type="alpha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일정과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태그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분석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결과를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기반으로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GPT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에게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가장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적합한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테마를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요청</a:t>
            </a:r>
          </a:p>
          <a:p>
            <a:pPr marL="364085" lvl="1" indent="-228611">
              <a:lnSpc>
                <a:spcPct val="124499"/>
              </a:lnSpc>
              <a:buAutoNum type="alphaLcPeriod"/>
            </a:pP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GPT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는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경로에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가장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적합한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테마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1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개를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추천함</a:t>
            </a: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7314" y="4981948"/>
            <a:ext cx="381000" cy="381000"/>
          </a:xfrm>
          <a:prstGeom prst="rect">
            <a:avLst/>
          </a:prstGeom>
        </p:spPr>
      </p:pic>
      <p:sp>
        <p:nvSpPr>
          <p:cNvPr id="37" name="TextBox 37"/>
          <p:cNvSpPr txBox="1"/>
          <p:nvPr/>
        </p:nvSpPr>
        <p:spPr>
          <a:xfrm>
            <a:off x="3409647" y="5066615"/>
            <a:ext cx="313267" cy="2370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333" b="1" dirty="0">
                <a:solidFill>
                  <a:srgbClr val="404040"/>
                </a:solidFill>
                <a:latin typeface="Pretendard Medium"/>
              </a:rPr>
              <a:t>01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F4F760-522C-AC91-F98C-D903C0FFA4C8}"/>
              </a:ext>
            </a:extLst>
          </p:cNvPr>
          <p:cNvSpPr txBox="1"/>
          <p:nvPr/>
        </p:nvSpPr>
        <p:spPr>
          <a:xfrm>
            <a:off x="417568" y="186498"/>
            <a:ext cx="28937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04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 </a:t>
            </a:r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AI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활용 및 실행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10490200" y="5223934"/>
            <a:ext cx="1761067" cy="1744133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882900" y="757767"/>
            <a:ext cx="61976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4.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지역별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실시간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코멘트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기능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200" y="1405467"/>
            <a:ext cx="6358467" cy="5037667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67" y="1405467"/>
            <a:ext cx="4478867" cy="5037667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431655765" y="-1347275267"/>
            <a:ext cx="1431655765" cy="1431655765"/>
            <a:chOff x="1431655765" y="-1347275267"/>
            <a:chExt cx="1431655765" cy="1431655765"/>
          </a:xfrm>
        </p:grpSpPr>
      </p:grpSp>
      <p:sp>
        <p:nvSpPr>
          <p:cNvPr id="34" name="TextBox 34"/>
          <p:cNvSpPr txBox="1"/>
          <p:nvPr/>
        </p:nvSpPr>
        <p:spPr>
          <a:xfrm>
            <a:off x="6146801" y="2305353"/>
            <a:ext cx="5444066" cy="4148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333" b="1" dirty="0">
                <a:solidFill>
                  <a:srgbClr val="404040"/>
                </a:solidFill>
                <a:ea typeface="Pretendard Medium"/>
              </a:rPr>
              <a:t>사용</a:t>
            </a:r>
            <a:r>
              <a:rPr lang="en-US" sz="2333" b="1" dirty="0">
                <a:solidFill>
                  <a:srgbClr val="404040"/>
                </a:solidFill>
                <a:latin typeface="Pretendard Medium"/>
              </a:rPr>
              <a:t> </a:t>
            </a:r>
            <a:r>
              <a:rPr lang="ko-KR" altLang="en-US" sz="2333" b="1" dirty="0">
                <a:solidFill>
                  <a:srgbClr val="404040"/>
                </a:solidFill>
                <a:ea typeface="Pretendard Medium"/>
              </a:rPr>
              <a:t>모델</a:t>
            </a:r>
            <a:r>
              <a:rPr lang="en-US" sz="2333" b="1" dirty="0">
                <a:solidFill>
                  <a:srgbClr val="404040"/>
                </a:solidFill>
                <a:latin typeface="Pretendard Medium"/>
              </a:rPr>
              <a:t>: "model" =&gt; "gpt-4o-mini"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545667" y="3143554"/>
            <a:ext cx="5935133" cy="16425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동작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방식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: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입력데이터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수신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사용자로부터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선택된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여행지를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수신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gpt-4o-mini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통해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간단한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코멘트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작성</a:t>
            </a:r>
          </a:p>
          <a:p>
            <a:pPr marL="406420" lvl="1" indent="-228611">
              <a:lnSpc>
                <a:spcPct val="124499"/>
              </a:lnSpc>
              <a:buAutoNum type="alphaL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잘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알려지지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않은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장소라면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근처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지역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추천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결과</a:t>
            </a:r>
            <a:r>
              <a:rPr lang="en-US" sz="1400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400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반환</a:t>
            </a: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5667" y="2288420"/>
            <a:ext cx="457200" cy="457200"/>
          </a:xfrm>
          <a:prstGeom prst="rect">
            <a:avLst/>
          </a:prstGeom>
        </p:spPr>
      </p:pic>
      <p:sp>
        <p:nvSpPr>
          <p:cNvPr id="37" name="TextBox 37"/>
          <p:cNvSpPr txBox="1"/>
          <p:nvPr/>
        </p:nvSpPr>
        <p:spPr>
          <a:xfrm>
            <a:off x="5588001" y="2390020"/>
            <a:ext cx="372533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533" b="1" dirty="0">
                <a:solidFill>
                  <a:srgbClr val="404040"/>
                </a:solidFill>
                <a:latin typeface="Pretendard Medium"/>
              </a:rPr>
              <a:t>01</a:t>
            </a: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1333" y="1490134"/>
            <a:ext cx="1701800" cy="1185333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9400" y="2726267"/>
            <a:ext cx="423333" cy="440267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4400" y="3293534"/>
            <a:ext cx="1701800" cy="1185333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19400" y="4529667"/>
            <a:ext cx="423333" cy="440267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84400" y="5096934"/>
            <a:ext cx="1701800" cy="1185333"/>
          </a:xfrm>
          <a:prstGeom prst="rect">
            <a:avLst/>
          </a:prstGeom>
        </p:spPr>
      </p:pic>
      <p:sp>
        <p:nvSpPr>
          <p:cNvPr id="43" name="TextBox 43"/>
          <p:cNvSpPr txBox="1"/>
          <p:nvPr/>
        </p:nvSpPr>
        <p:spPr>
          <a:xfrm>
            <a:off x="2311400" y="1820333"/>
            <a:ext cx="1481667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1533">
                <a:solidFill>
                  <a:srgbClr val="FFFFFF"/>
                </a:solidFill>
                <a:ea typeface="Pretendard Bold"/>
              </a:rPr>
              <a:t>사용자가</a:t>
            </a:r>
            <a:r>
              <a:rPr lang="en-US" sz="1533">
                <a:solidFill>
                  <a:srgbClr val="FFFFFF"/>
                </a:solidFill>
                <a:latin typeface="Pretendard Bold"/>
              </a:rPr>
              <a:t> </a:t>
            </a:r>
            <a:br>
              <a:rPr lang="en-US" sz="1533">
                <a:solidFill>
                  <a:srgbClr val="FFFFFF"/>
                </a:solidFill>
                <a:latin typeface="Pretendard Bold"/>
              </a:rPr>
            </a:br>
            <a:r>
              <a:rPr lang="ko-KR" altLang="en-US" sz="1533">
                <a:solidFill>
                  <a:srgbClr val="FFFFFF"/>
                </a:solidFill>
                <a:ea typeface="Pretendard Bold"/>
              </a:rPr>
              <a:t>선택한</a:t>
            </a:r>
            <a:r>
              <a:rPr lang="en-US" sz="1533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1533">
                <a:solidFill>
                  <a:srgbClr val="FFFFFF"/>
                </a:solidFill>
                <a:ea typeface="Pretendard Bold"/>
              </a:rPr>
              <a:t>여행지</a:t>
            </a:r>
            <a:r>
              <a:rPr lang="en-US" sz="1533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1533">
                <a:solidFill>
                  <a:srgbClr val="FFFFFF"/>
                </a:solidFill>
                <a:ea typeface="Pretendard Bold"/>
              </a:rPr>
              <a:t>수신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446867" y="3606800"/>
            <a:ext cx="1176867" cy="5503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1667">
                <a:solidFill>
                  <a:srgbClr val="FFFFFF"/>
                </a:solidFill>
                <a:ea typeface="Pretendard Bold"/>
              </a:rPr>
              <a:t>여행지</a:t>
            </a:r>
            <a:r>
              <a:rPr lang="en-US" sz="1667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1667">
                <a:solidFill>
                  <a:srgbClr val="FFFFFF"/>
                </a:solidFill>
                <a:ea typeface="Pretendard Bold"/>
              </a:rPr>
              <a:t>기반</a:t>
            </a:r>
            <a:r>
              <a:rPr lang="en-US" sz="1667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1667">
                <a:solidFill>
                  <a:srgbClr val="FFFFFF"/>
                </a:solidFill>
                <a:ea typeface="Pretendard Bold"/>
              </a:rPr>
              <a:t>코멘트</a:t>
            </a:r>
            <a:r>
              <a:rPr lang="en-US" sz="1667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1667">
                <a:solidFill>
                  <a:srgbClr val="FFFFFF"/>
                </a:solidFill>
                <a:ea typeface="Pretendard Bold"/>
              </a:rPr>
              <a:t>작성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446867" y="5537200"/>
            <a:ext cx="1176867" cy="2963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1667">
                <a:solidFill>
                  <a:srgbClr val="FFFFFF"/>
                </a:solidFill>
                <a:ea typeface="Pretendard Bold"/>
              </a:rPr>
              <a:t>결과</a:t>
            </a:r>
            <a:r>
              <a:rPr lang="en-US" sz="1667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1667">
                <a:solidFill>
                  <a:srgbClr val="FFFFFF"/>
                </a:solidFill>
                <a:ea typeface="Pretendard Bold"/>
              </a:rPr>
              <a:t>반환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A717CA4-4F5F-883B-7CF1-653424D4E661}"/>
              </a:ext>
            </a:extLst>
          </p:cNvPr>
          <p:cNvSpPr txBox="1"/>
          <p:nvPr/>
        </p:nvSpPr>
        <p:spPr>
          <a:xfrm>
            <a:off x="417568" y="186498"/>
            <a:ext cx="28937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04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 </a:t>
            </a:r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AI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활용 및 실행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674" y="1364947"/>
            <a:ext cx="5242356" cy="320325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622248" y="770290"/>
            <a:ext cx="6570133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4.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지역별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실시간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코멘트</a:t>
            </a:r>
            <a:r>
              <a:rPr lang="en-US" sz="3000" b="1" dirty="0">
                <a:solidFill>
                  <a:srgbClr val="404040"/>
                </a:solidFill>
                <a:latin typeface="Pretendard Bold"/>
              </a:rPr>
              <a:t> </a:t>
            </a:r>
            <a:r>
              <a:rPr lang="ko-KR" altLang="en-US" sz="3000" b="1" dirty="0">
                <a:solidFill>
                  <a:srgbClr val="404040"/>
                </a:solidFill>
                <a:ea typeface="Pretendard Bold"/>
              </a:rPr>
              <a:t>기능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1866" y="4555067"/>
            <a:ext cx="8568267" cy="187113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431655765" y="-1347275267"/>
            <a:ext cx="1431655765" cy="1431655765"/>
            <a:chOff x="1431655765" y="-1347275267"/>
            <a:chExt cx="1431655765" cy="1431655765"/>
          </a:xfrm>
        </p:grpSpPr>
      </p:grpSp>
      <p:sp>
        <p:nvSpPr>
          <p:cNvPr id="34" name="TextBox 34"/>
          <p:cNvSpPr txBox="1"/>
          <p:nvPr/>
        </p:nvSpPr>
        <p:spPr>
          <a:xfrm>
            <a:off x="3663647" y="4572001"/>
            <a:ext cx="492881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933" b="1" dirty="0">
                <a:solidFill>
                  <a:srgbClr val="404040"/>
                </a:solidFill>
                <a:ea typeface="Pretendard Medium"/>
              </a:rPr>
              <a:t>사용</a:t>
            </a:r>
            <a:r>
              <a:rPr lang="en-US" sz="1933" b="1" dirty="0">
                <a:solidFill>
                  <a:srgbClr val="404040"/>
                </a:solidFill>
                <a:latin typeface="Pretendard Medium"/>
              </a:rPr>
              <a:t> </a:t>
            </a:r>
            <a:r>
              <a:rPr lang="ko-KR" altLang="en-US" sz="1933" b="1" dirty="0">
                <a:solidFill>
                  <a:srgbClr val="404040"/>
                </a:solidFill>
                <a:ea typeface="Pretendard Medium"/>
              </a:rPr>
              <a:t>모델</a:t>
            </a:r>
            <a:r>
              <a:rPr lang="en-US" sz="1933" b="1" dirty="0">
                <a:solidFill>
                  <a:srgbClr val="404040"/>
                </a:solidFill>
                <a:latin typeface="Pretendard Medium"/>
              </a:rPr>
              <a:t>: "model" =&gt; "gpt-4o-mini"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206447" y="4944535"/>
            <a:ext cx="4928810" cy="14816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프롬프트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구성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역할을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친근하고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현실적인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가이드로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설정함</a:t>
            </a:r>
          </a:p>
          <a:p>
            <a:pPr marL="228611" indent="-228611">
              <a:lnSpc>
                <a:spcPct val="124499"/>
              </a:lnSpc>
              <a:buAutoNum type="arabi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가이드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라인</a:t>
            </a:r>
          </a:p>
          <a:p>
            <a:pPr marL="364085" lvl="1" indent="-228611">
              <a:lnSpc>
                <a:spcPct val="124499"/>
              </a:lnSpc>
              <a:buAutoNum type="alpha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사용자가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여행할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지역이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잘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알려지지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않은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경우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인근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지역을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추천</a:t>
            </a:r>
          </a:p>
          <a:p>
            <a:pPr marL="364085" lvl="1" indent="-228611">
              <a:lnSpc>
                <a:spcPct val="124499"/>
              </a:lnSpc>
              <a:buAutoNum type="alpha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추천은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구체적인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장소가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아니라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근처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지역으로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한정</a:t>
            </a:r>
          </a:p>
          <a:p>
            <a:pPr marL="364085" lvl="1" indent="-228611">
              <a:lnSpc>
                <a:spcPct val="124499"/>
              </a:lnSpc>
              <a:buAutoNum type="alpha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응답은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한국어로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작성하며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, 70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자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이내로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간결하게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할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것</a:t>
            </a:r>
          </a:p>
          <a:p>
            <a:pPr marL="364085" lvl="1" indent="-228611">
              <a:lnSpc>
                <a:spcPct val="124499"/>
              </a:lnSpc>
              <a:buAutoNum type="alphaLcPeriod"/>
            </a:pP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긍정적이고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탐험을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독려하는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방식으로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코멘트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할</a:t>
            </a:r>
            <a:r>
              <a:rPr lang="en-US" sz="1067" dirty="0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altLang="en-US" sz="1067" dirty="0">
                <a:solidFill>
                  <a:srgbClr val="000000">
                    <a:alpha val="70196"/>
                  </a:srgbClr>
                </a:solidFill>
                <a:ea typeface="Pretendard Light"/>
              </a:rPr>
              <a:t>것</a:t>
            </a: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4114" y="4555067"/>
            <a:ext cx="381000" cy="381000"/>
          </a:xfrm>
          <a:prstGeom prst="rect">
            <a:avLst/>
          </a:prstGeom>
        </p:spPr>
      </p:pic>
      <p:sp>
        <p:nvSpPr>
          <p:cNvPr id="37" name="TextBox 37"/>
          <p:cNvSpPr txBox="1"/>
          <p:nvPr/>
        </p:nvSpPr>
        <p:spPr>
          <a:xfrm>
            <a:off x="3206447" y="4639734"/>
            <a:ext cx="313267" cy="2370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333" b="1">
                <a:solidFill>
                  <a:srgbClr val="404040"/>
                </a:solidFill>
                <a:latin typeface="Pretendard Medium"/>
              </a:rPr>
              <a:t>01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8D4A51F-9555-C754-984D-5CD67AD492E6}"/>
              </a:ext>
            </a:extLst>
          </p:cNvPr>
          <p:cNvSpPr txBox="1"/>
          <p:nvPr/>
        </p:nvSpPr>
        <p:spPr>
          <a:xfrm>
            <a:off x="417568" y="186498"/>
            <a:ext cx="28937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04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 </a:t>
            </a:r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AI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활용 및 실행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BC35702-8FA5-8AF8-96FB-6B7292A23759}"/>
              </a:ext>
            </a:extLst>
          </p:cNvPr>
          <p:cNvSpPr txBox="1"/>
          <p:nvPr/>
        </p:nvSpPr>
        <p:spPr>
          <a:xfrm>
            <a:off x="467760" y="239670"/>
            <a:ext cx="155683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05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성과물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6BA48DD-6D24-61DC-4C98-9DE4748715E9}"/>
              </a:ext>
            </a:extLst>
          </p:cNvPr>
          <p:cNvSpPr>
            <a:spLocks noChangeAspect="1"/>
          </p:cNvSpPr>
          <p:nvPr/>
        </p:nvSpPr>
        <p:spPr>
          <a:xfrm>
            <a:off x="586902" y="1276778"/>
            <a:ext cx="6786172" cy="4636460"/>
          </a:xfrm>
          <a:prstGeom prst="roundRect">
            <a:avLst>
              <a:gd name="adj" fmla="val 7563"/>
            </a:avLst>
          </a:prstGeom>
          <a:solidFill>
            <a:srgbClr val="F6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dirty="0">
                <a:solidFill>
                  <a:schemeClr val="accent5">
                    <a:lumMod val="50000"/>
                  </a:schemeClr>
                </a:solidFill>
              </a:rPr>
              <a:t>001</a:t>
            </a:r>
          </a:p>
          <a:p>
            <a:r>
              <a:rPr lang="ko-KR" altLang="en-US" sz="3200" b="1" dirty="0">
                <a:solidFill>
                  <a:srgbClr val="333333"/>
                </a:solidFill>
              </a:rPr>
              <a:t>로그인</a:t>
            </a:r>
            <a:endParaRPr lang="en-US" altLang="ko-KR" sz="3200" b="1" dirty="0">
              <a:solidFill>
                <a:srgbClr val="333333"/>
              </a:solidFill>
            </a:endParaRPr>
          </a:p>
          <a:p>
            <a:endParaRPr lang="en-US" altLang="ko-KR" sz="1600" dirty="0">
              <a:solidFill>
                <a:srgbClr val="333333"/>
              </a:solidFill>
            </a:endParaRPr>
          </a:p>
          <a:p>
            <a:endParaRPr lang="en-US" altLang="ko-KR" sz="1600" dirty="0">
              <a:solidFill>
                <a:srgbClr val="333333"/>
              </a:solidFill>
            </a:endParaRPr>
          </a:p>
          <a:p>
            <a:pPr marL="0" marR="0" lvl="0" indent="0" defTabSz="914400" rtl="0" eaLnBrk="1" fontAlgn="auto" latinLnBrk="0" hangingPunct="1">
              <a:lnSpc>
                <a:spcPct val="140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Pretendard Medium"/>
                <a:cs typeface="+mn-cs"/>
              </a:rPr>
              <a:t>로그인을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+mn-ea"/>
                <a:cs typeface="+mn-cs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Pretendard Medium"/>
                <a:cs typeface="+mn-cs"/>
              </a:rPr>
              <a:t>통해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+mn-ea"/>
                <a:cs typeface="+mn-cs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Pretendard Medium"/>
                <a:cs typeface="+mn-cs"/>
              </a:rPr>
              <a:t>사용자는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+mn-ea"/>
                <a:cs typeface="+mn-cs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Pretendard Medium"/>
                <a:cs typeface="+mn-cs"/>
              </a:rPr>
              <a:t>개인화된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+mn-ea"/>
                <a:cs typeface="+mn-cs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Pretendard Medium"/>
                <a:cs typeface="+mn-cs"/>
              </a:rPr>
              <a:t>일정을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+mn-ea"/>
                <a:cs typeface="+mn-cs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Pretendard Medium"/>
                <a:cs typeface="+mn-cs"/>
              </a:rPr>
              <a:t>안전하게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+mn-ea"/>
                <a:cs typeface="+mn-cs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Pretendard Medium"/>
                <a:cs typeface="+mn-cs"/>
              </a:rPr>
              <a:t>저장할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+mn-ea"/>
                <a:cs typeface="+mn-cs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Pretendard Medium"/>
                <a:cs typeface="+mn-cs"/>
              </a:rPr>
              <a:t>수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+mn-ea"/>
                <a:cs typeface="+mn-cs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Pretendard Medium"/>
                <a:cs typeface="+mn-cs"/>
              </a:rPr>
              <a:t>있으며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+mn-ea"/>
                <a:cs typeface="+mn-cs"/>
              </a:rPr>
              <a:t>, </a:t>
            </a:r>
          </a:p>
          <a:p>
            <a:pPr marL="0" marR="0" lvl="0" indent="0" defTabSz="914400" rtl="0" eaLnBrk="1" fontAlgn="auto" latinLnBrk="0" hangingPunct="1">
              <a:lnSpc>
                <a:spcPct val="140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Pretendard Medium"/>
                <a:cs typeface="+mn-cs"/>
              </a:rPr>
              <a:t>개별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+mn-ea"/>
                <a:cs typeface="+mn-cs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Pretendard Medium"/>
                <a:cs typeface="+mn-cs"/>
              </a:rPr>
              <a:t>채팅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+mn-ea"/>
                <a:cs typeface="+mn-cs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Pretendard Medium"/>
                <a:cs typeface="+mn-cs"/>
              </a:rPr>
              <a:t>기록을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+mn-ea"/>
                <a:cs typeface="+mn-cs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Pretendard Medium"/>
                <a:cs typeface="+mn-cs"/>
              </a:rPr>
              <a:t>관리함으로써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+mn-ea"/>
                <a:cs typeface="+mn-cs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Pretendard Medium"/>
                <a:cs typeface="+mn-cs"/>
              </a:rPr>
              <a:t>맞춤형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+mn-ea"/>
                <a:cs typeface="+mn-cs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Pretendard Medium"/>
                <a:cs typeface="+mn-cs"/>
              </a:rPr>
              <a:t>경험과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+mn-ea"/>
                <a:cs typeface="+mn-cs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Pretendard Medium"/>
                <a:cs typeface="+mn-cs"/>
              </a:rPr>
              <a:t>편리함을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+mn-ea"/>
                <a:cs typeface="+mn-cs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Pretendard Medium"/>
                <a:cs typeface="+mn-cs"/>
              </a:rPr>
              <a:t>제공합니다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+mn-ea"/>
                <a:cs typeface="+mn-cs"/>
              </a:rPr>
              <a:t>.</a:t>
            </a:r>
          </a:p>
          <a:p>
            <a:pPr algn="ctr"/>
            <a:endParaRPr lang="ko-KR" altLang="en-US" sz="1600" dirty="0">
              <a:solidFill>
                <a:srgbClr val="333333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6463-D1C1-4B59-8382-6AFDD2B4B94E}" type="slidenum">
              <a:rPr lang="ko-KR" altLang="en-US" smtClean="0"/>
              <a:t>33</a:t>
            </a:fld>
            <a:endParaRPr lang="ko-KR" alt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D07876AA-10C3-45B3-C48D-1D71958AA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101" y="990703"/>
            <a:ext cx="2635401" cy="520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1804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CAB18-9CB7-85F1-5B0A-6C298DF93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669F9F4-D5AE-2C7A-B1CF-ACEF269A8315}"/>
              </a:ext>
            </a:extLst>
          </p:cNvPr>
          <p:cNvSpPr txBox="1"/>
          <p:nvPr/>
        </p:nvSpPr>
        <p:spPr>
          <a:xfrm>
            <a:off x="467760" y="239670"/>
            <a:ext cx="155683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05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성과물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4A128D2-2C76-8568-34A2-EFB983AE0AC4}"/>
              </a:ext>
            </a:extLst>
          </p:cNvPr>
          <p:cNvSpPr>
            <a:spLocks noChangeAspect="1"/>
          </p:cNvSpPr>
          <p:nvPr/>
        </p:nvSpPr>
        <p:spPr>
          <a:xfrm>
            <a:off x="586902" y="1276778"/>
            <a:ext cx="5721302" cy="4636460"/>
          </a:xfrm>
          <a:prstGeom prst="roundRect">
            <a:avLst>
              <a:gd name="adj" fmla="val 7563"/>
            </a:avLst>
          </a:prstGeom>
          <a:solidFill>
            <a:srgbClr val="F6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dirty="0">
                <a:solidFill>
                  <a:schemeClr val="accent5">
                    <a:lumMod val="50000"/>
                  </a:schemeClr>
                </a:solidFill>
              </a:rPr>
              <a:t>002</a:t>
            </a:r>
          </a:p>
          <a:p>
            <a:r>
              <a:rPr lang="ko-KR" altLang="en-US" sz="3200" b="1" dirty="0">
                <a:solidFill>
                  <a:srgbClr val="333333"/>
                </a:solidFill>
              </a:rPr>
              <a:t>회원가입</a:t>
            </a:r>
            <a:endParaRPr lang="en-US" altLang="ko-KR" sz="1600" dirty="0">
              <a:solidFill>
                <a:srgbClr val="333333"/>
              </a:solidFill>
            </a:endParaRPr>
          </a:p>
          <a:p>
            <a:endParaRPr lang="en-US" altLang="ko-KR" sz="1600" dirty="0">
              <a:solidFill>
                <a:srgbClr val="333333"/>
              </a:solidFill>
            </a:endParaRPr>
          </a:p>
          <a:p>
            <a:pPr marL="0" marR="0" lvl="0" indent="0" defTabSz="914400" rtl="0" eaLnBrk="1" fontAlgn="auto" latinLnBrk="0" hangingPunct="1">
              <a:lnSpc>
                <a:spcPct val="140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Pretendard Medium"/>
                <a:cs typeface="+mn-cs"/>
              </a:rPr>
              <a:t>이메일 인증을 통해 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Pretendard Medium"/>
                <a:cs typeface="+mn-cs"/>
              </a:rPr>
              <a:t>루바토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Pretendard Medium"/>
                <a:cs typeface="+mn-cs"/>
              </a:rPr>
              <a:t> 서비스에 회원가입 가능합니다</a:t>
            </a:r>
            <a:endParaRPr lang="ko-KR" altLang="en-US" sz="1600" dirty="0">
              <a:solidFill>
                <a:srgbClr val="333333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77BB401-A365-E0C1-133B-95F93CE03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6463-D1C1-4B59-8382-6AFDD2B4B94E}" type="slidenum">
              <a:rPr lang="ko-KR" altLang="en-US" smtClean="0"/>
              <a:t>34</a:t>
            </a:fld>
            <a:endParaRPr lang="ko-KR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35AFB0-490A-AF92-2467-158A4F8F5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603" y="884176"/>
            <a:ext cx="2743200" cy="542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9575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E8573-A2CC-7339-71D2-416550A35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074683F-EEE9-1172-4287-0C4F58F2D5BE}"/>
              </a:ext>
            </a:extLst>
          </p:cNvPr>
          <p:cNvSpPr txBox="1"/>
          <p:nvPr/>
        </p:nvSpPr>
        <p:spPr>
          <a:xfrm>
            <a:off x="467760" y="239670"/>
            <a:ext cx="155683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05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성과물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A31EE58-2AD5-EA97-418F-F7770DEA34AF}"/>
              </a:ext>
            </a:extLst>
          </p:cNvPr>
          <p:cNvSpPr>
            <a:spLocks noChangeAspect="1"/>
          </p:cNvSpPr>
          <p:nvPr/>
        </p:nvSpPr>
        <p:spPr>
          <a:xfrm>
            <a:off x="385635" y="1010561"/>
            <a:ext cx="2743201" cy="4924358"/>
          </a:xfrm>
          <a:prstGeom prst="roundRect">
            <a:avLst>
              <a:gd name="adj" fmla="val 7563"/>
            </a:avLst>
          </a:prstGeom>
          <a:solidFill>
            <a:srgbClr val="F6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dirty="0">
                <a:solidFill>
                  <a:schemeClr val="accent5">
                    <a:lumMod val="50000"/>
                  </a:schemeClr>
                </a:solidFill>
              </a:rPr>
              <a:t>003</a:t>
            </a:r>
          </a:p>
          <a:p>
            <a:r>
              <a:rPr lang="ko-KR" altLang="en-US" sz="3200" b="1" dirty="0" err="1">
                <a:solidFill>
                  <a:srgbClr val="333333"/>
                </a:solidFill>
              </a:rPr>
              <a:t>메인페이지</a:t>
            </a:r>
            <a:endParaRPr lang="en-US" altLang="ko-KR" sz="1600" dirty="0">
              <a:solidFill>
                <a:srgbClr val="333333"/>
              </a:solidFill>
            </a:endParaRPr>
          </a:p>
          <a:p>
            <a:endParaRPr lang="en-US" altLang="ko-KR" sz="1600" dirty="0">
              <a:solidFill>
                <a:srgbClr val="333333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A46EE11-F75C-0EBD-042D-7208B5FED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6463-D1C1-4B59-8382-6AFDD2B4B94E}" type="slidenum">
              <a:rPr lang="ko-KR" altLang="en-US" smtClean="0"/>
              <a:t>35</a:t>
            </a:fld>
            <a:endParaRPr lang="ko-KR" altLang="en-US" dirty="0"/>
          </a:p>
        </p:txBody>
      </p:sp>
      <p:pic>
        <p:nvPicPr>
          <p:cNvPr id="70" name="Picture 2">
            <a:extLst>
              <a:ext uri="{FF2B5EF4-FFF2-40B4-BE49-F238E27FC236}">
                <a16:creationId xmlns:a16="http://schemas.microsoft.com/office/drawing/2014/main" id="{3449FF77-DBFD-7910-E7D5-2817C6595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301" y="797952"/>
            <a:ext cx="2809766" cy="5553225"/>
          </a:xfrm>
          <a:prstGeom prst="rect">
            <a:avLst/>
          </a:prstGeom>
        </p:spPr>
      </p:pic>
      <p:pic>
        <p:nvPicPr>
          <p:cNvPr id="71" name="Picture 3">
            <a:extLst>
              <a:ext uri="{FF2B5EF4-FFF2-40B4-BE49-F238E27FC236}">
                <a16:creationId xmlns:a16="http://schemas.microsoft.com/office/drawing/2014/main" id="{895DA932-9EB2-3254-90CD-0E0E54A2B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805" y="1090356"/>
            <a:ext cx="2254445" cy="306671"/>
          </a:xfrm>
          <a:prstGeom prst="rect">
            <a:avLst/>
          </a:prstGeom>
          <a:effectLst>
            <a:outerShdw blurRad="2250" dist="43871" dir="2700000">
              <a:srgbClr val="000000">
                <a:alpha val="50000"/>
              </a:srgbClr>
            </a:outerShdw>
          </a:effectLst>
        </p:spPr>
      </p:pic>
      <p:sp>
        <p:nvSpPr>
          <p:cNvPr id="72" name="TextBox 6">
            <a:extLst>
              <a:ext uri="{FF2B5EF4-FFF2-40B4-BE49-F238E27FC236}">
                <a16:creationId xmlns:a16="http://schemas.microsoft.com/office/drawing/2014/main" id="{613ED64D-2F46-5547-B105-146704DCA076}"/>
              </a:ext>
            </a:extLst>
          </p:cNvPr>
          <p:cNvSpPr txBox="1"/>
          <p:nvPr/>
        </p:nvSpPr>
        <p:spPr>
          <a:xfrm>
            <a:off x="7089950" y="942037"/>
            <a:ext cx="3875608" cy="47055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7940"/>
              </a:lnSpc>
            </a:pPr>
            <a:r>
              <a:rPr lang="ko-KR" sz="2000" b="0" i="0" u="none" strike="noStrike" dirty="0" err="1">
                <a:solidFill>
                  <a:srgbClr val="000000"/>
                </a:solidFill>
                <a:ea typeface="RecipekoreaOTF Medium"/>
              </a:rPr>
              <a:t>일정만들기</a:t>
            </a:r>
            <a:endParaRPr lang="ko-KR" sz="2000" b="0" i="0" u="none" strike="noStrike" dirty="0">
              <a:solidFill>
                <a:srgbClr val="000000"/>
              </a:solidFill>
              <a:ea typeface="RecipekoreaOTF Medium"/>
            </a:endParaRPr>
          </a:p>
        </p:txBody>
      </p:sp>
      <p:sp>
        <p:nvSpPr>
          <p:cNvPr id="73" name="TextBox 7">
            <a:extLst>
              <a:ext uri="{FF2B5EF4-FFF2-40B4-BE49-F238E27FC236}">
                <a16:creationId xmlns:a16="http://schemas.microsoft.com/office/drawing/2014/main" id="{BA3F3F23-E3F0-37D9-8CBF-E1CFE152748B}"/>
              </a:ext>
            </a:extLst>
          </p:cNvPr>
          <p:cNvSpPr txBox="1"/>
          <p:nvPr/>
        </p:nvSpPr>
        <p:spPr>
          <a:xfrm>
            <a:off x="7089950" y="1305837"/>
            <a:ext cx="4263850" cy="30667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0269"/>
              </a:lnSpc>
            </a:pPr>
            <a:r>
              <a:rPr lang="ko-KR" sz="1400" b="0" i="0" u="none" strike="noStrike" dirty="0">
                <a:solidFill>
                  <a:srgbClr val="000000"/>
                </a:solidFill>
                <a:ea typeface="Pretendard Medium"/>
              </a:rPr>
              <a:t>버튼을</a:t>
            </a:r>
            <a:r>
              <a:rPr lang="en-US" sz="1400" b="0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400" b="0" i="0" u="none" strike="noStrike" dirty="0">
                <a:solidFill>
                  <a:srgbClr val="000000"/>
                </a:solidFill>
                <a:ea typeface="Pretendard Medium"/>
              </a:rPr>
              <a:t>통해</a:t>
            </a:r>
            <a:r>
              <a:rPr lang="en-US" sz="1400" b="0" i="0" u="none" strike="noStrike" dirty="0">
                <a:solidFill>
                  <a:srgbClr val="000000"/>
                </a:solidFill>
                <a:latin typeface="Pretendard Medium"/>
              </a:rPr>
              <a:t> [</a:t>
            </a:r>
            <a:r>
              <a:rPr lang="ko-KR" sz="1400" b="0" i="0" u="none" strike="noStrike" dirty="0" err="1">
                <a:solidFill>
                  <a:srgbClr val="000000"/>
                </a:solidFill>
                <a:ea typeface="Pretendard Medium"/>
              </a:rPr>
              <a:t>여행일정만들기</a:t>
            </a:r>
            <a:r>
              <a:rPr lang="en-US" sz="1400" b="0" i="0" u="none" strike="noStrike" dirty="0">
                <a:solidFill>
                  <a:srgbClr val="000000"/>
                </a:solidFill>
                <a:latin typeface="Pretendard Medium"/>
              </a:rPr>
              <a:t>]</a:t>
            </a:r>
            <a:r>
              <a:rPr lang="ko-KR" sz="1400" b="0" i="0" u="none" strike="noStrike" dirty="0">
                <a:solidFill>
                  <a:srgbClr val="000000"/>
                </a:solidFill>
                <a:ea typeface="Pretendard Medium"/>
              </a:rPr>
              <a:t>페이지로</a:t>
            </a:r>
            <a:r>
              <a:rPr lang="en-US" sz="1400" b="0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400" b="0" i="0" u="none" strike="noStrike" dirty="0">
                <a:solidFill>
                  <a:srgbClr val="000000"/>
                </a:solidFill>
                <a:ea typeface="Pretendard Medium"/>
              </a:rPr>
              <a:t>이동</a:t>
            </a:r>
            <a:r>
              <a:rPr lang="en-US" sz="1400" b="0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400" b="0" i="0" u="none" strike="noStrike" dirty="0">
                <a:solidFill>
                  <a:srgbClr val="000000"/>
                </a:solidFill>
                <a:ea typeface="Pretendard Medium"/>
              </a:rPr>
              <a:t>가능</a:t>
            </a:r>
          </a:p>
        </p:txBody>
      </p:sp>
      <p:sp>
        <p:nvSpPr>
          <p:cNvPr id="85" name="TextBox 19">
            <a:extLst>
              <a:ext uri="{FF2B5EF4-FFF2-40B4-BE49-F238E27FC236}">
                <a16:creationId xmlns:a16="http://schemas.microsoft.com/office/drawing/2014/main" id="{74B85A4E-815C-E425-1D66-26B0013D158B}"/>
              </a:ext>
            </a:extLst>
          </p:cNvPr>
          <p:cNvSpPr txBox="1"/>
          <p:nvPr/>
        </p:nvSpPr>
        <p:spPr>
          <a:xfrm>
            <a:off x="6431157" y="6801414"/>
            <a:ext cx="4263850" cy="4571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026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Medium"/>
              </a:rPr>
              <a:t>자신의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Medium"/>
              </a:rPr>
              <a:t>여행일정을</a:t>
            </a:r>
            <a:r>
              <a:rPr lang="en-US" sz="16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Medium"/>
              </a:rPr>
              <a:t>바로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Medium"/>
              </a:rPr>
              <a:t>확인할</a:t>
            </a:r>
            <a:r>
              <a:rPr lang="en-US" sz="16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Medium"/>
              </a:rPr>
              <a:t>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Medium"/>
              </a:rPr>
              <a:t>있는</a:t>
            </a:r>
            <a:r>
              <a:rPr lang="en-US" sz="16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Medium"/>
              </a:rPr>
              <a:t>영역</a:t>
            </a:r>
          </a:p>
          <a:p>
            <a:pPr lvl="0" algn="l">
              <a:lnSpc>
                <a:spcPct val="14026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Medium"/>
              </a:rPr>
              <a:t>위로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Medium"/>
              </a:rPr>
              <a:t>스와이프하면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Medium"/>
              </a:rPr>
              <a:t>전체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Medium"/>
              </a:rPr>
              <a:t>내용을</a:t>
            </a:r>
            <a:r>
              <a:rPr lang="en-US" sz="16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Medium"/>
              </a:rPr>
              <a:t>확인가능</a:t>
            </a:r>
          </a:p>
        </p:txBody>
      </p:sp>
      <p:pic>
        <p:nvPicPr>
          <p:cNvPr id="86" name="Picture 3">
            <a:extLst>
              <a:ext uri="{FF2B5EF4-FFF2-40B4-BE49-F238E27FC236}">
                <a16:creationId xmlns:a16="http://schemas.microsoft.com/office/drawing/2014/main" id="{4B0E51FB-80DA-045C-C1C2-7B00943A8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689" y="1971187"/>
            <a:ext cx="2254445" cy="306671"/>
          </a:xfrm>
          <a:prstGeom prst="rect">
            <a:avLst/>
          </a:prstGeom>
          <a:effectLst>
            <a:outerShdw blurRad="2250" dist="43871" dir="2700000">
              <a:srgbClr val="000000">
                <a:alpha val="50000"/>
              </a:srgbClr>
            </a:outerShdw>
          </a:effectLst>
        </p:spPr>
      </p:pic>
      <p:sp>
        <p:nvSpPr>
          <p:cNvPr id="89" name="TextBox 6">
            <a:extLst>
              <a:ext uri="{FF2B5EF4-FFF2-40B4-BE49-F238E27FC236}">
                <a16:creationId xmlns:a16="http://schemas.microsoft.com/office/drawing/2014/main" id="{E96F0409-962C-44BA-6B04-8D77E65D8C56}"/>
              </a:ext>
            </a:extLst>
          </p:cNvPr>
          <p:cNvSpPr txBox="1"/>
          <p:nvPr/>
        </p:nvSpPr>
        <p:spPr>
          <a:xfrm>
            <a:off x="6575134" y="1807304"/>
            <a:ext cx="3875608" cy="47055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7940"/>
              </a:lnSpc>
            </a:pPr>
            <a:r>
              <a:rPr lang="ko-KR" altLang="en-US" sz="2000" b="0" i="0" u="none" strike="noStrike" dirty="0" err="1">
                <a:solidFill>
                  <a:srgbClr val="000000"/>
                </a:solidFill>
                <a:ea typeface="RecipekoreaOTF Medium"/>
              </a:rPr>
              <a:t>이미지슬라이드</a:t>
            </a:r>
            <a:endParaRPr lang="ko-KR" sz="2000" b="0" i="0" u="none" strike="noStrike" dirty="0">
              <a:solidFill>
                <a:srgbClr val="000000"/>
              </a:solidFill>
              <a:ea typeface="RecipekoreaOTF Medium"/>
            </a:endParaRPr>
          </a:p>
        </p:txBody>
      </p:sp>
      <p:sp>
        <p:nvSpPr>
          <p:cNvPr id="90" name="TextBox 7">
            <a:extLst>
              <a:ext uri="{FF2B5EF4-FFF2-40B4-BE49-F238E27FC236}">
                <a16:creationId xmlns:a16="http://schemas.microsoft.com/office/drawing/2014/main" id="{D2A864F5-0101-CE3F-6406-D1D6815E9A81}"/>
              </a:ext>
            </a:extLst>
          </p:cNvPr>
          <p:cNvSpPr txBox="1"/>
          <p:nvPr/>
        </p:nvSpPr>
        <p:spPr>
          <a:xfrm>
            <a:off x="6575134" y="2150418"/>
            <a:ext cx="4263850" cy="30667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0269"/>
              </a:lnSpc>
            </a:pPr>
            <a:r>
              <a:rPr lang="ko-KR" altLang="en-US" sz="1400" b="0" i="0" u="none" strike="noStrike" dirty="0">
                <a:solidFill>
                  <a:srgbClr val="000000"/>
                </a:solidFill>
                <a:ea typeface="Pretendard Medium"/>
              </a:rPr>
              <a:t>인기여행지들의 사진들로 </a:t>
            </a:r>
            <a:r>
              <a:rPr lang="ko-KR" altLang="en-US" sz="1400" b="0" i="0" u="none" strike="noStrike" dirty="0" err="1">
                <a:solidFill>
                  <a:srgbClr val="000000"/>
                </a:solidFill>
                <a:ea typeface="Pretendard Medium"/>
              </a:rPr>
              <a:t>그성된</a:t>
            </a:r>
            <a:r>
              <a:rPr lang="ko-KR" altLang="en-US" sz="1400" b="0" i="0" u="none" strike="noStrike" dirty="0">
                <a:solidFill>
                  <a:srgbClr val="000000"/>
                </a:solidFill>
                <a:ea typeface="Pretendard Medium"/>
              </a:rPr>
              <a:t> 이미지 슬라이드</a:t>
            </a:r>
            <a:endParaRPr lang="ko-KR" sz="1400" b="0" i="0" u="none" strike="noStrike" dirty="0">
              <a:solidFill>
                <a:srgbClr val="000000"/>
              </a:solidFill>
              <a:ea typeface="Pretendard Medium"/>
            </a:endParaRPr>
          </a:p>
        </p:txBody>
      </p:sp>
      <p:pic>
        <p:nvPicPr>
          <p:cNvPr id="91" name="Picture 3">
            <a:extLst>
              <a:ext uri="{FF2B5EF4-FFF2-40B4-BE49-F238E27FC236}">
                <a16:creationId xmlns:a16="http://schemas.microsoft.com/office/drawing/2014/main" id="{BA8144AD-863F-9EF5-2311-3899B0332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390" y="2971417"/>
            <a:ext cx="2254445" cy="306671"/>
          </a:xfrm>
          <a:prstGeom prst="rect">
            <a:avLst/>
          </a:prstGeom>
          <a:effectLst>
            <a:outerShdw blurRad="2250" dist="43871" dir="2700000">
              <a:srgbClr val="000000">
                <a:alpha val="50000"/>
              </a:srgbClr>
            </a:outerShdw>
          </a:effectLst>
        </p:spPr>
      </p:pic>
      <p:sp>
        <p:nvSpPr>
          <p:cNvPr id="94" name="TextBox 6">
            <a:extLst>
              <a:ext uri="{FF2B5EF4-FFF2-40B4-BE49-F238E27FC236}">
                <a16:creationId xmlns:a16="http://schemas.microsoft.com/office/drawing/2014/main" id="{BE2A18C1-3D36-52C3-B6F6-E71C0BB54A1B}"/>
              </a:ext>
            </a:extLst>
          </p:cNvPr>
          <p:cNvSpPr txBox="1"/>
          <p:nvPr/>
        </p:nvSpPr>
        <p:spPr>
          <a:xfrm>
            <a:off x="7000250" y="2759722"/>
            <a:ext cx="3875608" cy="47055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7940"/>
              </a:lnSpc>
            </a:pPr>
            <a:r>
              <a:rPr lang="ko-KR" altLang="en-US" sz="2000" b="0" i="0" u="none" strike="noStrike" dirty="0">
                <a:solidFill>
                  <a:srgbClr val="000000"/>
                </a:solidFill>
                <a:ea typeface="RecipekoreaOTF Medium"/>
              </a:rPr>
              <a:t>추천 여행지 버튼</a:t>
            </a:r>
            <a:endParaRPr lang="ko-KR" sz="2000" b="0" i="0" u="none" strike="noStrike" dirty="0">
              <a:solidFill>
                <a:srgbClr val="000000"/>
              </a:solidFill>
              <a:ea typeface="RecipekoreaOTF Medium"/>
            </a:endParaRPr>
          </a:p>
        </p:txBody>
      </p:sp>
      <p:sp>
        <p:nvSpPr>
          <p:cNvPr id="95" name="TextBox 7">
            <a:extLst>
              <a:ext uri="{FF2B5EF4-FFF2-40B4-BE49-F238E27FC236}">
                <a16:creationId xmlns:a16="http://schemas.microsoft.com/office/drawing/2014/main" id="{DED32765-12C8-414B-BBD5-873C4D634CF4}"/>
              </a:ext>
            </a:extLst>
          </p:cNvPr>
          <p:cNvSpPr txBox="1"/>
          <p:nvPr/>
        </p:nvSpPr>
        <p:spPr>
          <a:xfrm>
            <a:off x="7000250" y="3102836"/>
            <a:ext cx="4655944" cy="36512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0269"/>
              </a:lnSpc>
            </a:pPr>
            <a:r>
              <a:rPr lang="en-US" altLang="ko-KR" sz="1400" b="0" i="0" u="none" strike="noStrike" dirty="0">
                <a:solidFill>
                  <a:srgbClr val="000000"/>
                </a:solidFill>
                <a:ea typeface="Pretendard Medium"/>
              </a:rPr>
              <a:t>TEAM.</a:t>
            </a:r>
            <a:r>
              <a:rPr lang="en-US" altLang="ko-KR" sz="1400" b="0" i="0" u="none" strike="noStrike" dirty="0">
                <a:solidFill>
                  <a:srgbClr val="000000"/>
                </a:solidFill>
                <a:latin typeface="Pretendard Medium"/>
              </a:rPr>
              <a:t> ΔΩ</a:t>
            </a:r>
            <a:r>
              <a:rPr lang="ko-KR" altLang="en-US" sz="1400" b="0" i="0" u="none" strike="noStrike" dirty="0">
                <a:solidFill>
                  <a:srgbClr val="000000"/>
                </a:solidFill>
                <a:latin typeface="Pretendard Medium"/>
              </a:rPr>
              <a:t>가 설정한 겨울 </a:t>
            </a:r>
            <a:r>
              <a:rPr lang="en-US" altLang="ko-KR" sz="1400" b="0" i="0" u="none" strike="noStrike" dirty="0">
                <a:solidFill>
                  <a:srgbClr val="000000"/>
                </a:solidFill>
                <a:latin typeface="Pretendard Medium"/>
              </a:rPr>
              <a:t>[</a:t>
            </a:r>
            <a:r>
              <a:rPr lang="ko-KR" altLang="en-US" sz="1400" b="0" i="0" u="none" strike="noStrike" dirty="0">
                <a:solidFill>
                  <a:srgbClr val="000000"/>
                </a:solidFill>
                <a:latin typeface="Pretendard Medium"/>
              </a:rPr>
              <a:t>추천 여행지 소개페이지로이동</a:t>
            </a:r>
            <a:r>
              <a:rPr lang="en-US" altLang="ko-KR" sz="1400" b="0" i="0" u="none" strike="noStrike" dirty="0">
                <a:solidFill>
                  <a:srgbClr val="000000"/>
                </a:solidFill>
                <a:latin typeface="Pretendard Medium"/>
              </a:rPr>
              <a:t>]</a:t>
            </a:r>
            <a:endParaRPr lang="ko-KR" sz="1400" b="0" i="0" u="none" strike="noStrike" dirty="0">
              <a:solidFill>
                <a:srgbClr val="000000"/>
              </a:solidFill>
              <a:ea typeface="Pretendard Medium"/>
            </a:endParaRPr>
          </a:p>
        </p:txBody>
      </p:sp>
      <p:pic>
        <p:nvPicPr>
          <p:cNvPr id="96" name="Picture 3">
            <a:extLst>
              <a:ext uri="{FF2B5EF4-FFF2-40B4-BE49-F238E27FC236}">
                <a16:creationId xmlns:a16="http://schemas.microsoft.com/office/drawing/2014/main" id="{8DA902F9-5C1D-7456-0894-E2639FF4C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9006" y="4426807"/>
            <a:ext cx="2254445" cy="306671"/>
          </a:xfrm>
          <a:prstGeom prst="rect">
            <a:avLst/>
          </a:prstGeom>
          <a:effectLst>
            <a:outerShdw blurRad="2250" dist="43871" dir="2700000">
              <a:srgbClr val="000000">
                <a:alpha val="50000"/>
              </a:srgbClr>
            </a:outerShdw>
          </a:effectLst>
        </p:spPr>
      </p:pic>
      <p:sp>
        <p:nvSpPr>
          <p:cNvPr id="99" name="TextBox 6">
            <a:extLst>
              <a:ext uri="{FF2B5EF4-FFF2-40B4-BE49-F238E27FC236}">
                <a16:creationId xmlns:a16="http://schemas.microsoft.com/office/drawing/2014/main" id="{2E1CBFBB-30FF-CA20-895E-783500671144}"/>
              </a:ext>
            </a:extLst>
          </p:cNvPr>
          <p:cNvSpPr txBox="1"/>
          <p:nvPr/>
        </p:nvSpPr>
        <p:spPr>
          <a:xfrm>
            <a:off x="6219914" y="4294709"/>
            <a:ext cx="3875608" cy="47055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7940"/>
              </a:lnSpc>
            </a:pPr>
            <a:r>
              <a:rPr lang="ko-KR" altLang="en-US" sz="2000" dirty="0">
                <a:solidFill>
                  <a:srgbClr val="000000"/>
                </a:solidFill>
                <a:ea typeface="RecipekoreaOTF Medium"/>
              </a:rPr>
              <a:t>테마별 여행</a:t>
            </a:r>
            <a:endParaRPr lang="ko-KR" sz="2000" b="0" i="0" u="none" strike="noStrike" dirty="0">
              <a:solidFill>
                <a:srgbClr val="000000"/>
              </a:solidFill>
              <a:ea typeface="RecipekoreaOTF Medium"/>
            </a:endParaRPr>
          </a:p>
        </p:txBody>
      </p:sp>
      <p:sp>
        <p:nvSpPr>
          <p:cNvPr id="100" name="TextBox 7">
            <a:extLst>
              <a:ext uri="{FF2B5EF4-FFF2-40B4-BE49-F238E27FC236}">
                <a16:creationId xmlns:a16="http://schemas.microsoft.com/office/drawing/2014/main" id="{AB110EA0-AEF3-CA5E-E910-5ACE8B58D4E4}"/>
              </a:ext>
            </a:extLst>
          </p:cNvPr>
          <p:cNvSpPr txBox="1"/>
          <p:nvPr/>
        </p:nvSpPr>
        <p:spPr>
          <a:xfrm>
            <a:off x="6219913" y="4637823"/>
            <a:ext cx="5972087" cy="36512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0269"/>
              </a:lnSpc>
            </a:pPr>
            <a:r>
              <a:rPr lang="ko-KR" altLang="en-US" sz="1400" b="0" i="0" u="none" strike="noStrike" dirty="0">
                <a:solidFill>
                  <a:srgbClr val="000000"/>
                </a:solidFill>
                <a:ea typeface="Pretendard Medium"/>
              </a:rPr>
              <a:t>사용자들이 저장한 루트를 테마별로 모아둔</a:t>
            </a:r>
            <a:r>
              <a:rPr lang="en-US" altLang="ko-KR" sz="1400" b="0" i="0" u="none" strike="noStrike" dirty="0">
                <a:solidFill>
                  <a:srgbClr val="000000"/>
                </a:solidFill>
                <a:ea typeface="Pretendard Medium"/>
              </a:rPr>
              <a:t>[</a:t>
            </a:r>
            <a:r>
              <a:rPr lang="ko-KR" altLang="en-US" sz="1400" b="0" i="0" u="none" strike="noStrike" dirty="0">
                <a:solidFill>
                  <a:srgbClr val="000000"/>
                </a:solidFill>
                <a:ea typeface="Pretendard Medium"/>
              </a:rPr>
              <a:t>테마별 여행지 페이지</a:t>
            </a:r>
            <a:r>
              <a:rPr lang="en-US" altLang="ko-KR" sz="1400" b="0" i="0" u="none" strike="noStrike" dirty="0">
                <a:solidFill>
                  <a:srgbClr val="000000"/>
                </a:solidFill>
                <a:ea typeface="Pretendard Medium"/>
              </a:rPr>
              <a:t>]</a:t>
            </a:r>
            <a:r>
              <a:rPr lang="ko-KR" altLang="en-US" sz="1400" b="0" i="0" u="none" strike="noStrike" dirty="0">
                <a:solidFill>
                  <a:srgbClr val="000000"/>
                </a:solidFill>
                <a:ea typeface="Pretendard Medium"/>
              </a:rPr>
              <a:t>로 이동</a:t>
            </a:r>
            <a:endParaRPr lang="ko-KR" sz="1400" b="0" i="0" u="none" strike="noStrike" dirty="0">
              <a:solidFill>
                <a:srgbClr val="000000"/>
              </a:solidFill>
              <a:ea typeface="Pretendard Medium"/>
            </a:endParaRPr>
          </a:p>
        </p:txBody>
      </p:sp>
      <p:sp>
        <p:nvSpPr>
          <p:cNvPr id="101" name="TextBox 6">
            <a:extLst>
              <a:ext uri="{FF2B5EF4-FFF2-40B4-BE49-F238E27FC236}">
                <a16:creationId xmlns:a16="http://schemas.microsoft.com/office/drawing/2014/main" id="{552B8B22-F09C-307C-3FEA-90C7CC4DCE49}"/>
              </a:ext>
            </a:extLst>
          </p:cNvPr>
          <p:cNvSpPr txBox="1"/>
          <p:nvPr/>
        </p:nvSpPr>
        <p:spPr>
          <a:xfrm>
            <a:off x="6819399" y="5294221"/>
            <a:ext cx="3875608" cy="47055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7940"/>
              </a:lnSpc>
            </a:pPr>
            <a:r>
              <a:rPr lang="ko-KR" altLang="en-US" sz="2000" dirty="0" err="1">
                <a:solidFill>
                  <a:srgbClr val="000000"/>
                </a:solidFill>
                <a:ea typeface="RecipekoreaOTF Medium"/>
              </a:rPr>
              <a:t>여행일정바텀시트</a:t>
            </a:r>
            <a:endParaRPr lang="ko-KR" sz="2000" b="0" i="0" u="none" strike="noStrike" dirty="0">
              <a:solidFill>
                <a:srgbClr val="000000"/>
              </a:solidFill>
              <a:ea typeface="RecipekoreaOTF Medium"/>
            </a:endParaRPr>
          </a:p>
        </p:txBody>
      </p:sp>
      <p:sp>
        <p:nvSpPr>
          <p:cNvPr id="102" name="TextBox 7">
            <a:extLst>
              <a:ext uri="{FF2B5EF4-FFF2-40B4-BE49-F238E27FC236}">
                <a16:creationId xmlns:a16="http://schemas.microsoft.com/office/drawing/2014/main" id="{42D071E9-E84C-7960-8006-46DC5476B951}"/>
              </a:ext>
            </a:extLst>
          </p:cNvPr>
          <p:cNvSpPr txBox="1"/>
          <p:nvPr/>
        </p:nvSpPr>
        <p:spPr>
          <a:xfrm>
            <a:off x="6819399" y="5637334"/>
            <a:ext cx="4655944" cy="66812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0269"/>
              </a:lnSpc>
            </a:pPr>
            <a:r>
              <a:rPr lang="ko-KR" altLang="en-US" sz="1400" b="0" i="0" u="none" strike="noStrike" dirty="0">
                <a:solidFill>
                  <a:srgbClr val="000000"/>
                </a:solidFill>
                <a:ea typeface="Pretendard Medium"/>
              </a:rPr>
              <a:t>자신의 여행일정을 바로 확인할 수 있는 영역</a:t>
            </a:r>
            <a:endParaRPr lang="en-US" altLang="ko-KR" sz="1400" b="0" i="0" u="none" strike="noStrike" dirty="0">
              <a:solidFill>
                <a:srgbClr val="000000"/>
              </a:solidFill>
              <a:ea typeface="Pretendard Medium"/>
            </a:endParaRPr>
          </a:p>
          <a:p>
            <a:pPr lvl="0" algn="l">
              <a:lnSpc>
                <a:spcPct val="140269"/>
              </a:lnSpc>
            </a:pPr>
            <a:r>
              <a:rPr lang="ko-KR" altLang="en-US" sz="1400" dirty="0">
                <a:solidFill>
                  <a:srgbClr val="000000"/>
                </a:solidFill>
                <a:ea typeface="Pretendard Medium"/>
              </a:rPr>
              <a:t>위로 </a:t>
            </a:r>
            <a:r>
              <a:rPr lang="ko-KR" altLang="en-US" sz="1400" dirty="0" err="1">
                <a:solidFill>
                  <a:srgbClr val="000000"/>
                </a:solidFill>
                <a:ea typeface="Pretendard Medium"/>
              </a:rPr>
              <a:t>스와이프하면</a:t>
            </a:r>
            <a:r>
              <a:rPr lang="ko-KR" altLang="en-US" sz="1400" dirty="0">
                <a:solidFill>
                  <a:srgbClr val="000000"/>
                </a:solidFill>
                <a:ea typeface="Pretendard Medium"/>
              </a:rPr>
              <a:t> 전체 내용을 확인가능</a:t>
            </a:r>
            <a:endParaRPr lang="ko-KR" sz="1400" b="0" i="0" u="none" strike="noStrike" dirty="0">
              <a:solidFill>
                <a:srgbClr val="000000"/>
              </a:solidFill>
              <a:ea typeface="Pretendard Medium"/>
            </a:endParaRPr>
          </a:p>
        </p:txBody>
      </p:sp>
      <p:pic>
        <p:nvPicPr>
          <p:cNvPr id="103" name="Picture 3">
            <a:extLst>
              <a:ext uri="{FF2B5EF4-FFF2-40B4-BE49-F238E27FC236}">
                <a16:creationId xmlns:a16="http://schemas.microsoft.com/office/drawing/2014/main" id="{D0F24F7B-742E-B333-8034-1EE62B1C8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5200" y="5433632"/>
            <a:ext cx="2254445" cy="306671"/>
          </a:xfrm>
          <a:prstGeom prst="rect">
            <a:avLst/>
          </a:prstGeom>
          <a:effectLst>
            <a:outerShdw blurRad="2250" dist="43871" dir="270000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902691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CAF2B-DDD4-88F0-F5B0-4772411C6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FDF7E30-ECBE-FC60-B398-B08D3719AEC9}"/>
              </a:ext>
            </a:extLst>
          </p:cNvPr>
          <p:cNvSpPr txBox="1"/>
          <p:nvPr/>
        </p:nvSpPr>
        <p:spPr>
          <a:xfrm>
            <a:off x="467760" y="239670"/>
            <a:ext cx="155683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05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성과물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2C8578E-5405-6271-8DB9-6437296D6C15}"/>
              </a:ext>
            </a:extLst>
          </p:cNvPr>
          <p:cNvSpPr>
            <a:spLocks noChangeAspect="1"/>
          </p:cNvSpPr>
          <p:nvPr/>
        </p:nvSpPr>
        <p:spPr>
          <a:xfrm>
            <a:off x="100764" y="837877"/>
            <a:ext cx="7376481" cy="4636460"/>
          </a:xfrm>
          <a:prstGeom prst="roundRect">
            <a:avLst>
              <a:gd name="adj" fmla="val 7563"/>
            </a:avLst>
          </a:prstGeom>
          <a:solidFill>
            <a:srgbClr val="F6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dirty="0">
                <a:solidFill>
                  <a:schemeClr val="accent5">
                    <a:lumMod val="50000"/>
                  </a:schemeClr>
                </a:solidFill>
              </a:rPr>
              <a:t>003.1</a:t>
            </a:r>
          </a:p>
          <a:p>
            <a:r>
              <a:rPr lang="ko-KR" altLang="en-US" sz="3200" b="1" dirty="0" err="1">
                <a:solidFill>
                  <a:srgbClr val="333333"/>
                </a:solidFill>
              </a:rPr>
              <a:t>여행일정바텀시트</a:t>
            </a:r>
            <a:endParaRPr lang="en-US" altLang="ko-KR" sz="1600" dirty="0">
              <a:solidFill>
                <a:srgbClr val="333333"/>
              </a:solidFill>
            </a:endParaRPr>
          </a:p>
          <a:p>
            <a:endParaRPr lang="en-US" altLang="ko-KR" sz="1600" dirty="0">
              <a:solidFill>
                <a:srgbClr val="333333"/>
              </a:solidFill>
            </a:endParaRPr>
          </a:p>
          <a:p>
            <a:pPr marL="0" marR="0" lvl="0" indent="0" defTabSz="914400" rtl="0" eaLnBrk="1" fontAlgn="auto" latinLnBrk="0" hangingPunct="1">
              <a:lnSpc>
                <a:spcPct val="140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600" b="1" i="0" u="none" strike="noStrike" dirty="0">
                <a:solidFill>
                  <a:srgbClr val="000000"/>
                </a:solidFill>
                <a:ea typeface="Pretendard Medium"/>
              </a:rPr>
              <a:t>메인</a:t>
            </a:r>
            <a:r>
              <a:rPr lang="en-US" altLang="ko-KR" sz="1600" b="1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altLang="ko-KR" sz="1600" b="1" i="0" u="none" strike="noStrike" dirty="0">
                <a:solidFill>
                  <a:srgbClr val="000000"/>
                </a:solidFill>
                <a:ea typeface="Pretendard Medium"/>
              </a:rPr>
              <a:t>페이지에서</a:t>
            </a:r>
            <a:r>
              <a:rPr lang="en-US" altLang="ko-KR" sz="1600" b="1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altLang="ko-KR" sz="1600" b="1" i="0" u="none" strike="noStrike" dirty="0" err="1">
                <a:solidFill>
                  <a:srgbClr val="000000"/>
                </a:solidFill>
                <a:ea typeface="Pretendard Medium"/>
              </a:rPr>
              <a:t>바텀시트를</a:t>
            </a:r>
            <a:r>
              <a:rPr lang="en-US" altLang="ko-KR" sz="1600" b="1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altLang="ko-KR" sz="1600" b="1" i="0" u="none" strike="noStrike" dirty="0">
                <a:solidFill>
                  <a:srgbClr val="000000"/>
                </a:solidFill>
                <a:ea typeface="Pretendard Medium"/>
              </a:rPr>
              <a:t>위로</a:t>
            </a:r>
            <a:r>
              <a:rPr lang="en-US" altLang="ko-KR" sz="1600" b="1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altLang="ko-KR" sz="1600" b="1" i="0" u="none" strike="noStrike" dirty="0" err="1">
                <a:solidFill>
                  <a:srgbClr val="000000"/>
                </a:solidFill>
                <a:ea typeface="Pretendard Medium"/>
              </a:rPr>
              <a:t>스와이프하면</a:t>
            </a:r>
            <a:r>
              <a:rPr lang="en-US" altLang="ko-KR" sz="1600" b="1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altLang="ko-KR" sz="1600" b="1" i="0" u="none" strike="noStrike" dirty="0">
                <a:solidFill>
                  <a:srgbClr val="000000"/>
                </a:solidFill>
                <a:ea typeface="Pretendard Medium"/>
              </a:rPr>
              <a:t>내가</a:t>
            </a:r>
            <a:r>
              <a:rPr lang="en-US" altLang="ko-KR" sz="1600" b="1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altLang="ko-KR" sz="1600" b="1" i="0" u="none" strike="noStrike" dirty="0">
                <a:solidFill>
                  <a:srgbClr val="000000"/>
                </a:solidFill>
                <a:ea typeface="Pretendard Medium"/>
              </a:rPr>
              <a:t>계획한</a:t>
            </a:r>
            <a:endParaRPr lang="en-US" altLang="ko-KR" sz="1600" b="1" i="0" u="none" strike="noStrike" dirty="0">
              <a:solidFill>
                <a:srgbClr val="000000"/>
              </a:solidFill>
              <a:ea typeface="Pretendard Medium"/>
            </a:endParaRPr>
          </a:p>
          <a:p>
            <a:pPr marL="0" marR="0" lvl="0" indent="0" defTabSz="914400" rtl="0" eaLnBrk="1" fontAlgn="auto" latinLnBrk="0" hangingPunct="1">
              <a:lnSpc>
                <a:spcPct val="140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altLang="ko-KR" sz="1600" b="1" i="0" u="none" strike="noStrike" dirty="0">
                <a:solidFill>
                  <a:srgbClr val="000000"/>
                </a:solidFill>
                <a:ea typeface="Pretendard Medium"/>
              </a:rPr>
              <a:t>여행으로</a:t>
            </a:r>
            <a:r>
              <a:rPr lang="en-US" altLang="ko-KR" sz="1600" b="1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altLang="ko-KR" sz="1600" b="1" i="0" u="none" strike="noStrike" dirty="0">
                <a:solidFill>
                  <a:srgbClr val="000000"/>
                </a:solidFill>
                <a:ea typeface="Pretendard Medium"/>
              </a:rPr>
              <a:t>바로</a:t>
            </a:r>
            <a:r>
              <a:rPr lang="en-US" altLang="ko-KR" sz="1600" b="1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altLang="ko-KR" sz="1600" b="1" i="0" u="none" strike="noStrike" dirty="0">
                <a:solidFill>
                  <a:srgbClr val="000000"/>
                </a:solidFill>
                <a:ea typeface="Pretendard Medium"/>
              </a:rPr>
              <a:t>접근할</a:t>
            </a:r>
            <a:r>
              <a:rPr lang="en-US" altLang="ko-KR" sz="1600" b="1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altLang="ko-KR" sz="1600" b="1" i="0" u="none" strike="noStrike" dirty="0">
                <a:solidFill>
                  <a:srgbClr val="000000"/>
                </a:solidFill>
                <a:ea typeface="Pretendard Medium"/>
              </a:rPr>
              <a:t>수</a:t>
            </a:r>
            <a:r>
              <a:rPr lang="en-US" altLang="ko-KR" sz="1600" b="1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altLang="ko-KR" sz="1600" b="1" i="0" u="none" strike="noStrike" dirty="0">
                <a:solidFill>
                  <a:srgbClr val="000000"/>
                </a:solidFill>
                <a:ea typeface="Pretendard Medium"/>
              </a:rPr>
              <a:t>있습니다</a:t>
            </a:r>
            <a:r>
              <a:rPr lang="en-US" altLang="ko-KR" sz="1600" b="1" i="0" u="none" strike="noStrike" dirty="0">
                <a:solidFill>
                  <a:srgbClr val="000000"/>
                </a:solidFill>
                <a:latin typeface="Pretendard Medium"/>
              </a:rPr>
              <a:t>. </a:t>
            </a:r>
          </a:p>
          <a:p>
            <a:pPr marL="0" marR="0" lvl="0" indent="0" defTabSz="914400" rtl="0" eaLnBrk="1" fontAlgn="auto" latinLnBrk="0" hangingPunct="1">
              <a:lnSpc>
                <a:spcPct val="140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600" b="1" i="0" u="none" strike="noStrike" dirty="0">
                <a:solidFill>
                  <a:srgbClr val="000000"/>
                </a:solidFill>
                <a:ea typeface="Pretendard Medium"/>
              </a:rPr>
              <a:t>또한</a:t>
            </a:r>
            <a:r>
              <a:rPr lang="en-US" altLang="ko-KR" sz="1600" b="1" i="0" u="none" strike="noStrike" dirty="0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altLang="ko-KR" sz="1600" b="1" i="0" u="none" strike="noStrike" dirty="0">
                <a:solidFill>
                  <a:srgbClr val="000000"/>
                </a:solidFill>
                <a:ea typeface="Pretendard Medium"/>
              </a:rPr>
              <a:t>각</a:t>
            </a:r>
            <a:r>
              <a:rPr lang="en-US" altLang="ko-KR" sz="1600" b="1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altLang="ko-KR" sz="1600" b="1" i="0" u="none" strike="noStrike" dirty="0">
                <a:solidFill>
                  <a:srgbClr val="000000"/>
                </a:solidFill>
                <a:ea typeface="Pretendard Medium"/>
              </a:rPr>
              <a:t>일차별</a:t>
            </a:r>
            <a:r>
              <a:rPr lang="en-US" altLang="ko-KR" sz="1600" b="1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altLang="ko-KR" sz="1600" b="1" i="0" u="none" strike="noStrike" dirty="0">
                <a:solidFill>
                  <a:srgbClr val="000000"/>
                </a:solidFill>
                <a:ea typeface="Pretendard Medium"/>
              </a:rPr>
              <a:t>일정을</a:t>
            </a:r>
            <a:r>
              <a:rPr lang="en-US" altLang="ko-KR" sz="1600" b="1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altLang="ko-KR" sz="1600" b="1" i="0" u="none" strike="noStrike" dirty="0">
                <a:solidFill>
                  <a:srgbClr val="000000"/>
                </a:solidFill>
                <a:ea typeface="Pretendard Medium"/>
              </a:rPr>
              <a:t>클릭하면</a:t>
            </a:r>
            <a:r>
              <a:rPr lang="en-US" altLang="ko-KR" sz="1600" b="1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altLang="ko-KR" sz="1600" b="1" i="0" u="none" strike="noStrike" dirty="0">
                <a:solidFill>
                  <a:srgbClr val="000000"/>
                </a:solidFill>
                <a:ea typeface="Pretendard Medium"/>
              </a:rPr>
              <a:t>해당</a:t>
            </a:r>
            <a:r>
              <a:rPr lang="en-US" altLang="ko-KR" sz="1600" b="1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altLang="ko-KR" sz="1600" b="1" i="0" u="none" strike="noStrike" dirty="0">
                <a:solidFill>
                  <a:srgbClr val="000000"/>
                </a:solidFill>
                <a:ea typeface="Pretendard Medium"/>
              </a:rPr>
              <a:t>일정의</a:t>
            </a:r>
            <a:r>
              <a:rPr lang="en-US" altLang="ko-KR" sz="1600" b="1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altLang="ko-KR" sz="1600" b="1" i="0" u="none" strike="noStrike" dirty="0">
                <a:solidFill>
                  <a:srgbClr val="000000"/>
                </a:solidFill>
                <a:ea typeface="Pretendard Medium"/>
              </a:rPr>
              <a:t>상세</a:t>
            </a:r>
            <a:r>
              <a:rPr lang="en-US" altLang="ko-KR" sz="1600" b="1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altLang="ko-KR" sz="1600" b="1" i="0" u="none" strike="noStrike" dirty="0">
                <a:solidFill>
                  <a:srgbClr val="000000"/>
                </a:solidFill>
                <a:ea typeface="Pretendard Medium"/>
              </a:rPr>
              <a:t>페이지로</a:t>
            </a:r>
            <a:endParaRPr lang="en-US" altLang="ko-KR" sz="1600" b="1" i="0" u="none" strike="noStrike" dirty="0">
              <a:solidFill>
                <a:srgbClr val="000000"/>
              </a:solidFill>
              <a:ea typeface="Pretendard Medium"/>
            </a:endParaRPr>
          </a:p>
          <a:p>
            <a:pPr marL="0" marR="0" lvl="0" indent="0" defTabSz="914400" rtl="0" eaLnBrk="1" fontAlgn="auto" latinLnBrk="0" hangingPunct="1">
              <a:lnSpc>
                <a:spcPct val="140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600" b="1" i="0" u="none" strike="noStrike" dirty="0">
                <a:solidFill>
                  <a:srgbClr val="000000"/>
                </a:solidFill>
                <a:ea typeface="Pretendard Medium"/>
              </a:rPr>
              <a:t>이동할</a:t>
            </a:r>
            <a:r>
              <a:rPr lang="en-US" altLang="ko-KR" sz="1600" b="1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altLang="ko-KR" sz="1600" b="1" i="0" u="none" strike="noStrike" dirty="0">
                <a:solidFill>
                  <a:srgbClr val="000000"/>
                </a:solidFill>
                <a:ea typeface="Pretendard Medium"/>
              </a:rPr>
              <a:t>수</a:t>
            </a:r>
            <a:r>
              <a:rPr lang="en-US" altLang="ko-KR" sz="1600" b="1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altLang="ko-KR" sz="1600" b="1" i="0" u="none" strike="noStrike" dirty="0">
                <a:solidFill>
                  <a:srgbClr val="000000"/>
                </a:solidFill>
                <a:ea typeface="Pretendard Medium"/>
              </a:rPr>
              <a:t>있어</a:t>
            </a:r>
            <a:r>
              <a:rPr lang="en-US" altLang="ko-KR" sz="1600" b="1" i="0" u="none" strike="noStrike" dirty="0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altLang="ko-KR" sz="1600" b="1" i="0" u="none" strike="noStrike" dirty="0">
                <a:solidFill>
                  <a:srgbClr val="000000"/>
                </a:solidFill>
                <a:ea typeface="Pretendard Medium"/>
              </a:rPr>
              <a:t>간편하고</a:t>
            </a:r>
            <a:r>
              <a:rPr lang="en-US" altLang="ko-KR" sz="1600" b="1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altLang="ko-KR" sz="1600" b="1" i="0" u="none" strike="noStrike" dirty="0">
                <a:solidFill>
                  <a:srgbClr val="000000"/>
                </a:solidFill>
                <a:ea typeface="Pretendard Medium"/>
              </a:rPr>
              <a:t>직관적인</a:t>
            </a:r>
            <a:r>
              <a:rPr lang="en-US" altLang="ko-KR" sz="1600" b="1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altLang="ko-KR" sz="1600" b="1" i="0" u="none" strike="noStrike" dirty="0">
                <a:solidFill>
                  <a:srgbClr val="000000"/>
                </a:solidFill>
                <a:ea typeface="Pretendard Medium"/>
              </a:rPr>
              <a:t>일정</a:t>
            </a:r>
            <a:r>
              <a:rPr lang="en-US" altLang="ko-KR" sz="1600" b="1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altLang="ko-KR" sz="1600" b="1" i="0" u="none" strike="noStrike" dirty="0">
                <a:solidFill>
                  <a:srgbClr val="000000"/>
                </a:solidFill>
                <a:ea typeface="Pretendard Medium"/>
              </a:rPr>
              <a:t>관리를</a:t>
            </a:r>
            <a:r>
              <a:rPr lang="en-US" altLang="ko-KR" sz="1600" b="1" i="0" u="none" strike="noStrike" dirty="0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altLang="ko-KR" sz="1600" b="1" i="0" u="none" strike="noStrike" dirty="0">
                <a:solidFill>
                  <a:srgbClr val="000000"/>
                </a:solidFill>
                <a:ea typeface="Pretendard Medium"/>
              </a:rPr>
              <a:t>제공합니다</a:t>
            </a:r>
            <a:endParaRPr lang="ko-KR" altLang="en-US" sz="1600" b="1" dirty="0">
              <a:solidFill>
                <a:srgbClr val="333333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639D2AF-49D7-6BE6-453A-34083F02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6463-D1C1-4B59-8382-6AFDD2B4B94E}" type="slidenum">
              <a:rPr lang="ko-KR" altLang="en-US" smtClean="0"/>
              <a:t>36</a:t>
            </a:fld>
            <a:endParaRPr lang="ko-KR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6B1FDD1-A0FA-CA1E-1761-FBCBABCBA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096000" y="863920"/>
            <a:ext cx="2726827" cy="5389304"/>
          </a:xfrm>
          <a:prstGeom prst="rect">
            <a:avLst/>
          </a:pr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03E6E8E6-4E06-6B92-4087-DE15A98E6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957841" y="837877"/>
            <a:ext cx="2726827" cy="5389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03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4B84E-A15E-2DAA-0A66-7B5B3161A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CA5A3A5-CADC-CA0D-3108-11B6C58BDDE9}"/>
              </a:ext>
            </a:extLst>
          </p:cNvPr>
          <p:cNvSpPr txBox="1"/>
          <p:nvPr/>
        </p:nvSpPr>
        <p:spPr>
          <a:xfrm>
            <a:off x="467760" y="239670"/>
            <a:ext cx="155683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05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성과물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7BAC819-7158-E0FA-5A2B-F44C1DD6FCA4}"/>
              </a:ext>
            </a:extLst>
          </p:cNvPr>
          <p:cNvSpPr>
            <a:spLocks noChangeAspect="1"/>
          </p:cNvSpPr>
          <p:nvPr/>
        </p:nvSpPr>
        <p:spPr>
          <a:xfrm>
            <a:off x="262811" y="884176"/>
            <a:ext cx="4945797" cy="4636460"/>
          </a:xfrm>
          <a:prstGeom prst="roundRect">
            <a:avLst>
              <a:gd name="adj" fmla="val 7563"/>
            </a:avLst>
          </a:prstGeom>
          <a:solidFill>
            <a:srgbClr val="F6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dirty="0">
                <a:solidFill>
                  <a:schemeClr val="accent5">
                    <a:lumMod val="50000"/>
                  </a:schemeClr>
                </a:solidFill>
              </a:rPr>
              <a:t>004</a:t>
            </a:r>
          </a:p>
          <a:p>
            <a:r>
              <a:rPr lang="ko-KR" altLang="en-US" sz="3200" b="1" dirty="0">
                <a:solidFill>
                  <a:srgbClr val="333333"/>
                </a:solidFill>
              </a:rPr>
              <a:t>여행지 소개 페이지</a:t>
            </a:r>
            <a:endParaRPr lang="en-US" altLang="ko-KR" sz="1600" dirty="0">
              <a:solidFill>
                <a:srgbClr val="333333"/>
              </a:solidFill>
            </a:endParaRPr>
          </a:p>
          <a:p>
            <a:endParaRPr lang="en-US" altLang="ko-KR" sz="1600" dirty="0">
              <a:solidFill>
                <a:srgbClr val="333333"/>
              </a:solidFill>
            </a:endParaRPr>
          </a:p>
          <a:p>
            <a:pPr marL="0" marR="0" lvl="0" indent="0" defTabSz="914400" rtl="0" eaLnBrk="1" fontAlgn="auto" latinLnBrk="0" hangingPunct="1">
              <a:lnSpc>
                <a:spcPct val="140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b="1" dirty="0">
                <a:solidFill>
                  <a:srgbClr val="000000"/>
                </a:solidFill>
                <a:latin typeface="Calibri"/>
                <a:ea typeface="Pretendard Medium"/>
              </a:rPr>
              <a:t>각 여행지별 간단한 설명과 함께 인기지역리스트를 제공하여 다양한 여행지의 다양한 인기 관광지를 </a:t>
            </a:r>
            <a:r>
              <a:rPr lang="ko-KR" altLang="en-US" sz="1600" b="1" dirty="0" err="1">
                <a:solidFill>
                  <a:srgbClr val="000000"/>
                </a:solidFill>
                <a:latin typeface="Calibri"/>
                <a:ea typeface="Pretendard Medium"/>
              </a:rPr>
              <a:t>살펴볼수있다</a:t>
            </a:r>
            <a:endParaRPr lang="ko-KR" altLang="en-US" sz="1600" dirty="0">
              <a:solidFill>
                <a:srgbClr val="333333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F523FAF-787F-D0E0-DA6E-F6D741AC7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6463-D1C1-4B59-8382-6AFDD2B4B94E}" type="slidenum">
              <a:rPr lang="ko-KR" altLang="en-US" smtClean="0"/>
              <a:t>37</a:t>
            </a:fld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F048D33-A0B1-9732-8D0F-67ACA3FE0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731" y="0"/>
            <a:ext cx="43120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5514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CCBDF-9678-2368-B466-507253ED4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5DEB67E-038E-8618-6A54-4D9A266D8217}"/>
              </a:ext>
            </a:extLst>
          </p:cNvPr>
          <p:cNvSpPr txBox="1"/>
          <p:nvPr/>
        </p:nvSpPr>
        <p:spPr>
          <a:xfrm>
            <a:off x="467760" y="239670"/>
            <a:ext cx="155683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05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성과물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EDD1B23-EC55-1111-EB3F-6DA0C1AAE20F}"/>
              </a:ext>
            </a:extLst>
          </p:cNvPr>
          <p:cNvSpPr>
            <a:spLocks noChangeAspect="1"/>
          </p:cNvSpPr>
          <p:nvPr/>
        </p:nvSpPr>
        <p:spPr>
          <a:xfrm>
            <a:off x="262811" y="884176"/>
            <a:ext cx="6368995" cy="4636460"/>
          </a:xfrm>
          <a:prstGeom prst="roundRect">
            <a:avLst>
              <a:gd name="adj" fmla="val 7563"/>
            </a:avLst>
          </a:prstGeom>
          <a:solidFill>
            <a:srgbClr val="F6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dirty="0">
                <a:solidFill>
                  <a:schemeClr val="accent5">
                    <a:lumMod val="50000"/>
                  </a:schemeClr>
                </a:solidFill>
              </a:rPr>
              <a:t>005</a:t>
            </a:r>
          </a:p>
          <a:p>
            <a:r>
              <a:rPr lang="ko-KR" altLang="en-US" sz="3200" b="1" dirty="0">
                <a:solidFill>
                  <a:srgbClr val="333333"/>
                </a:solidFill>
              </a:rPr>
              <a:t>지역별 간단 </a:t>
            </a:r>
            <a:r>
              <a:rPr lang="ko-KR" altLang="en-US" sz="3200" b="1" dirty="0" err="1">
                <a:solidFill>
                  <a:srgbClr val="333333"/>
                </a:solidFill>
              </a:rPr>
              <a:t>코맨트</a:t>
            </a:r>
            <a:endParaRPr lang="en-US" altLang="ko-KR" sz="1600" dirty="0">
              <a:solidFill>
                <a:srgbClr val="333333"/>
              </a:solidFill>
            </a:endParaRPr>
          </a:p>
          <a:p>
            <a:endParaRPr lang="en-US" altLang="ko-KR" sz="1600" dirty="0">
              <a:solidFill>
                <a:srgbClr val="333333"/>
              </a:solidFill>
            </a:endParaRPr>
          </a:p>
          <a:p>
            <a:pPr marL="0" marR="0" lvl="0" indent="0" defTabSz="914400" rtl="0" eaLnBrk="1" fontAlgn="auto" latinLnBrk="0" hangingPunct="1">
              <a:lnSpc>
                <a:spcPct val="140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b="1" dirty="0">
                <a:solidFill>
                  <a:srgbClr val="000000"/>
                </a:solidFill>
                <a:latin typeface="Calibri"/>
                <a:ea typeface="Pretendard Medium"/>
              </a:rPr>
              <a:t>인공지능이 사용자가 선택한 지역에 대한 주요 정보를 간단한 코멘트 형태로 제공합니다</a:t>
            </a:r>
            <a:r>
              <a:rPr lang="en-US" altLang="ko-KR" sz="1600" b="1" dirty="0">
                <a:solidFill>
                  <a:srgbClr val="000000"/>
                </a:solidFill>
                <a:latin typeface="Calibri"/>
                <a:ea typeface="Pretendard Medium"/>
              </a:rPr>
              <a:t>. </a:t>
            </a:r>
            <a:r>
              <a:rPr lang="ko-KR" altLang="en-US" sz="1600" b="1" dirty="0">
                <a:solidFill>
                  <a:srgbClr val="000000"/>
                </a:solidFill>
                <a:latin typeface="Calibri"/>
                <a:ea typeface="Pretendard Medium"/>
              </a:rPr>
              <a:t>이 정보를 바탕으로 사용자는 이후 일정 작성 시 참고 자료로 활용할 수 있습니다</a:t>
            </a:r>
            <a:endParaRPr lang="ko-KR" altLang="en-US" sz="1600" dirty="0">
              <a:solidFill>
                <a:srgbClr val="333333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503E09F-DAD5-8FE4-400B-0E20BC81B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6463-D1C1-4B59-8382-6AFDD2B4B94E}" type="slidenum">
              <a:rPr lang="ko-KR" altLang="en-US" smtClean="0"/>
              <a:t>38</a:t>
            </a:fld>
            <a:endParaRPr lang="ko-KR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84F8E09-2EDF-EDE6-8CF9-AA023595D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208" y="884176"/>
            <a:ext cx="2710884" cy="5357795"/>
          </a:xfrm>
          <a:prstGeom prst="rect">
            <a:avLst/>
          </a:pr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18364CC3-C507-1E7F-AE38-E117E39BC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299" y="4443409"/>
            <a:ext cx="1711689" cy="332828"/>
          </a:xfrm>
          <a:prstGeom prst="rect">
            <a:avLst/>
          </a:prstGeom>
          <a:effectLst>
            <a:outerShdw blurRad="2828" dist="49190" dir="270000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65563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570EF-9BE5-D70D-4F7C-2C5BB2507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1234EBE-FFEA-5E5A-D31B-61F0260585D8}"/>
              </a:ext>
            </a:extLst>
          </p:cNvPr>
          <p:cNvSpPr txBox="1"/>
          <p:nvPr/>
        </p:nvSpPr>
        <p:spPr>
          <a:xfrm>
            <a:off x="467760" y="239670"/>
            <a:ext cx="155683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05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성과물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8851EF6-01CB-5B0D-D2C8-4B3C248CDDDC}"/>
              </a:ext>
            </a:extLst>
          </p:cNvPr>
          <p:cNvSpPr>
            <a:spLocks noChangeAspect="1"/>
          </p:cNvSpPr>
          <p:nvPr/>
        </p:nvSpPr>
        <p:spPr>
          <a:xfrm>
            <a:off x="262811" y="884176"/>
            <a:ext cx="3972305" cy="879172"/>
          </a:xfrm>
          <a:prstGeom prst="roundRect">
            <a:avLst>
              <a:gd name="adj" fmla="val 7563"/>
            </a:avLst>
          </a:prstGeom>
          <a:solidFill>
            <a:srgbClr val="F6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dirty="0">
                <a:solidFill>
                  <a:schemeClr val="accent5">
                    <a:lumMod val="50000"/>
                  </a:schemeClr>
                </a:solidFill>
              </a:rPr>
              <a:t>006.1</a:t>
            </a:r>
          </a:p>
          <a:p>
            <a:r>
              <a:rPr lang="ko-KR" altLang="en-US" sz="3200" b="1" dirty="0">
                <a:solidFill>
                  <a:srgbClr val="333333"/>
                </a:solidFill>
              </a:rPr>
              <a:t>지역별 간단 </a:t>
            </a:r>
            <a:r>
              <a:rPr lang="ko-KR" altLang="en-US" sz="3200" b="1" dirty="0" err="1">
                <a:solidFill>
                  <a:srgbClr val="333333"/>
                </a:solidFill>
              </a:rPr>
              <a:t>코맨트</a:t>
            </a:r>
            <a:endParaRPr lang="ko-KR" altLang="en-US" sz="3200" b="1" dirty="0">
              <a:solidFill>
                <a:srgbClr val="333333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A1B3D8E-8728-ACAB-C589-A66EAC964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6463-D1C1-4B59-8382-6AFDD2B4B94E}" type="slidenum">
              <a:rPr lang="ko-KR" altLang="en-US" smtClean="0"/>
              <a:t>39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E94642F-5867-E50B-01BF-710841E56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622" y="1763348"/>
            <a:ext cx="9757611" cy="5037875"/>
          </a:xfrm>
          <a:prstGeom prst="rect">
            <a:avLst/>
          </a:prstGeom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5429299-1E96-883B-6D2C-F4B46F23BB48}"/>
              </a:ext>
            </a:extLst>
          </p:cNvPr>
          <p:cNvSpPr>
            <a:spLocks noChangeAspect="1"/>
          </p:cNvSpPr>
          <p:nvPr/>
        </p:nvSpPr>
        <p:spPr>
          <a:xfrm>
            <a:off x="4090737" y="891183"/>
            <a:ext cx="5666873" cy="879172"/>
          </a:xfrm>
          <a:prstGeom prst="roundRect">
            <a:avLst>
              <a:gd name="adj" fmla="val 7563"/>
            </a:avLst>
          </a:prstGeom>
          <a:solidFill>
            <a:srgbClr val="F6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40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b="1" dirty="0">
                <a:solidFill>
                  <a:srgbClr val="000000"/>
                </a:solidFill>
                <a:latin typeface="Calibri"/>
                <a:ea typeface="Pretendard Medium"/>
              </a:rPr>
              <a:t>사용자는 여행을 가고자 하는 지역과 여행 날짜를 선택하여</a:t>
            </a:r>
            <a:endParaRPr lang="en-US" altLang="ko-KR" sz="1600" b="1" dirty="0">
              <a:solidFill>
                <a:srgbClr val="000000"/>
              </a:solidFill>
              <a:latin typeface="Calibri"/>
              <a:ea typeface="Pretendard Medium"/>
            </a:endParaRPr>
          </a:p>
          <a:p>
            <a:pPr marL="0" marR="0" lvl="0" indent="0" defTabSz="914400" rtl="0" eaLnBrk="1" fontAlgn="auto" latinLnBrk="0" hangingPunct="1">
              <a:lnSpc>
                <a:spcPct val="140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b="1" dirty="0">
                <a:solidFill>
                  <a:srgbClr val="000000"/>
                </a:solidFill>
                <a:latin typeface="Calibri"/>
                <a:ea typeface="Pretendard Medium"/>
              </a:rPr>
              <a:t>간편하게 여행 일정을 작성할 수 있습니다</a:t>
            </a:r>
            <a:endParaRPr lang="ko-KR" altLang="en-US" sz="1600" dirty="0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9607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BA237-7B2A-BF5D-299E-E990DCAEA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ED87A2E-2419-8FA6-0B5F-B8D859BCB82B}"/>
              </a:ext>
            </a:extLst>
          </p:cNvPr>
          <p:cNvSpPr txBox="1"/>
          <p:nvPr/>
        </p:nvSpPr>
        <p:spPr>
          <a:xfrm>
            <a:off x="467760" y="239670"/>
            <a:ext cx="155683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05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성과물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7030AF2-9FA5-9D91-43A7-FE1DD9026AEB}"/>
              </a:ext>
            </a:extLst>
          </p:cNvPr>
          <p:cNvSpPr>
            <a:spLocks noChangeAspect="1"/>
          </p:cNvSpPr>
          <p:nvPr/>
        </p:nvSpPr>
        <p:spPr>
          <a:xfrm>
            <a:off x="262811" y="884176"/>
            <a:ext cx="3972305" cy="879172"/>
          </a:xfrm>
          <a:prstGeom prst="roundRect">
            <a:avLst>
              <a:gd name="adj" fmla="val 7563"/>
            </a:avLst>
          </a:prstGeom>
          <a:solidFill>
            <a:srgbClr val="F6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dirty="0">
                <a:solidFill>
                  <a:schemeClr val="accent5">
                    <a:lumMod val="50000"/>
                  </a:schemeClr>
                </a:solidFill>
              </a:rPr>
              <a:t>006.2</a:t>
            </a:r>
          </a:p>
          <a:p>
            <a:r>
              <a:rPr lang="ko-KR" altLang="en-US" sz="3200" b="1" dirty="0" err="1">
                <a:solidFill>
                  <a:srgbClr val="333333"/>
                </a:solidFill>
              </a:rPr>
              <a:t>일정만들기</a:t>
            </a:r>
            <a:r>
              <a:rPr lang="en-US" altLang="ko-KR" sz="3200" b="1" dirty="0">
                <a:solidFill>
                  <a:srgbClr val="333333"/>
                </a:solidFill>
              </a:rPr>
              <a:t>- </a:t>
            </a:r>
            <a:r>
              <a:rPr lang="ko-KR" altLang="en-US" sz="3200" b="1" dirty="0">
                <a:solidFill>
                  <a:srgbClr val="333333"/>
                </a:solidFill>
              </a:rPr>
              <a:t>자동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D8B276C-9DA5-7274-7324-389918BAB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6463-D1C1-4B59-8382-6AFDD2B4B94E}" type="slidenum">
              <a:rPr lang="ko-KR" altLang="en-US" smtClean="0"/>
              <a:t>40</a:t>
            </a:fld>
            <a:endParaRPr lang="ko-KR" altLang="en-US" dirty="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868D051-C23C-720B-E6FB-F0C0EB70E93A}"/>
              </a:ext>
            </a:extLst>
          </p:cNvPr>
          <p:cNvSpPr>
            <a:spLocks noChangeAspect="1"/>
          </p:cNvSpPr>
          <p:nvPr/>
        </p:nvSpPr>
        <p:spPr>
          <a:xfrm>
            <a:off x="3918283" y="784026"/>
            <a:ext cx="7263063" cy="1079471"/>
          </a:xfrm>
          <a:prstGeom prst="roundRect">
            <a:avLst>
              <a:gd name="adj" fmla="val 7563"/>
            </a:avLst>
          </a:prstGeom>
          <a:solidFill>
            <a:srgbClr val="F6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40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b="1" dirty="0">
                <a:solidFill>
                  <a:srgbClr val="000000"/>
                </a:solidFill>
                <a:latin typeface="Calibri"/>
                <a:ea typeface="Pretendard Medium"/>
              </a:rPr>
              <a:t>태그형식으로 구성된 다양한 여행 스타일을 활용해 자동으로 일정을 </a:t>
            </a:r>
          </a:p>
          <a:p>
            <a:pPr marL="0" marR="0" lvl="0" indent="0" defTabSz="914400" rtl="0" eaLnBrk="1" fontAlgn="auto" latinLnBrk="0" hangingPunct="1">
              <a:lnSpc>
                <a:spcPct val="140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b="1" dirty="0" err="1">
                <a:solidFill>
                  <a:srgbClr val="000000"/>
                </a:solidFill>
                <a:latin typeface="Calibri"/>
                <a:ea typeface="Pretendard Medium"/>
              </a:rPr>
              <a:t>추천받거나</a:t>
            </a:r>
            <a:r>
              <a:rPr lang="ko-KR" altLang="en-US" sz="1600" b="1" dirty="0">
                <a:solidFill>
                  <a:srgbClr val="000000"/>
                </a:solidFill>
                <a:latin typeface="Calibri"/>
                <a:ea typeface="Pretendard Medium"/>
              </a:rPr>
              <a:t> 작성할 수 있어</a:t>
            </a:r>
            <a:r>
              <a:rPr lang="en-US" altLang="ko-KR" sz="1600" b="1" dirty="0">
                <a:solidFill>
                  <a:srgbClr val="000000"/>
                </a:solidFill>
                <a:latin typeface="Calibri"/>
                <a:ea typeface="Pretendard Medium"/>
              </a:rPr>
              <a:t>, </a:t>
            </a:r>
            <a:r>
              <a:rPr lang="ko-KR" altLang="en-US" sz="1600" b="1" dirty="0">
                <a:solidFill>
                  <a:srgbClr val="000000"/>
                </a:solidFill>
                <a:latin typeface="Calibri"/>
                <a:ea typeface="Pretendard Medium"/>
              </a:rPr>
              <a:t>더욱 효율적이고 편리하게 </a:t>
            </a:r>
          </a:p>
          <a:p>
            <a:pPr marL="0" marR="0" lvl="0" indent="0" defTabSz="914400" rtl="0" eaLnBrk="1" fontAlgn="auto" latinLnBrk="0" hangingPunct="1">
              <a:lnSpc>
                <a:spcPct val="140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b="1" dirty="0">
                <a:solidFill>
                  <a:srgbClr val="000000"/>
                </a:solidFill>
                <a:latin typeface="Calibri"/>
                <a:ea typeface="Pretendard Medium"/>
              </a:rPr>
              <a:t>여행 계획을 세울 수 있습니다</a:t>
            </a:r>
            <a:r>
              <a:rPr lang="en-US" altLang="ko-KR" sz="1600" b="1" dirty="0">
                <a:solidFill>
                  <a:srgbClr val="000000"/>
                </a:solidFill>
                <a:latin typeface="Calibri"/>
                <a:ea typeface="Pretendard Medium"/>
              </a:rPr>
              <a:t>.</a:t>
            </a:r>
          </a:p>
          <a:p>
            <a:pPr marL="0" marR="0" lvl="0" indent="0" defTabSz="914400" rtl="0" eaLnBrk="1" fontAlgn="auto" latinLnBrk="0" hangingPunct="1">
              <a:lnSpc>
                <a:spcPct val="140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600" dirty="0">
              <a:solidFill>
                <a:srgbClr val="333333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B659022-DEF1-0B92-B71D-CFBF1CA7C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031" y="2046338"/>
            <a:ext cx="9083842" cy="469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3877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19A21-D05A-13F7-4AF4-71B66DAC6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6DEC7B7-6254-8C90-1F87-6723DB208F39}"/>
              </a:ext>
            </a:extLst>
          </p:cNvPr>
          <p:cNvSpPr txBox="1"/>
          <p:nvPr/>
        </p:nvSpPr>
        <p:spPr>
          <a:xfrm>
            <a:off x="467760" y="239670"/>
            <a:ext cx="155683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05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성과물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203B350-708F-2229-BCE3-D5B07D81CE05}"/>
              </a:ext>
            </a:extLst>
          </p:cNvPr>
          <p:cNvSpPr>
            <a:spLocks noChangeAspect="1"/>
          </p:cNvSpPr>
          <p:nvPr/>
        </p:nvSpPr>
        <p:spPr>
          <a:xfrm>
            <a:off x="262811" y="884176"/>
            <a:ext cx="3972305" cy="879172"/>
          </a:xfrm>
          <a:prstGeom prst="roundRect">
            <a:avLst>
              <a:gd name="adj" fmla="val 7563"/>
            </a:avLst>
          </a:prstGeom>
          <a:solidFill>
            <a:srgbClr val="F6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dirty="0">
                <a:solidFill>
                  <a:schemeClr val="accent5">
                    <a:lumMod val="50000"/>
                  </a:schemeClr>
                </a:solidFill>
              </a:rPr>
              <a:t>006.3</a:t>
            </a:r>
          </a:p>
          <a:p>
            <a:r>
              <a:rPr lang="ko-KR" altLang="en-US" sz="3200" b="1" dirty="0" err="1">
                <a:solidFill>
                  <a:srgbClr val="333333"/>
                </a:solidFill>
              </a:rPr>
              <a:t>일정만들기</a:t>
            </a:r>
            <a:r>
              <a:rPr lang="en-US" altLang="ko-KR" sz="3200" b="1" dirty="0">
                <a:solidFill>
                  <a:srgbClr val="333333"/>
                </a:solidFill>
              </a:rPr>
              <a:t>-</a:t>
            </a:r>
            <a:r>
              <a:rPr lang="ko-KR" altLang="en-US" sz="3200" b="1" dirty="0">
                <a:solidFill>
                  <a:srgbClr val="333333"/>
                </a:solidFill>
              </a:rPr>
              <a:t>복사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D34C324-DCC5-D338-223D-F179C7C3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6463-D1C1-4B59-8382-6AFDD2B4B94E}" type="slidenum">
              <a:rPr lang="ko-KR" altLang="en-US" smtClean="0"/>
              <a:t>41</a:t>
            </a:fld>
            <a:endParaRPr lang="ko-KR" altLang="en-US" dirty="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5E09F0F-D445-0308-B8FC-38C00C5570EE}"/>
              </a:ext>
            </a:extLst>
          </p:cNvPr>
          <p:cNvSpPr>
            <a:spLocks noChangeAspect="1"/>
          </p:cNvSpPr>
          <p:nvPr/>
        </p:nvSpPr>
        <p:spPr>
          <a:xfrm>
            <a:off x="3677651" y="1025671"/>
            <a:ext cx="7263063" cy="879172"/>
          </a:xfrm>
          <a:prstGeom prst="roundRect">
            <a:avLst>
              <a:gd name="adj" fmla="val 7563"/>
            </a:avLst>
          </a:prstGeom>
          <a:solidFill>
            <a:srgbClr val="F6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40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b="1" dirty="0">
                <a:solidFill>
                  <a:srgbClr val="000000"/>
                </a:solidFill>
                <a:latin typeface="Calibri"/>
                <a:ea typeface="Pretendard Medium"/>
              </a:rPr>
              <a:t>일정작성에 어려움을 </a:t>
            </a:r>
            <a:r>
              <a:rPr lang="ko-KR" altLang="en-US" sz="1600" b="1" dirty="0" err="1">
                <a:solidFill>
                  <a:srgbClr val="000000"/>
                </a:solidFill>
                <a:latin typeface="Calibri"/>
                <a:ea typeface="Pretendard Medium"/>
              </a:rPr>
              <a:t>겪을때</a:t>
            </a:r>
            <a:r>
              <a:rPr lang="ko-KR" altLang="en-US" sz="1600" b="1" dirty="0">
                <a:solidFill>
                  <a:srgbClr val="000000"/>
                </a:solidFill>
                <a:latin typeface="Calibri"/>
                <a:ea typeface="Pretendard Medium"/>
              </a:rPr>
              <a:t> 직접작성</a:t>
            </a:r>
            <a:r>
              <a:rPr lang="en-US" altLang="ko-KR" sz="1600" b="1" dirty="0">
                <a:solidFill>
                  <a:srgbClr val="000000"/>
                </a:solidFill>
                <a:latin typeface="Calibri"/>
                <a:ea typeface="Pretendard Medium"/>
              </a:rPr>
              <a:t>, </a:t>
            </a:r>
            <a:r>
              <a:rPr lang="ko-KR" altLang="en-US" sz="1600" b="1" dirty="0">
                <a:solidFill>
                  <a:srgbClr val="000000"/>
                </a:solidFill>
                <a:latin typeface="Calibri"/>
                <a:ea typeface="Pretendard Medium"/>
              </a:rPr>
              <a:t>자동작성</a:t>
            </a:r>
            <a:r>
              <a:rPr lang="en-US" altLang="ko-KR" sz="1600" b="1" dirty="0">
                <a:solidFill>
                  <a:srgbClr val="000000"/>
                </a:solidFill>
                <a:latin typeface="Calibri"/>
                <a:ea typeface="Pretendard Medium"/>
              </a:rPr>
              <a:t>, </a:t>
            </a:r>
            <a:r>
              <a:rPr lang="ko-KR" altLang="en-US" sz="1600" b="1" dirty="0">
                <a:solidFill>
                  <a:srgbClr val="000000"/>
                </a:solidFill>
                <a:latin typeface="Calibri"/>
                <a:ea typeface="Pretendard Medium"/>
              </a:rPr>
              <a:t>채팅기능 이외에도 </a:t>
            </a:r>
          </a:p>
          <a:p>
            <a:pPr marL="0" marR="0" lvl="0" indent="0" defTabSz="914400" rtl="0" eaLnBrk="1" fontAlgn="auto" latinLnBrk="0" hangingPunct="1">
              <a:lnSpc>
                <a:spcPct val="140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b="1" dirty="0" err="1">
                <a:solidFill>
                  <a:srgbClr val="000000"/>
                </a:solidFill>
                <a:latin typeface="Calibri"/>
                <a:ea typeface="Pretendard Medium"/>
              </a:rPr>
              <a:t>다른사람들의</a:t>
            </a:r>
            <a:r>
              <a:rPr lang="ko-KR" altLang="en-US" sz="1600" b="1" dirty="0">
                <a:solidFill>
                  <a:srgbClr val="000000"/>
                </a:solidFill>
                <a:latin typeface="Calibri"/>
                <a:ea typeface="Pretendard Medium"/>
              </a:rPr>
              <a:t> 루트보기 기능을 통해 해당 사용자의 루트를 </a:t>
            </a:r>
            <a:r>
              <a:rPr lang="ko-KR" altLang="en-US" sz="1600" b="1" dirty="0" err="1">
                <a:solidFill>
                  <a:srgbClr val="000000"/>
                </a:solidFill>
                <a:latin typeface="Calibri"/>
                <a:ea typeface="Pretendard Medium"/>
              </a:rPr>
              <a:t>복사해올수있습니다</a:t>
            </a:r>
            <a:r>
              <a:rPr lang="en-US" altLang="ko-KR" sz="1600" b="1" dirty="0">
                <a:solidFill>
                  <a:srgbClr val="000000"/>
                </a:solidFill>
                <a:latin typeface="Calibri"/>
                <a:ea typeface="Pretendard Medium"/>
              </a:rPr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07CF019-840D-EC96-A854-F325E1431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48" y="1946189"/>
            <a:ext cx="9541042" cy="4934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3919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BE3DA-491F-9EAA-4742-A78FAC56E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4AE64F4-1072-029C-C075-DAE5AFF9EF6B}"/>
              </a:ext>
            </a:extLst>
          </p:cNvPr>
          <p:cNvSpPr txBox="1"/>
          <p:nvPr/>
        </p:nvSpPr>
        <p:spPr>
          <a:xfrm>
            <a:off x="467760" y="239670"/>
            <a:ext cx="155683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05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성과물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20C9F52-6889-1AC3-6555-E8AA7AB027F2}"/>
              </a:ext>
            </a:extLst>
          </p:cNvPr>
          <p:cNvSpPr>
            <a:spLocks noChangeAspect="1"/>
          </p:cNvSpPr>
          <p:nvPr/>
        </p:nvSpPr>
        <p:spPr>
          <a:xfrm>
            <a:off x="100765" y="837877"/>
            <a:ext cx="6145630" cy="4636460"/>
          </a:xfrm>
          <a:prstGeom prst="roundRect">
            <a:avLst>
              <a:gd name="adj" fmla="val 7563"/>
            </a:avLst>
          </a:prstGeom>
          <a:solidFill>
            <a:srgbClr val="F6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dirty="0">
                <a:solidFill>
                  <a:schemeClr val="accent5">
                    <a:lumMod val="50000"/>
                  </a:schemeClr>
                </a:solidFill>
              </a:rPr>
              <a:t>007</a:t>
            </a:r>
          </a:p>
          <a:p>
            <a:r>
              <a:rPr lang="ko-KR" altLang="en-US" sz="3200" b="1" dirty="0">
                <a:solidFill>
                  <a:srgbClr val="333333"/>
                </a:solidFill>
              </a:rPr>
              <a:t>채팅</a:t>
            </a:r>
            <a:r>
              <a:rPr lang="en-US" altLang="ko-KR" sz="3200" b="1" dirty="0">
                <a:solidFill>
                  <a:srgbClr val="333333"/>
                </a:solidFill>
              </a:rPr>
              <a:t>-</a:t>
            </a:r>
            <a:r>
              <a:rPr lang="ko-KR" altLang="en-US" sz="3200" b="1" dirty="0">
                <a:solidFill>
                  <a:srgbClr val="333333"/>
                </a:solidFill>
              </a:rPr>
              <a:t>궁금한 정보 물어보기</a:t>
            </a:r>
            <a:endParaRPr lang="en-US" altLang="ko-KR" sz="1600" dirty="0">
              <a:solidFill>
                <a:srgbClr val="333333"/>
              </a:solidFill>
            </a:endParaRPr>
          </a:p>
          <a:p>
            <a:endParaRPr lang="en-US" altLang="ko-KR" sz="1600" dirty="0">
              <a:solidFill>
                <a:srgbClr val="333333"/>
              </a:solidFill>
            </a:endParaRPr>
          </a:p>
          <a:p>
            <a:pPr marL="0" marR="0" lvl="0" indent="0" defTabSz="914400" rtl="0" eaLnBrk="1" fontAlgn="auto" latinLnBrk="0" hangingPunct="1">
              <a:lnSpc>
                <a:spcPct val="140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i="0" u="none" strike="noStrike" dirty="0">
                <a:solidFill>
                  <a:srgbClr val="000000"/>
                </a:solidFill>
                <a:latin typeface="Pretendard Medium"/>
              </a:rPr>
              <a:t>Rubato</a:t>
            </a:r>
            <a:r>
              <a:rPr lang="ko-KR" altLang="en-US" sz="1600" b="1" i="0" u="none" strike="noStrike" dirty="0">
                <a:solidFill>
                  <a:srgbClr val="000000"/>
                </a:solidFill>
                <a:latin typeface="Pretendard Medium"/>
              </a:rPr>
              <a:t>는 실시간 채팅 기반의 인공지능을 통해</a:t>
            </a:r>
            <a:r>
              <a:rPr lang="en-US" altLang="ko-KR" sz="1600" b="1" i="0" u="none" strike="noStrike" dirty="0">
                <a:solidFill>
                  <a:srgbClr val="000000"/>
                </a:solidFill>
                <a:latin typeface="Pretendard Medium"/>
              </a:rPr>
              <a:t>,  </a:t>
            </a:r>
            <a:r>
              <a:rPr lang="ko-KR" altLang="en-US" sz="1600" b="1" i="0" u="none" strike="noStrike" dirty="0">
                <a:solidFill>
                  <a:srgbClr val="000000"/>
                </a:solidFill>
                <a:latin typeface="Pretendard Medium"/>
              </a:rPr>
              <a:t>최신 정보를 검색하고 정확한 답변을 제공합니다</a:t>
            </a:r>
            <a:r>
              <a:rPr lang="en-US" altLang="ko-KR" sz="1600" b="1" i="0" u="none" strike="noStrike" dirty="0">
                <a:solidFill>
                  <a:srgbClr val="000000"/>
                </a:solidFill>
                <a:latin typeface="Pretendard Medium"/>
              </a:rPr>
              <a:t>. </a:t>
            </a:r>
            <a:r>
              <a:rPr lang="ko-KR" altLang="en-US" sz="1600" b="1" i="0" u="none" strike="noStrike" dirty="0">
                <a:solidFill>
                  <a:srgbClr val="000000"/>
                </a:solidFill>
                <a:latin typeface="Pretendard Medium"/>
              </a:rPr>
              <a:t>인터넷 검색에 시간을 들이지 않아도</a:t>
            </a:r>
            <a:r>
              <a:rPr lang="en-US" altLang="ko-KR" sz="1600" b="1" i="0" u="none" strike="noStrike" dirty="0">
                <a:solidFill>
                  <a:srgbClr val="000000"/>
                </a:solidFill>
                <a:latin typeface="Pretendard Medium"/>
              </a:rPr>
              <a:t>, Rubato</a:t>
            </a:r>
            <a:r>
              <a:rPr lang="ko-KR" altLang="en-US" sz="1600" b="1" i="0" u="none" strike="noStrike" dirty="0">
                <a:solidFill>
                  <a:srgbClr val="000000"/>
                </a:solidFill>
                <a:latin typeface="Pretendard Medium"/>
              </a:rPr>
              <a:t>와의 대화로 필요한 정보를 쉽고 빠르게 확인할 수 있습니다</a:t>
            </a:r>
            <a:endParaRPr lang="ko-KR" altLang="en-US" sz="1600" b="1" dirty="0">
              <a:solidFill>
                <a:srgbClr val="333333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F665109-7288-8224-245C-7E813023C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6463-D1C1-4B59-8382-6AFDD2B4B94E}" type="slidenum">
              <a:rPr lang="ko-KR" altLang="en-US" smtClean="0"/>
              <a:t>42</a:t>
            </a:fld>
            <a:endParaRPr lang="ko-KR" altLang="en-US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22669D81-D1DC-6C61-2003-0E65987D1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394" y="889000"/>
            <a:ext cx="2806666" cy="5547098"/>
          </a:xfrm>
          <a:prstGeom prst="rect">
            <a:avLst/>
          </a:prstGeom>
        </p:spPr>
      </p:pic>
      <p:pic>
        <p:nvPicPr>
          <p:cNvPr id="11" name="Picture 3">
            <a:extLst>
              <a:ext uri="{FF2B5EF4-FFF2-40B4-BE49-F238E27FC236}">
                <a16:creationId xmlns:a16="http://schemas.microsoft.com/office/drawing/2014/main" id="{BFCD5818-FCFC-D178-78A1-FD373A3FC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4570" y="837877"/>
            <a:ext cx="2806666" cy="554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8654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CA8DF-C2CC-BFDA-420B-C1E911E2F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6C18C5C-3E22-42A2-49BA-9A1EC02AC925}"/>
              </a:ext>
            </a:extLst>
          </p:cNvPr>
          <p:cNvSpPr txBox="1"/>
          <p:nvPr/>
        </p:nvSpPr>
        <p:spPr>
          <a:xfrm>
            <a:off x="467760" y="239670"/>
            <a:ext cx="155683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05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성과물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21DDD49-20EC-42C9-6E44-974F3E309D36}"/>
              </a:ext>
            </a:extLst>
          </p:cNvPr>
          <p:cNvSpPr>
            <a:spLocks noChangeAspect="1"/>
          </p:cNvSpPr>
          <p:nvPr/>
        </p:nvSpPr>
        <p:spPr>
          <a:xfrm>
            <a:off x="262811" y="884176"/>
            <a:ext cx="6162052" cy="4636460"/>
          </a:xfrm>
          <a:prstGeom prst="roundRect">
            <a:avLst>
              <a:gd name="adj" fmla="val 7563"/>
            </a:avLst>
          </a:prstGeom>
          <a:solidFill>
            <a:srgbClr val="F6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dirty="0">
                <a:solidFill>
                  <a:schemeClr val="accent5">
                    <a:lumMod val="50000"/>
                  </a:schemeClr>
                </a:solidFill>
              </a:rPr>
              <a:t>008</a:t>
            </a:r>
          </a:p>
          <a:p>
            <a:r>
              <a:rPr lang="ko-KR" altLang="en-US" sz="3200" b="1" dirty="0">
                <a:solidFill>
                  <a:srgbClr val="333333"/>
                </a:solidFill>
              </a:rPr>
              <a:t>채팅</a:t>
            </a:r>
            <a:r>
              <a:rPr lang="en-US" altLang="ko-KR" sz="3200" b="1" dirty="0">
                <a:solidFill>
                  <a:srgbClr val="333333"/>
                </a:solidFill>
              </a:rPr>
              <a:t>-</a:t>
            </a:r>
            <a:r>
              <a:rPr lang="ko-KR" altLang="en-US" sz="3200" b="1" dirty="0">
                <a:solidFill>
                  <a:srgbClr val="333333"/>
                </a:solidFill>
              </a:rPr>
              <a:t>답변만으로 일정 작성</a:t>
            </a:r>
            <a:endParaRPr lang="en-US" altLang="ko-KR" sz="1600" dirty="0">
              <a:solidFill>
                <a:srgbClr val="333333"/>
              </a:solidFill>
            </a:endParaRPr>
          </a:p>
          <a:p>
            <a:endParaRPr lang="en-US" altLang="ko-KR" sz="1600" dirty="0">
              <a:solidFill>
                <a:srgbClr val="333333"/>
              </a:solidFill>
            </a:endParaRPr>
          </a:p>
          <a:p>
            <a:pPr marL="0" marR="0" lvl="0" indent="0" defTabSz="914400" rtl="0" eaLnBrk="1" fontAlgn="auto" latinLnBrk="0" hangingPunct="1">
              <a:lnSpc>
                <a:spcPct val="140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srgbClr val="000000"/>
                </a:solidFill>
                <a:latin typeface="Calibri"/>
                <a:ea typeface="Pretendard Medium"/>
              </a:rPr>
              <a:t>Rubato AI</a:t>
            </a:r>
            <a:r>
              <a:rPr lang="ko-KR" altLang="en-US" sz="1600" b="1" dirty="0">
                <a:solidFill>
                  <a:srgbClr val="000000"/>
                </a:solidFill>
                <a:latin typeface="Calibri"/>
                <a:ea typeface="Pretendard Medium"/>
              </a:rPr>
              <a:t>는 일정 작성 중 필요한 정보를 사용자가 직접 입력하지 </a:t>
            </a:r>
            <a:br>
              <a:rPr lang="ko-KR" altLang="en-US" sz="1600" b="1" dirty="0">
                <a:solidFill>
                  <a:srgbClr val="000000"/>
                </a:solidFill>
                <a:latin typeface="Calibri"/>
                <a:ea typeface="Pretendard Medium"/>
              </a:rPr>
            </a:br>
            <a:r>
              <a:rPr lang="ko-KR" altLang="en-US" sz="1600" b="1" dirty="0">
                <a:solidFill>
                  <a:srgbClr val="000000"/>
                </a:solidFill>
                <a:latin typeface="Calibri"/>
                <a:ea typeface="Pretendard Medium"/>
              </a:rPr>
              <a:t>않아도</a:t>
            </a:r>
            <a:r>
              <a:rPr lang="en-US" altLang="ko-KR" sz="1600" b="1" dirty="0">
                <a:solidFill>
                  <a:srgbClr val="000000"/>
                </a:solidFill>
                <a:latin typeface="Calibri"/>
                <a:ea typeface="Pretendard Medium"/>
              </a:rPr>
              <a:t>, </a:t>
            </a:r>
            <a:r>
              <a:rPr lang="ko-KR" altLang="en-US" sz="1600" b="1" dirty="0">
                <a:solidFill>
                  <a:srgbClr val="000000"/>
                </a:solidFill>
                <a:latin typeface="Calibri"/>
                <a:ea typeface="Pretendard Medium"/>
              </a:rPr>
              <a:t>인공지능이 필요한 질문을 던져 정보를 수집합니다</a:t>
            </a:r>
            <a:r>
              <a:rPr lang="en-US" altLang="ko-KR" sz="1600" b="1" dirty="0">
                <a:solidFill>
                  <a:srgbClr val="000000"/>
                </a:solidFill>
                <a:latin typeface="Calibri"/>
                <a:ea typeface="Pretendard Medium"/>
              </a:rPr>
              <a:t>.</a:t>
            </a:r>
          </a:p>
          <a:p>
            <a:pPr marL="0" marR="0" lvl="0" indent="0" defTabSz="914400" rtl="0" eaLnBrk="1" fontAlgn="auto" latinLnBrk="0" hangingPunct="1">
              <a:lnSpc>
                <a:spcPct val="140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b="1" dirty="0">
                <a:solidFill>
                  <a:srgbClr val="000000"/>
                </a:solidFill>
                <a:latin typeface="Calibri"/>
                <a:ea typeface="Pretendard Medium"/>
              </a:rPr>
              <a:t>즉 사용자는 </a:t>
            </a:r>
            <a:r>
              <a:rPr lang="en-US" altLang="ko-KR" sz="1600" b="1" dirty="0">
                <a:solidFill>
                  <a:srgbClr val="000000"/>
                </a:solidFill>
                <a:latin typeface="Calibri"/>
                <a:ea typeface="Pretendard Medium"/>
              </a:rPr>
              <a:t>AI</a:t>
            </a:r>
            <a:r>
              <a:rPr lang="ko-KR" altLang="en-US" sz="1600" b="1" dirty="0">
                <a:solidFill>
                  <a:srgbClr val="000000"/>
                </a:solidFill>
                <a:latin typeface="Calibri"/>
                <a:ea typeface="Pretendard Medium"/>
              </a:rPr>
              <a:t>의 질문에 답변만 하면</a:t>
            </a:r>
            <a:r>
              <a:rPr lang="en-US" altLang="ko-KR" sz="1600" b="1" dirty="0">
                <a:solidFill>
                  <a:srgbClr val="000000"/>
                </a:solidFill>
                <a:latin typeface="Calibri"/>
                <a:ea typeface="Pretendard Medium"/>
              </a:rPr>
              <a:t>, Rubato</a:t>
            </a:r>
            <a:r>
              <a:rPr lang="ko-KR" altLang="en-US" sz="1600" b="1" dirty="0">
                <a:solidFill>
                  <a:srgbClr val="000000"/>
                </a:solidFill>
                <a:latin typeface="Calibri"/>
                <a:ea typeface="Pretendard Medium"/>
              </a:rPr>
              <a:t>가 이를 바탕으로 맞춤형 여행 일정을 자동으로 생성합니다</a:t>
            </a:r>
            <a:endParaRPr lang="ko-KR" altLang="en-US" sz="1600" dirty="0">
              <a:solidFill>
                <a:srgbClr val="333333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C76155E-FC9E-DEC9-A8C1-B1554D84C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6463-D1C1-4B59-8382-6AFDD2B4B94E}" type="slidenum">
              <a:rPr lang="ko-KR" altLang="en-US" smtClean="0"/>
              <a:t>43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54B9B05-C71A-521E-034D-43278DA6B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055" y="89107"/>
            <a:ext cx="5131347" cy="667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6589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8AB36-A5D4-6067-B709-00D317265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618DBC1-04FE-3E04-C41B-14C2A5269211}"/>
              </a:ext>
            </a:extLst>
          </p:cNvPr>
          <p:cNvSpPr txBox="1"/>
          <p:nvPr/>
        </p:nvSpPr>
        <p:spPr>
          <a:xfrm>
            <a:off x="467760" y="239670"/>
            <a:ext cx="155683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05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성과물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B9677C-215B-7F04-4BB8-A62E71776EC7}"/>
              </a:ext>
            </a:extLst>
          </p:cNvPr>
          <p:cNvSpPr>
            <a:spLocks noChangeAspect="1"/>
          </p:cNvSpPr>
          <p:nvPr/>
        </p:nvSpPr>
        <p:spPr>
          <a:xfrm>
            <a:off x="100765" y="837877"/>
            <a:ext cx="6145630" cy="4636460"/>
          </a:xfrm>
          <a:prstGeom prst="roundRect">
            <a:avLst>
              <a:gd name="adj" fmla="val 7563"/>
            </a:avLst>
          </a:prstGeom>
          <a:solidFill>
            <a:srgbClr val="F6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dirty="0">
                <a:solidFill>
                  <a:schemeClr val="accent5">
                    <a:lumMod val="50000"/>
                  </a:schemeClr>
                </a:solidFill>
              </a:rPr>
              <a:t>009</a:t>
            </a:r>
          </a:p>
          <a:p>
            <a:r>
              <a:rPr lang="ko-KR" altLang="en-US" sz="3200" b="1" dirty="0">
                <a:solidFill>
                  <a:srgbClr val="333333"/>
                </a:solidFill>
              </a:rPr>
              <a:t>여행경로 분석</a:t>
            </a:r>
            <a:endParaRPr lang="en-US" altLang="ko-KR" sz="1600" dirty="0">
              <a:solidFill>
                <a:srgbClr val="333333"/>
              </a:solidFill>
            </a:endParaRPr>
          </a:p>
          <a:p>
            <a:endParaRPr lang="en-US" altLang="ko-KR" sz="1600" dirty="0">
              <a:solidFill>
                <a:srgbClr val="333333"/>
              </a:solidFill>
            </a:endParaRPr>
          </a:p>
          <a:p>
            <a:pPr marL="0" marR="0" lvl="0" indent="0" defTabSz="914400" rtl="0" eaLnBrk="1" fontAlgn="auto" latinLnBrk="0" hangingPunct="1">
              <a:lnSpc>
                <a:spcPct val="140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i="0" u="none" strike="noStrike" dirty="0">
                <a:solidFill>
                  <a:srgbClr val="000000"/>
                </a:solidFill>
                <a:latin typeface="Pretendard Medium"/>
              </a:rPr>
              <a:t>Rubato</a:t>
            </a:r>
            <a:r>
              <a:rPr lang="ko-KR" altLang="en-US" sz="1600" b="1" i="0" u="none" strike="noStrike" dirty="0">
                <a:solidFill>
                  <a:srgbClr val="000000"/>
                </a:solidFill>
                <a:latin typeface="Pretendard Medium"/>
              </a:rPr>
              <a:t>는 사용자가 일정을 </a:t>
            </a:r>
            <a:r>
              <a:rPr lang="ko-KR" altLang="en-US" sz="1600" b="1" i="0" u="none" strike="noStrike" dirty="0" err="1">
                <a:solidFill>
                  <a:srgbClr val="000000"/>
                </a:solidFill>
                <a:latin typeface="Pretendard Medium"/>
              </a:rPr>
              <a:t>저장할때</a:t>
            </a:r>
            <a:r>
              <a:rPr lang="en-US" altLang="ko-KR" sz="1600" b="1" i="0" u="none" strike="noStrike" dirty="0">
                <a:solidFill>
                  <a:srgbClr val="000000"/>
                </a:solidFill>
                <a:latin typeface="Pretendard Medium"/>
              </a:rPr>
              <a:t>, </a:t>
            </a:r>
            <a:r>
              <a:rPr lang="ko-KR" altLang="en-US" sz="1600" b="1" i="0" u="none" strike="noStrike" dirty="0">
                <a:solidFill>
                  <a:srgbClr val="000000"/>
                </a:solidFill>
                <a:latin typeface="Pretendard Medium"/>
              </a:rPr>
              <a:t>각 장소의 최신 가격 정보를 실시간으로 검색하고 이를 자동으로 반영합니다</a:t>
            </a:r>
            <a:r>
              <a:rPr lang="en-US" altLang="ko-KR" sz="1600" b="1" i="0" u="none" strike="noStrike" dirty="0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marL="0" marR="0" lvl="0" indent="0" defTabSz="914400" rtl="0" eaLnBrk="1" fontAlgn="auto" latinLnBrk="0" hangingPunct="1">
              <a:lnSpc>
                <a:spcPct val="1402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b="1" i="0" u="none" strike="noStrike" dirty="0">
                <a:solidFill>
                  <a:srgbClr val="000000"/>
                </a:solidFill>
                <a:latin typeface="Pretendard Medium"/>
              </a:rPr>
              <a:t>또한</a:t>
            </a:r>
            <a:r>
              <a:rPr lang="en-US" altLang="ko-KR" sz="1600" b="1" i="0" u="none" strike="noStrike" dirty="0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altLang="en-US" sz="1600" b="1" i="0" u="none" strike="noStrike" dirty="0">
                <a:solidFill>
                  <a:srgbClr val="000000"/>
                </a:solidFill>
                <a:latin typeface="Pretendard Medium"/>
              </a:rPr>
              <a:t>여행 경로를 분석해 해당 여행에 어울리는 태그와 테마를 추천하여 특별한 일정을 완성할 수 있습니다</a:t>
            </a:r>
            <a:r>
              <a:rPr lang="en-US" altLang="ko-KR" sz="1600" b="1" i="0" u="none" strike="noStrike" dirty="0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31B1AA7-D6D2-E7FA-C8B8-1B7CD5576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6463-D1C1-4B59-8382-6AFDD2B4B94E}" type="slidenum">
              <a:rPr lang="ko-KR" altLang="en-US" smtClean="0"/>
              <a:t>44</a:t>
            </a:fld>
            <a:endParaRPr lang="ko-KR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5A2ACC-8E98-59E3-D85B-793B5B48A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24" y="837877"/>
            <a:ext cx="2806666" cy="55470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BA5704E-037C-463C-23A9-5685584DB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606" y="837877"/>
            <a:ext cx="2806666" cy="554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5871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그림 41">
            <a:extLst>
              <a:ext uri="{FF2B5EF4-FFF2-40B4-BE49-F238E27FC236}">
                <a16:creationId xmlns:a16="http://schemas.microsoft.com/office/drawing/2014/main" id="{2C785416-082A-39E0-3ED1-91208B83B61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68085" y="1319909"/>
            <a:ext cx="3455824" cy="32478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48E66D-4E79-832B-4253-D2D39DAD900F}"/>
              </a:ext>
            </a:extLst>
          </p:cNvPr>
          <p:cNvSpPr txBox="1"/>
          <p:nvPr/>
        </p:nvSpPr>
        <p:spPr>
          <a:xfrm>
            <a:off x="4593021" y="4567713"/>
            <a:ext cx="30059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400" b="1" dirty="0">
                <a:solidFill>
                  <a:srgbClr val="333333"/>
                </a:solidFill>
                <a:latin typeface="+mj-ea"/>
                <a:ea typeface="+mj-ea"/>
              </a:rPr>
              <a:t>감사합니다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6463-D1C1-4B59-8382-6AFDD2B4B94E}" type="slidenum">
              <a:rPr lang="ko-KR" altLang="en-US" smtClean="0"/>
              <a:t>45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9919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967</TotalTime>
  <Words>3750</Words>
  <Application>Microsoft Office PowerPoint</Application>
  <PresentationFormat>와이드스크린</PresentationFormat>
  <Paragraphs>612</Paragraphs>
  <Slides>45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58" baseType="lpstr">
      <vt:lpstr>Noto Sans CJK KR Black</vt:lpstr>
      <vt:lpstr>Noto Sans CJK KR Light</vt:lpstr>
      <vt:lpstr>Noto Sans CJK KR Medium</vt:lpstr>
      <vt:lpstr>Noto Sans CJK KR Regular</vt:lpstr>
      <vt:lpstr>Pretendard Black</vt:lpstr>
      <vt:lpstr>Pretendard Bold</vt:lpstr>
      <vt:lpstr>Pretendard Light</vt:lpstr>
      <vt:lpstr>Pretendard Medium</vt:lpstr>
      <vt:lpstr>RecipekoreaOTF Medium</vt:lpstr>
      <vt:lpstr>맑은 고딕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DeltaOmega</dc:creator>
  <cp:lastModifiedBy>DeltaOmega</cp:lastModifiedBy>
  <cp:revision>47</cp:revision>
  <dcterms:created xsi:type="dcterms:W3CDTF">2024-08-21T07:58:29Z</dcterms:created>
  <dcterms:modified xsi:type="dcterms:W3CDTF">2024-12-09T12:06:54Z</dcterms:modified>
</cp:coreProperties>
</file>